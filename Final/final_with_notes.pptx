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440" r:id="rId2"/>
    <p:sldId id="441" r:id="rId3"/>
    <p:sldId id="444" r:id="rId4"/>
    <p:sldId id="445" r:id="rId5"/>
    <p:sldId id="446" r:id="rId6"/>
    <p:sldId id="447" r:id="rId7"/>
    <p:sldId id="448" r:id="rId8"/>
    <p:sldId id="449" r:id="rId9"/>
    <p:sldId id="450" r:id="rId10"/>
    <p:sldId id="451" r:id="rId11"/>
    <p:sldId id="452" r:id="rId12"/>
    <p:sldId id="453" r:id="rId13"/>
    <p:sldId id="454" r:id="rId14"/>
    <p:sldId id="442" r:id="rId15"/>
    <p:sldId id="455" r:id="rId16"/>
    <p:sldId id="456" r:id="rId17"/>
    <p:sldId id="457" r:id="rId18"/>
    <p:sldId id="458" r:id="rId19"/>
    <p:sldId id="459" r:id="rId20"/>
    <p:sldId id="460" r:id="rId21"/>
    <p:sldId id="461" r:id="rId22"/>
    <p:sldId id="462" r:id="rId23"/>
    <p:sldId id="463" r:id="rId24"/>
    <p:sldId id="464" r:id="rId25"/>
    <p:sldId id="465" r:id="rId26"/>
    <p:sldId id="466" r:id="rId27"/>
    <p:sldId id="443" r:id="rId28"/>
    <p:sldId id="467" r:id="rId29"/>
    <p:sldId id="46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674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built a web app that takes raw, deliberately messy shift records, cleans them, and turns them into operational insight a plant manager can act on: efficiency, downtime patterns, reliability. All analysis runs server-side in Python; the frontend only renders. I'll walk through the problem, the architecture, and the key engineering decisions.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one. I'll take the seven requirements from the brief and show each one running in the live app - not slides describing features, the features themselves. Scan the QR code and you can follow along in your own browser. And keep an eye out for the four-day finding hiding inside the labels - that's the thread that ties the whole talk together.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assignment isn't about drawing charts — it's about handling data you can't trust and building believable analysis on top of it. Those three challenges drove every design decision.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This is the scorecard: every line of the brief on the left, how I delivered it in the middle, and where you can see it in the running app on the right. I won't read the table - I'll spend the next few slides walking each row live. The point is that nothing here is aspirational; every requirement is already shipped and testable.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Before the feature tour - this is real and public, deployed right now. Frontend on Vercel, API on Render, code on GitHub. Scan the QR to open the live app on your phone, so as I describe each requirement you can try it yourself. Everything from here on is running against that deployment, not a local demo.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one: detect, document and handle the inconsistencies. My rule was that nothing gets silently dropped. The Data Quality report lists every flagged row with its exact issue and the action I took - a recovered row keeps its derived values, an excluded row stays visible with its reason. Ten issue types in total, all catalogued in the README.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two: filter and analyse by any combination of attributes. The key choice is that there's a single shared filter - date range, reasons, validity - and it drives every panel and the CSV export from the same code path. So a filtered view and its download can never disagree, and combinations apply everywhere at once: charts, streaks, score, insights.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subtle correctness issue that's easy to get wrong. Real plants run night shifts, so I extended the axis to 36 hours. A bar's start and end are just minutes from midnight, so a cross-midnight shift naturally draws as one continuous bar past the 24-hour mark instead of wrapping around.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four: identify meaningful breakdown streaks. I defined a streak precisely - N or more consecutive calendar days, each with at least one record from a configurable target set - and report each one's span, length and severity in downtime hours. The definition is a preset you can switch live, and every assumption is written down rather than implied. This sets up the finding on the next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favourite result. If you only look at the literal 'Breakdown' reason, you see a minor two-day blip. But those failures are logged under several labels. Group them into a failure family and a four-day continuous downtime run emerges — the kind of thing a manager must treat as one incident. That's the argument for the whole extensibility requirement, made with the data itself.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five: the efficiency score. I implemented the formula exactly as specified - productive over total, times a hundred - which gives 86.8% on the bundled data, plus a daily trend. Two deliberate choices: only Breakdown and Unknown Failure count as non-productive, per the brief, but I made that set configurable; and I gave streak detection its own broader failure family so downtime analysis isn't boxed in by the efficiency formula.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six asked for at least three actionable insights - I compute five-plus. Biggest downtime driver, peak failure window, worst day, a data-quality signal, and more, all generated live from the current filtered dataset. Nothing is hardcoded, so the moment the data, the filters or the grouping change, the insights re-compute.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Requirement seven: stay useful as categories appear or get grouped. Reasons are derived from the data, never hardcoded, and colours are assigned deterministically so a new reason just takes the next colour. Merge related reasons in the group editor and every chart, streak and score re-aggregates instantly - I prove it live by uploading a dataset of brand-new reasons. This is the requirement the key finding a few slides back was really about.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two: what I built beyond the brief. Three things - reliability KPIs in the language a maintenance team actually uses, optional AI that's structurally prevented from fabricating data, and upload-any-format in with a filtered CSV out. This is where I went past the minimum to make it feel like a real product rather than an assignment.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weren't required — I added them because reliability is the language maintenance teams actually speak. The three tie together algebraically, and every tile explains its own formula on hover so nothing feels like a magic number.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a genuine risk if it can invent data, so I boxed it in. The grouping suggestion is checked against the actual reasons — it physically can't introduce a category that isn't in your data. And the summary model never sees a raw row; it only rephrases numbers I already computed. Both degrade cleanly without a key.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Upload and export close the loop. The loader is format-agnostic - CSV, TSV, Excel or JSON - and it re-runs the full cleaning pipeline on every upload, so your data gets exactly the same treatment as the bundled set. And the export honours the active filters, so what you see on screen is precisely what you download.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three: how it's actually built. One rule governs everything - all logic lives on the backend and the UI only renders. I'll cover the architecture, the recover-or-exclude cleaning pipeline with its audit trail, the one key data decision, and how it's tested and deployed. This is the engineering section.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Clean separation. The React app never computes a metric — it asks the API. That guarantees the numbers on screen and in a CSV export always agree, and I can test all logic in Python. The Groq box is dashed because it's fully optional — without a key the app behaves identically minus two buttons.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heart of the project. Walk the happy path left to right, then point at one recovery branch — a missing START derived from END minus HOURS — and one exclusion branch. The output is a validity flag plus a list of issues, so a row survives into the report even when excluded from analysis.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judgement call and I made it deliberately. I measured it — 44 of 51 rows already agree with the timestamps — so treating timestamps as authoritative recovers the mismatched rows instead of trusting an easily mistyped number. And I documented it.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treated this as a hard constraint. There is no list of reasons anywhere in the code. To prove it, I ship a dataset with reasons that don't exist in the original — you upload it and they flow through filters, colours, legend and grouping with no code change. That's the demo I'd run live.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cleaning rules and analysis are the risky parts, so the tests concentrate there — including API integration tests that assert exact numbers. Every figure I've shown is reproducible from the bundled data.</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It's live, not just local. Frontend on Vercel, API on Render, data on Supabase Postgres. The same Django code runs on SQLite locally and Postgres in production — I flip one environment variable.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I get to demo, this is my order — step 3 is the one to land; it makes the extensibility argument visually in two clicks. And I name the limits honestly: the biggest is scale — the pipeline is in-memory today, fine for shift logs, but I'd push aggregation into the database for millions of rows.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the project is really about trusting the data and the analysis on top of it. I handled dirty data transparently, built metrics I can defend, made it extensible by construction, and shipped it like production code. Happy to go deeper anywhere you'd like.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That's the main talk. The remaining slides are an appendix - prepared answers to the questions I'd expect a technical panel to ask, on architecture, data, scale, testing and the AI. I'm happy to jump to any of them, or just take questions live.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These are my prepared answers on architecture and data: why all analysis sits on the backend, why SQLite locally but Postgres in production, what happens when HOURS and the timestamps disagree, and how a brand-new reason flows through. I'll let you drive - point me at whichever one you want to dig into.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And the second set: how this scales to millions of rows, what structurally stops the AI from fabricating numbers, how the cross-midnight shift is handled correctly, and what I'd improve with more time. Same as before - ask, and I'll go as deep as you like.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F172A"/>
            </a:gs>
            <a:gs pos="100000">
              <a:srgbClr val="0B1220"/>
            </a:gs>
          </a:gsLst>
          <a:lin ang="5400000" scaled="1"/>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21-Jul-26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89720" y="640080"/>
            <a:ext cx="4206240" cy="42062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761219" y="1211580"/>
            <a:ext cx="3063240" cy="30632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309860" y="1760220"/>
            <a:ext cx="1965960" cy="1965960"/>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4553712"/>
            <a:ext cx="7223760" cy="8229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223760" y="4553712"/>
            <a:ext cx="4965192" cy="8229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896112"/>
            <a:ext cx="603504" cy="603504"/>
          </a:xfrm>
          <a:prstGeom prst="roundRect">
            <a:avLst/>
          </a:prstGeom>
          <a:solidFill>
            <a:srgbClr val="38BDF8"/>
          </a:solidFill>
          <a:ln>
            <a:noFill/>
          </a:ln>
          <a:effectLst>
            <a:outerShdw blurRad="64008" dist="36576" dir="5400000" rotWithShape="0">
              <a:srgbClr val="0F172A">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200"/>
              </a:spcAft>
              <a:buNone/>
            </a:pPr>
            <a:r>
              <a:rPr sz="2600" b="1">
                <a:solidFill>
                  <a:srgbClr val="F8FAFC"/>
                </a:solidFill>
                <a:latin typeface="Calibri"/>
              </a:rPr>
              <a:t>◰</a:t>
            </a:r>
          </a:p>
        </p:txBody>
      </p:sp>
      <p:sp>
        <p:nvSpPr>
          <p:cNvPr id="9" name="TextBox 8"/>
          <p:cNvSpPr txBox="1"/>
          <p:nvPr/>
        </p:nvSpPr>
        <p:spPr>
          <a:xfrm>
            <a:off x="822960" y="1828800"/>
            <a:ext cx="10515600" cy="2377440"/>
          </a:xfrm>
          <a:prstGeom prst="rect">
            <a:avLst/>
          </a:prstGeom>
          <a:noFill/>
        </p:spPr>
        <p:txBody>
          <a:bodyPr wrap="square" lIns="25400" tIns="25400" rIns="25400" bIns="25400" anchor="t">
            <a:spAutoFit/>
          </a:bodyPr>
          <a:lstStyle/>
          <a:p>
            <a:pPr algn="l">
              <a:spcBef>
                <a:spcPts val="200"/>
              </a:spcBef>
              <a:spcAft>
                <a:spcPts val="0"/>
              </a:spcAft>
              <a:buNone/>
            </a:pPr>
            <a:r>
              <a:rPr sz="5200" b="1" dirty="0">
                <a:solidFill>
                  <a:srgbClr val="F8FAFC"/>
                </a:solidFill>
                <a:latin typeface="Calibri"/>
              </a:rPr>
              <a:t>Shift Operations</a:t>
            </a:r>
          </a:p>
          <a:p>
            <a:pPr algn="l">
              <a:spcBef>
                <a:spcPts val="0"/>
              </a:spcBef>
              <a:spcAft>
                <a:spcPts val="600"/>
              </a:spcAft>
              <a:buNone/>
            </a:pPr>
            <a:r>
              <a:rPr sz="5200" b="1" dirty="0">
                <a:solidFill>
                  <a:srgbClr val="F8FAFC"/>
                </a:solidFill>
                <a:latin typeface="Calibri"/>
              </a:rPr>
              <a:t>Analytics</a:t>
            </a:r>
          </a:p>
          <a:p>
            <a:pPr algn="l">
              <a:spcBef>
                <a:spcPts val="800"/>
              </a:spcBef>
              <a:spcAft>
                <a:spcPts val="200"/>
              </a:spcAft>
              <a:buNone/>
            </a:pPr>
            <a:r>
              <a:rPr sz="2100" b="0" dirty="0">
                <a:solidFill>
                  <a:srgbClr val="94A3B8"/>
                </a:solidFill>
                <a:latin typeface="Calibri"/>
              </a:rPr>
              <a:t>Turning messy shift logs into operational decisions</a:t>
            </a:r>
          </a:p>
        </p:txBody>
      </p:sp>
      <p:sp>
        <p:nvSpPr>
          <p:cNvPr id="10" name="TextBox 9"/>
          <p:cNvSpPr txBox="1"/>
          <p:nvPr/>
        </p:nvSpPr>
        <p:spPr>
          <a:xfrm>
            <a:off x="822960" y="4828032"/>
            <a:ext cx="10607040" cy="1113125"/>
          </a:xfrm>
          <a:prstGeom prst="rect">
            <a:avLst/>
          </a:prstGeom>
          <a:noFill/>
        </p:spPr>
        <p:txBody>
          <a:bodyPr wrap="square" lIns="25400" tIns="25400" rIns="25400" bIns="25400" anchor="t">
            <a:spAutoFit/>
          </a:bodyPr>
          <a:lstStyle/>
          <a:p>
            <a:pPr algn="l">
              <a:spcBef>
                <a:spcPts val="200"/>
              </a:spcBef>
              <a:spcAft>
                <a:spcPts val="1000"/>
              </a:spcAft>
              <a:buNone/>
            </a:pPr>
            <a:r>
              <a:rPr lang="en-US" sz="1500" b="1" dirty="0">
                <a:solidFill>
                  <a:srgbClr val="38BDF8"/>
                </a:solidFill>
                <a:latin typeface="Calibri"/>
              </a:rPr>
              <a:t>React 19</a:t>
            </a:r>
            <a:r>
              <a:rPr lang="en-US" sz="1500" b="0" dirty="0">
                <a:solidFill>
                  <a:srgbClr val="94A3B8"/>
                </a:solidFill>
                <a:latin typeface="Calibri"/>
              </a:rPr>
              <a:t>   ·   </a:t>
            </a:r>
            <a:r>
              <a:rPr lang="en-US" sz="1500" b="1" dirty="0">
                <a:solidFill>
                  <a:srgbClr val="38BDF8"/>
                </a:solidFill>
                <a:latin typeface="Calibri"/>
              </a:rPr>
              <a:t>Django 6 + DRF</a:t>
            </a:r>
            <a:r>
              <a:rPr lang="en-US" sz="1500" b="0" dirty="0">
                <a:solidFill>
                  <a:srgbClr val="94A3B8"/>
                </a:solidFill>
                <a:latin typeface="Calibri"/>
              </a:rPr>
              <a:t>   ·   </a:t>
            </a:r>
            <a:r>
              <a:rPr lang="en-US" sz="1500" b="1" dirty="0">
                <a:solidFill>
                  <a:srgbClr val="38BDF8"/>
                </a:solidFill>
                <a:latin typeface="Calibri"/>
              </a:rPr>
              <a:t>pandas</a:t>
            </a:r>
            <a:r>
              <a:rPr lang="en-US" sz="1500" b="0" dirty="0">
                <a:solidFill>
                  <a:srgbClr val="94A3B8"/>
                </a:solidFill>
                <a:latin typeface="Calibri"/>
              </a:rPr>
              <a:t>   ·   </a:t>
            </a:r>
            <a:r>
              <a:rPr lang="en-US" sz="1500" b="1" dirty="0">
                <a:solidFill>
                  <a:srgbClr val="38BDF8"/>
                </a:solidFill>
                <a:latin typeface="Calibri"/>
              </a:rPr>
              <a:t>PostgreSQL</a:t>
            </a:r>
            <a:r>
              <a:rPr lang="en-US" sz="1500" b="0" dirty="0">
                <a:solidFill>
                  <a:srgbClr val="94A3B8"/>
                </a:solidFill>
                <a:latin typeface="Calibri"/>
              </a:rPr>
              <a:t>   ·   </a:t>
            </a:r>
            <a:r>
              <a:rPr lang="en-US" sz="1500" b="1" dirty="0" err="1">
                <a:solidFill>
                  <a:srgbClr val="38BDF8"/>
                </a:solidFill>
                <a:latin typeface="Calibri"/>
              </a:rPr>
              <a:t>Groq</a:t>
            </a:r>
            <a:r>
              <a:rPr lang="en-US" sz="1500" b="1" dirty="0">
                <a:solidFill>
                  <a:srgbClr val="38BDF8"/>
                </a:solidFill>
                <a:latin typeface="Calibri"/>
              </a:rPr>
              <a:t> (optional AI)</a:t>
            </a:r>
          </a:p>
          <a:p>
            <a:pPr algn="l">
              <a:spcBef>
                <a:spcPts val="800"/>
              </a:spcBef>
              <a:spcAft>
                <a:spcPts val="400"/>
              </a:spcAft>
              <a:buNone/>
            </a:pPr>
            <a:r>
              <a:rPr sz="1700" b="1" dirty="0">
                <a:solidFill>
                  <a:srgbClr val="F8FAFC"/>
                </a:solidFill>
                <a:latin typeface="Calibri"/>
              </a:rPr>
              <a:t>M</a:t>
            </a:r>
            <a:r>
              <a:rPr lang="en-US" sz="1700" b="1" dirty="0">
                <a:solidFill>
                  <a:srgbClr val="F8FAFC"/>
                </a:solidFill>
                <a:latin typeface="Calibri"/>
              </a:rPr>
              <a:t>d</a:t>
            </a:r>
            <a:r>
              <a:rPr sz="1700" b="1" dirty="0">
                <a:solidFill>
                  <a:srgbClr val="F8FAFC"/>
                </a:solidFill>
                <a:latin typeface="Calibri"/>
              </a:rPr>
              <a:t> Raisul Islam Rahad</a:t>
            </a:r>
            <a:r>
              <a:rPr sz="1500" b="0" dirty="0">
                <a:solidFill>
                  <a:srgbClr val="94A3B8"/>
                </a:solidFill>
                <a:latin typeface="Calibri"/>
              </a:rPr>
              <a:t>    —    Full-stack technical assignment · Round 3</a:t>
            </a:r>
          </a:p>
          <a:p>
            <a:pPr algn="l">
              <a:spcBef>
                <a:spcPts val="800"/>
              </a:spcBef>
              <a:spcAft>
                <a:spcPts val="200"/>
              </a:spcAft>
              <a:buNone/>
            </a:pPr>
            <a:r>
              <a:rPr sz="1200" b="0" dirty="0">
                <a:solidFill>
                  <a:srgbClr val="94A3B8"/>
                </a:solidFill>
                <a:latin typeface="Calibri"/>
              </a:rPr>
              <a:t>Live:  </a:t>
            </a:r>
            <a:r>
              <a:rPr sz="1200" b="0" i="1" u="sng" dirty="0">
                <a:solidFill>
                  <a:srgbClr val="94A3B8"/>
                </a:solidFill>
                <a:latin typeface="Calibri"/>
              </a:rPr>
              <a:t>shift-operations-</a:t>
            </a:r>
            <a:r>
              <a:rPr sz="1200" b="0" i="1" u="sng" dirty="0" err="1">
                <a:solidFill>
                  <a:srgbClr val="94A3B8"/>
                </a:solidFill>
                <a:latin typeface="Calibri"/>
              </a:rPr>
              <a:t>analytics.vercel.app</a:t>
            </a:r>
            <a:r>
              <a:rPr sz="1200" b="0" dirty="0">
                <a:solidFill>
                  <a:srgbClr val="94A3B8"/>
                </a:solidFill>
                <a:latin typeface="Calibri"/>
              </a:rPr>
              <a:t>      API:  shift-analytics-api.onrender.com</a:t>
            </a:r>
          </a:p>
        </p:txBody>
      </p:sp>
    </p:spTree>
    <p:extLst>
      <p:ext uri="{BB962C8B-B14F-4D97-AF65-F5344CB8AC3E}">
        <p14:creationId xmlns:p14="http://schemas.microsoft.com/office/powerpoint/2010/main" val="1367720989"/>
      </p:ext>
    </p:extLst>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95360" y="1280160"/>
            <a:ext cx="3931920" cy="393192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0" y="1828799"/>
            <a:ext cx="2834640" cy="28346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46920" y="2331720"/>
            <a:ext cx="1828800" cy="1828800"/>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46920" y="2560320"/>
            <a:ext cx="1828800" cy="1371600"/>
          </a:xfrm>
          <a:prstGeom prst="rect">
            <a:avLst/>
          </a:prstGeom>
          <a:noFill/>
        </p:spPr>
        <p:txBody>
          <a:bodyPr wrap="square" lIns="25400" tIns="25400" rIns="25400" bIns="25400" anchor="ctr">
            <a:spAutoFit/>
          </a:bodyPr>
          <a:lstStyle/>
          <a:p>
            <a:pPr algn="ctr">
              <a:spcBef>
                <a:spcPts val="0"/>
              </a:spcBef>
              <a:spcAft>
                <a:spcPts val="0"/>
              </a:spcAft>
              <a:buNone/>
            </a:pPr>
            <a:r>
              <a:rPr sz="6000" b="1">
                <a:solidFill>
                  <a:srgbClr val="38BDF8"/>
                </a:solidFill>
                <a:latin typeface="Calibri"/>
              </a:rPr>
              <a:t>I</a:t>
            </a:r>
          </a:p>
        </p:txBody>
      </p:sp>
      <p:sp>
        <p:nvSpPr>
          <p:cNvPr id="7" name="TextBox 6"/>
          <p:cNvSpPr txBox="1"/>
          <p:nvPr/>
        </p:nvSpPr>
        <p:spPr>
          <a:xfrm>
            <a:off x="822960" y="2148840"/>
            <a:ext cx="6583680" cy="365760"/>
          </a:xfrm>
          <a:prstGeom prst="rect">
            <a:avLst/>
          </a:prstGeom>
          <a:noFill/>
        </p:spPr>
        <p:txBody>
          <a:bodyPr wrap="square" lIns="25400" tIns="25400" rIns="25400" bIns="25400" anchor="t">
            <a:spAutoFit/>
          </a:bodyPr>
          <a:lstStyle/>
          <a:p>
            <a:pPr algn="l">
              <a:spcBef>
                <a:spcPts val="0"/>
              </a:spcBef>
              <a:spcAft>
                <a:spcPts val="0"/>
              </a:spcAft>
              <a:buNone/>
            </a:pPr>
            <a:r>
              <a:rPr sz="1400" b="1">
                <a:solidFill>
                  <a:srgbClr val="38BDF8"/>
                </a:solidFill>
                <a:latin typeface="Calibri"/>
              </a:rPr>
              <a:t>PART I</a:t>
            </a:r>
          </a:p>
        </p:txBody>
      </p:sp>
      <p:sp>
        <p:nvSpPr>
          <p:cNvPr id="8" name="TextBox 7"/>
          <p:cNvSpPr txBox="1"/>
          <p:nvPr/>
        </p:nvSpPr>
        <p:spPr>
          <a:xfrm>
            <a:off x="786384" y="2487168"/>
            <a:ext cx="6766560" cy="1554480"/>
          </a:xfrm>
          <a:prstGeom prst="rect">
            <a:avLst/>
          </a:prstGeom>
          <a:noFill/>
        </p:spPr>
        <p:txBody>
          <a:bodyPr wrap="square" lIns="25400" tIns="25400" rIns="25400" bIns="25400" anchor="t">
            <a:spAutoFit/>
          </a:bodyPr>
          <a:lstStyle/>
          <a:p>
            <a:pPr algn="l">
              <a:spcBef>
                <a:spcPts val="0"/>
              </a:spcBef>
              <a:spcAft>
                <a:spcPts val="0"/>
              </a:spcAft>
              <a:buNone/>
            </a:pPr>
            <a:r>
              <a:rPr sz="3800" b="1">
                <a:solidFill>
                  <a:srgbClr val="F8FAFC"/>
                </a:solidFill>
                <a:latin typeface="Calibri"/>
              </a:rPr>
              <a:t>The brief,</a:t>
            </a:r>
          </a:p>
          <a:p>
            <a:pPr algn="l">
              <a:spcBef>
                <a:spcPts val="0"/>
              </a:spcBef>
              <a:spcAft>
                <a:spcPts val="0"/>
              </a:spcAft>
              <a:buNone/>
            </a:pPr>
            <a:r>
              <a:rPr sz="3800" b="1">
                <a:solidFill>
                  <a:srgbClr val="F8FAFC"/>
                </a:solidFill>
                <a:latin typeface="Calibri"/>
              </a:rPr>
              <a:t>delivered live</a:t>
            </a:r>
          </a:p>
        </p:txBody>
      </p:sp>
      <p:sp>
        <p:nvSpPr>
          <p:cNvPr id="9" name="Rectangle 8"/>
          <p:cNvSpPr/>
          <p:nvPr/>
        </p:nvSpPr>
        <p:spPr>
          <a:xfrm>
            <a:off x="822960" y="4023360"/>
            <a:ext cx="1371600" cy="640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343400"/>
            <a:ext cx="6675120" cy="1645920"/>
          </a:xfrm>
          <a:prstGeom prst="rect">
            <a:avLst/>
          </a:prstGeom>
          <a:noFill/>
        </p:spPr>
        <p:txBody>
          <a:bodyPr wrap="square" lIns="25400" tIns="25400" rIns="25400" bIns="25400" anchor="t">
            <a:spAutoFit/>
          </a:bodyPr>
          <a:lstStyle/>
          <a:p>
            <a:pPr algn="l">
              <a:spcBef>
                <a:spcPts val="300"/>
              </a:spcBef>
              <a:spcAft>
                <a:spcPts val="300"/>
              </a:spcAft>
              <a:buNone/>
            </a:pPr>
            <a:r>
              <a:rPr sz="1300" b="1">
                <a:solidFill>
                  <a:srgbClr val="38BDF8"/>
                </a:solidFill>
                <a:latin typeface="Calibri"/>
              </a:rPr>
              <a:t>—  </a:t>
            </a:r>
            <a:r>
              <a:rPr sz="1300" b="0">
                <a:solidFill>
                  <a:srgbClr val="94A3B8"/>
                </a:solidFill>
                <a:latin typeface="Calibri"/>
              </a:rPr>
              <a:t>Seven requirements, each shown in the running app</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Live and public — scan the QR to follow along</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The 4-day finding hiding inside the labels</a:t>
            </a:r>
          </a:p>
        </p:txBody>
      </p:sp>
    </p:spTree>
    <p:extLst>
      <p:ext uri="{BB962C8B-B14F-4D97-AF65-F5344CB8AC3E}">
        <p14:creationId xmlns:p14="http://schemas.microsoft.com/office/powerpoint/2010/main" val="2798615505"/>
      </p:ext>
    </p:extLst>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01 · THE PROBLEM</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It's not a charting task — it's a trust-the-data task</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01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5207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600200"/>
            <a:ext cx="11064240" cy="1051560"/>
          </a:xfrm>
          <a:prstGeom prst="rect">
            <a:avLst/>
          </a:prstGeom>
          <a:noFill/>
        </p:spPr>
        <p:txBody>
          <a:bodyPr wrap="square" lIns="25400" tIns="25400" rIns="25400" bIns="25400" anchor="t">
            <a:spAutoFit/>
          </a:bodyPr>
          <a:lstStyle/>
          <a:p>
            <a:endParaRPr/>
          </a:p>
        </p:txBody>
      </p:sp>
      <p:sp>
        <p:nvSpPr>
          <p:cNvPr id="14" name="Rectangle 13"/>
          <p:cNvSpPr/>
          <p:nvPr/>
        </p:nvSpPr>
        <p:spPr>
          <a:xfrm>
            <a:off x="566928" y="1627632"/>
            <a:ext cx="54864" cy="896112"/>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1600200"/>
            <a:ext cx="10881360" cy="1005840"/>
          </a:xfrm>
          <a:prstGeom prst="rect">
            <a:avLst/>
          </a:prstGeom>
          <a:noFill/>
        </p:spPr>
        <p:txBody>
          <a:bodyPr wrap="square" lIns="25400" tIns="25400" rIns="25400" bIns="25400" anchor="t">
            <a:spAutoFit/>
          </a:bodyPr>
          <a:lstStyle/>
          <a:p>
            <a:pPr algn="l">
              <a:spcBef>
                <a:spcPts val="200"/>
              </a:spcBef>
              <a:spcAft>
                <a:spcPts val="200"/>
              </a:spcAft>
              <a:buNone/>
            </a:pPr>
            <a:r>
              <a:rPr sz="1500" b="0">
                <a:solidFill>
                  <a:srgbClr val="1E293B"/>
                </a:solidFill>
                <a:latin typeface="Calibri"/>
              </a:rPr>
              <a:t>Given shift records with deliberate operational inconsistencies, clean the data, visualize shift patterns, score efficiency, detect recurring breakdown periods, and surface actionable insights — and stay useful when new categories appear or are grouped.</a:t>
            </a:r>
          </a:p>
        </p:txBody>
      </p:sp>
      <p:sp>
        <p:nvSpPr>
          <p:cNvPr id="16" name="Rounded Rectangle 15"/>
          <p:cNvSpPr/>
          <p:nvPr/>
        </p:nvSpPr>
        <p:spPr>
          <a:xfrm>
            <a:off x="566928" y="2880360"/>
            <a:ext cx="11064240" cy="93268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100"/>
              </a:spcAft>
              <a:buNone/>
            </a:pPr>
            <a:r>
              <a:rPr sz="1500" b="1" dirty="0">
                <a:solidFill>
                  <a:srgbClr val="0F172A"/>
                </a:solidFill>
                <a:latin typeface="Calibri"/>
              </a:rPr>
              <a:t>Dirty data</a:t>
            </a:r>
          </a:p>
          <a:p>
            <a:pPr algn="l">
              <a:spcBef>
                <a:spcPts val="0"/>
              </a:spcBef>
              <a:spcAft>
                <a:spcPts val="200"/>
              </a:spcAft>
              <a:buNone/>
            </a:pPr>
            <a:r>
              <a:rPr sz="1250" b="0" dirty="0">
                <a:solidFill>
                  <a:srgbClr val="0F172A"/>
                </a:solidFill>
                <a:latin typeface="Calibri"/>
              </a:rPr>
              <a:t>Invalid dates, bad/missing timestamps, negative &amp; mismatched hours, duplicates, overnight shifts — silently dropping rows hides the truth.</a:t>
            </a:r>
          </a:p>
        </p:txBody>
      </p:sp>
      <p:sp>
        <p:nvSpPr>
          <p:cNvPr id="17" name="Rounded Rectangle 16"/>
          <p:cNvSpPr/>
          <p:nvPr/>
        </p:nvSpPr>
        <p:spPr>
          <a:xfrm>
            <a:off x="566928" y="3941063"/>
            <a:ext cx="11064240" cy="93268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100"/>
              </a:spcAft>
              <a:buNone/>
            </a:pPr>
            <a:r>
              <a:rPr sz="1500" b="1" dirty="0">
                <a:solidFill>
                  <a:srgbClr val="0F172A"/>
                </a:solidFill>
                <a:latin typeface="Calibri"/>
              </a:rPr>
              <a:t>Meaningful analysis</a:t>
            </a:r>
          </a:p>
          <a:p>
            <a:pPr algn="l">
              <a:spcBef>
                <a:spcPts val="0"/>
              </a:spcBef>
              <a:spcAft>
                <a:spcPts val="200"/>
              </a:spcAft>
              <a:buNone/>
            </a:pPr>
            <a:r>
              <a:rPr sz="1250" b="0" dirty="0">
                <a:solidFill>
                  <a:srgbClr val="0F172A"/>
                </a:solidFill>
                <a:latin typeface="Calibri"/>
              </a:rPr>
              <a:t>Efficiency, multi-day streaks, reliability — each needs a defensible definition, not just a number.</a:t>
            </a:r>
          </a:p>
        </p:txBody>
      </p:sp>
      <p:sp>
        <p:nvSpPr>
          <p:cNvPr id="18" name="Rounded Rectangle 17"/>
          <p:cNvSpPr/>
          <p:nvPr/>
        </p:nvSpPr>
        <p:spPr>
          <a:xfrm>
            <a:off x="566928" y="5001768"/>
            <a:ext cx="11064240" cy="93268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100"/>
              </a:spcAft>
              <a:buNone/>
            </a:pPr>
            <a:r>
              <a:rPr sz="1500" b="1" dirty="0">
                <a:solidFill>
                  <a:srgbClr val="0F172A"/>
                </a:solidFill>
                <a:latin typeface="Calibri"/>
              </a:rPr>
              <a:t>Extensibility</a:t>
            </a:r>
          </a:p>
          <a:p>
            <a:pPr algn="l">
              <a:spcBef>
                <a:spcPts val="0"/>
              </a:spcBef>
              <a:spcAft>
                <a:spcPts val="200"/>
              </a:spcAft>
              <a:buNone/>
            </a:pPr>
            <a:r>
              <a:rPr sz="1250" b="0" dirty="0">
                <a:solidFill>
                  <a:srgbClr val="0F172A"/>
                </a:solidFill>
                <a:latin typeface="Calibri"/>
              </a:rPr>
              <a:t>No reason list can be hardcoded; grouping must re-flow every chart, streak and score.</a:t>
            </a:r>
          </a:p>
        </p:txBody>
      </p:sp>
    </p:spTree>
    <p:extLst>
      <p:ext uri="{BB962C8B-B14F-4D97-AF65-F5344CB8AC3E}">
        <p14:creationId xmlns:p14="http://schemas.microsoft.com/office/powerpoint/2010/main" val="4111188619"/>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02 · THE BRIEF → DELIVERED</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Every requirement delivered — each shown live in the next slides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02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10541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Table 12"/>
          <p:cNvGraphicFramePr>
            <a:graphicFrameLocks noGrp="1"/>
          </p:cNvGraphicFramePr>
          <p:nvPr/>
        </p:nvGraphicFramePr>
        <p:xfrm>
          <a:off x="566928" y="1554480"/>
          <a:ext cx="11064240" cy="408000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80000">
                <a:tc>
                  <a:txBody>
                    <a:bodyPr/>
                    <a:lstStyle/>
                    <a:p>
                      <a:pPr algn="l">
                        <a:spcBef>
                          <a:spcPts val="100"/>
                        </a:spcBef>
                        <a:spcAft>
                          <a:spcPts val="100"/>
                        </a:spcAft>
                        <a:buNone/>
                      </a:pPr>
                      <a:r>
                        <a:rPr sz="1200" b="1">
                          <a:solidFill>
                            <a:srgbClr val="F8FAFC"/>
                          </a:solidFill>
                          <a:latin typeface="Calibri"/>
                        </a:rPr>
                        <a:t>From the brief</a:t>
                      </a:r>
                    </a:p>
                  </a:txBody>
                  <a:tcPr marL="101600" marT="30000" marB="30000" anchor="ctr">
                    <a:solidFill>
                      <a:srgbClr val="0F172A"/>
                    </a:solidFill>
                  </a:tcPr>
                </a:tc>
                <a:tc>
                  <a:txBody>
                    <a:bodyPr/>
                    <a:lstStyle/>
                    <a:p>
                      <a:pPr algn="l">
                        <a:spcBef>
                          <a:spcPts val="100"/>
                        </a:spcBef>
                        <a:spcAft>
                          <a:spcPts val="100"/>
                        </a:spcAft>
                        <a:buNone/>
                      </a:pPr>
                      <a:r>
                        <a:rPr sz="1200" b="1">
                          <a:solidFill>
                            <a:srgbClr val="F8FAFC"/>
                          </a:solidFill>
                          <a:latin typeface="Calibri"/>
                        </a:rPr>
                        <a:t>Delivered as</a:t>
                      </a:r>
                    </a:p>
                  </a:txBody>
                  <a:tcPr marL="101600" marT="30000" marB="30000" anchor="ctr">
                    <a:solidFill>
                      <a:srgbClr val="0F172A"/>
                    </a:solidFill>
                  </a:tcPr>
                </a:tc>
                <a:tc>
                  <a:txBody>
                    <a:bodyPr/>
                    <a:lstStyle/>
                    <a:p>
                      <a:pPr algn="l">
                        <a:spcBef>
                          <a:spcPts val="100"/>
                        </a:spcBef>
                        <a:spcAft>
                          <a:spcPts val="100"/>
                        </a:spcAft>
                        <a:buNone/>
                      </a:pPr>
                      <a:r>
                        <a:rPr sz="1200" b="1">
                          <a:solidFill>
                            <a:srgbClr val="F8FAFC"/>
                          </a:solidFill>
                          <a:latin typeface="Calibri"/>
                        </a:rPr>
                        <a:t>Where to see it</a:t>
                      </a:r>
                    </a:p>
                  </a:txBody>
                  <a:tcPr marL="101600" marT="30000" marB="30000" anchor="ctr">
                    <a:solidFill>
                      <a:srgbClr val="0F172A"/>
                    </a:solidFill>
                  </a:tcPr>
                </a:tc>
                <a:extLst>
                  <a:ext uri="{0D108BD9-81ED-4DB2-BD59-A6C34878D82A}">
                    <a16:rowId xmlns:a16="http://schemas.microsoft.com/office/drawing/2014/main" val="10000"/>
                  </a:ext>
                </a:extLst>
              </a:tr>
              <a:tr h="450000">
                <a:tc>
                  <a:txBody>
                    <a:bodyPr/>
                    <a:lstStyle/>
                    <a:p>
                      <a:pPr algn="l">
                        <a:spcBef>
                          <a:spcPts val="100"/>
                        </a:spcBef>
                        <a:spcAft>
                          <a:spcPts val="100"/>
                        </a:spcAft>
                        <a:buNone/>
                      </a:pPr>
                      <a:r>
                        <a:rPr sz="1100" b="1">
                          <a:solidFill>
                            <a:srgbClr val="0F172A"/>
                          </a:solidFill>
                          <a:latin typeface="Calibri"/>
                        </a:rPr>
                        <a:t>Detect, document &amp; handle inconsistencies</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10-issue cleaning pipeline — recover or exclude, nothing silently dropped</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Data Quality report</a:t>
                      </a:r>
                    </a:p>
                  </a:txBody>
                  <a:tcPr marL="101600" marT="30000" marB="30000" anchor="ctr">
                    <a:solidFill>
                      <a:srgbClr val="F8FAFC"/>
                    </a:solidFill>
                  </a:tcPr>
                </a:tc>
                <a:extLst>
                  <a:ext uri="{0D108BD9-81ED-4DB2-BD59-A6C34878D82A}">
                    <a16:rowId xmlns:a16="http://schemas.microsoft.com/office/drawing/2014/main" val="10001"/>
                  </a:ext>
                </a:extLst>
              </a:tr>
              <a:tr h="450000">
                <a:tc>
                  <a:txBody>
                    <a:bodyPr/>
                    <a:lstStyle/>
                    <a:p>
                      <a:pPr algn="l">
                        <a:spcBef>
                          <a:spcPts val="100"/>
                        </a:spcBef>
                        <a:spcAft>
                          <a:spcPts val="100"/>
                        </a:spcAft>
                        <a:buNone/>
                      </a:pPr>
                      <a:r>
                        <a:rPr sz="1100" b="1">
                          <a:solidFill>
                            <a:srgbClr val="0F172A"/>
                          </a:solidFill>
                          <a:latin typeface="Calibri"/>
                        </a:rPr>
                        <a:t>Filter &amp; analyse by attribute combinations</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Shared apply_filters(): date range, reasons, validity — on every endpoint</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Filter bar, all panels</a:t>
                      </a:r>
                    </a:p>
                  </a:txBody>
                  <a:tcPr marL="101600" marT="30000" marB="30000" anchor="ctr">
                    <a:solidFill>
                      <a:srgbClr val="FFFFFF"/>
                    </a:solidFill>
                  </a:tcPr>
                </a:tc>
                <a:extLst>
                  <a:ext uri="{0D108BD9-81ED-4DB2-BD59-A6C34878D82A}">
                    <a16:rowId xmlns:a16="http://schemas.microsoft.com/office/drawing/2014/main" val="10002"/>
                  </a:ext>
                </a:extLst>
              </a:tr>
              <a:tr h="450000">
                <a:tc>
                  <a:txBody>
                    <a:bodyPr/>
                    <a:lstStyle/>
                    <a:p>
                      <a:pPr algn="l">
                        <a:spcBef>
                          <a:spcPts val="100"/>
                        </a:spcBef>
                        <a:spcAft>
                          <a:spcPts val="100"/>
                        </a:spcAft>
                        <a:buNone/>
                      </a:pPr>
                      <a:r>
                        <a:rPr sz="1100" b="1">
                          <a:solidFill>
                            <a:srgbClr val="0F172A"/>
                          </a:solidFill>
                          <a:latin typeface="Calibri"/>
                        </a:rPr>
                        <a:t>Shift analysis chart with all reasons</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Custom 36-hour chart, one coloured bar per shift, every reason included</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Shift Analysis panel</a:t>
                      </a:r>
                    </a:p>
                  </a:txBody>
                  <a:tcPr marL="101600" marT="30000" marB="30000" anchor="ctr">
                    <a:solidFill>
                      <a:srgbClr val="F8FAFC"/>
                    </a:solidFill>
                  </a:tcPr>
                </a:tc>
                <a:extLst>
                  <a:ext uri="{0D108BD9-81ED-4DB2-BD59-A6C34878D82A}">
                    <a16:rowId xmlns:a16="http://schemas.microsoft.com/office/drawing/2014/main" val="10003"/>
                  </a:ext>
                </a:extLst>
              </a:tr>
              <a:tr h="450000">
                <a:tc>
                  <a:txBody>
                    <a:bodyPr/>
                    <a:lstStyle/>
                    <a:p>
                      <a:pPr algn="l">
                        <a:spcBef>
                          <a:spcPts val="100"/>
                        </a:spcBef>
                        <a:spcAft>
                          <a:spcPts val="100"/>
                        </a:spcAft>
                        <a:buNone/>
                      </a:pPr>
                      <a:r>
                        <a:rPr sz="1100" b="1">
                          <a:solidFill>
                            <a:srgbClr val="0F172A"/>
                          </a:solidFill>
                          <a:latin typeface="Calibri"/>
                        </a:rPr>
                        <a:t>Identify meaningful breakdown streaks</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Configurable consecutive-day detection with severity; assumptions documented</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Streaks panel + README</a:t>
                      </a:r>
                    </a:p>
                  </a:txBody>
                  <a:tcPr marL="101600" marT="30000" marB="30000" anchor="ctr">
                    <a:solidFill>
                      <a:srgbClr val="FFFFFF"/>
                    </a:solidFill>
                  </a:tcPr>
                </a:tc>
                <a:extLst>
                  <a:ext uri="{0D108BD9-81ED-4DB2-BD59-A6C34878D82A}">
                    <a16:rowId xmlns:a16="http://schemas.microsoft.com/office/drawing/2014/main" val="10004"/>
                  </a:ext>
                </a:extLst>
              </a:tr>
              <a:tr h="450000">
                <a:tc>
                  <a:txBody>
                    <a:bodyPr/>
                    <a:lstStyle/>
                    <a:p>
                      <a:pPr algn="l">
                        <a:spcBef>
                          <a:spcPts val="100"/>
                        </a:spcBef>
                        <a:spcAft>
                          <a:spcPts val="100"/>
                        </a:spcAft>
                        <a:buNone/>
                      </a:pPr>
                      <a:r>
                        <a:rPr sz="1100" b="1">
                          <a:solidFill>
                            <a:srgbClr val="0F172A"/>
                          </a:solidFill>
                          <a:latin typeface="Calibri"/>
                        </a:rPr>
                        <a:t>Efficiency = (Productive ÷ Total) × 100</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Implemented literally — 86.8% overall + daily trend; reason set configurable</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KPI row + trend chart</a:t>
                      </a:r>
                    </a:p>
                  </a:txBody>
                  <a:tcPr marL="101600" marT="30000" marB="30000" anchor="ctr">
                    <a:solidFill>
                      <a:srgbClr val="F8FAFC"/>
                    </a:solidFill>
                  </a:tcPr>
                </a:tc>
                <a:extLst>
                  <a:ext uri="{0D108BD9-81ED-4DB2-BD59-A6C34878D82A}">
                    <a16:rowId xmlns:a16="http://schemas.microsoft.com/office/drawing/2014/main" val="10005"/>
                  </a:ext>
                </a:extLst>
              </a:tr>
              <a:tr h="450000">
                <a:tc>
                  <a:txBody>
                    <a:bodyPr/>
                    <a:lstStyle/>
                    <a:p>
                      <a:pPr algn="l">
                        <a:spcBef>
                          <a:spcPts val="100"/>
                        </a:spcBef>
                        <a:spcAft>
                          <a:spcPts val="100"/>
                        </a:spcAft>
                        <a:buNone/>
                      </a:pPr>
                      <a:r>
                        <a:rPr sz="1100" b="1">
                          <a:solidFill>
                            <a:srgbClr val="0F172A"/>
                          </a:solidFill>
                          <a:latin typeface="Calibri"/>
                        </a:rPr>
                        <a:t>At least 3 actionable insights</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5+ insights computed live from the data, never hardcoded</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Insights panel</a:t>
                      </a:r>
                    </a:p>
                  </a:txBody>
                  <a:tcPr marL="101600" marT="30000" marB="30000" anchor="ctr">
                    <a:solidFill>
                      <a:srgbClr val="FFFFFF"/>
                    </a:solidFill>
                  </a:tcPr>
                </a:tc>
                <a:extLst>
                  <a:ext uri="{0D108BD9-81ED-4DB2-BD59-A6C34878D82A}">
                    <a16:rowId xmlns:a16="http://schemas.microsoft.com/office/drawing/2014/main" val="10006"/>
                  </a:ext>
                </a:extLst>
              </a:tr>
              <a:tr h="450000">
                <a:tc>
                  <a:txBody>
                    <a:bodyPr/>
                    <a:lstStyle/>
                    <a:p>
                      <a:pPr algn="l">
                        <a:spcBef>
                          <a:spcPts val="100"/>
                        </a:spcBef>
                        <a:spcAft>
                          <a:spcPts val="100"/>
                        </a:spcAft>
                        <a:buNone/>
                      </a:pPr>
                      <a:r>
                        <a:rPr sz="1100" b="1">
                          <a:solidFill>
                            <a:srgbClr val="0F172A"/>
                          </a:solidFill>
                          <a:latin typeface="Calibri"/>
                        </a:rPr>
                        <a:t>Stays useful as categories appear / group</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Reasons derived from data; grouping re-flows every chart, streak &amp; score</a:t>
                      </a:r>
                    </a:p>
                  </a:txBody>
                  <a:tcPr marL="101600" marT="30000" marB="30000" anchor="ctr">
                    <a:solidFill>
                      <a:srgbClr val="F8FAFC"/>
                    </a:solidFill>
                  </a:tcPr>
                </a:tc>
                <a:tc>
                  <a:txBody>
                    <a:bodyPr/>
                    <a:lstStyle/>
                    <a:p>
                      <a:pPr algn="l">
                        <a:spcBef>
                          <a:spcPts val="100"/>
                        </a:spcBef>
                        <a:spcAft>
                          <a:spcPts val="100"/>
                        </a:spcAft>
                        <a:buNone/>
                      </a:pPr>
                      <a:r>
                        <a:rPr sz="1100" b="0">
                          <a:solidFill>
                            <a:srgbClr val="0F172A"/>
                          </a:solidFill>
                          <a:latin typeface="Calibri"/>
                        </a:rPr>
                        <a:t>Edit groups / upload</a:t>
                      </a:r>
                    </a:p>
                  </a:txBody>
                  <a:tcPr marL="101600" marT="30000" marB="30000" anchor="ctr">
                    <a:solidFill>
                      <a:srgbClr val="F8FAFC"/>
                    </a:solidFill>
                  </a:tcPr>
                </a:tc>
                <a:extLst>
                  <a:ext uri="{0D108BD9-81ED-4DB2-BD59-A6C34878D82A}">
                    <a16:rowId xmlns:a16="http://schemas.microsoft.com/office/drawing/2014/main" val="10007"/>
                  </a:ext>
                </a:extLst>
              </a:tr>
              <a:tr h="450000">
                <a:tc>
                  <a:txBody>
                    <a:bodyPr/>
                    <a:lstStyle/>
                    <a:p>
                      <a:pPr algn="l">
                        <a:spcBef>
                          <a:spcPts val="100"/>
                        </a:spcBef>
                        <a:spcAft>
                          <a:spcPts val="100"/>
                        </a:spcAft>
                        <a:buNone/>
                      </a:pPr>
                      <a:r>
                        <a:rPr sz="1100" b="1">
                          <a:solidFill>
                            <a:srgbClr val="0F172A"/>
                          </a:solidFill>
                          <a:latin typeface="Calibri"/>
                        </a:rPr>
                        <a:t>React frontend · Django backend · no hardcoding</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React 19 + Vite SPA over Django 6 + DRF; all policy lives in config / env</a:t>
                      </a:r>
                    </a:p>
                  </a:txBody>
                  <a:tcPr marL="101600" marT="30000" marB="30000" anchor="ctr">
                    <a:solidFill>
                      <a:srgbClr val="FFFFFF"/>
                    </a:solidFill>
                  </a:tcPr>
                </a:tc>
                <a:tc>
                  <a:txBody>
                    <a:bodyPr/>
                    <a:lstStyle/>
                    <a:p>
                      <a:pPr algn="l">
                        <a:spcBef>
                          <a:spcPts val="100"/>
                        </a:spcBef>
                        <a:spcAft>
                          <a:spcPts val="100"/>
                        </a:spcAft>
                        <a:buNone/>
                      </a:pPr>
                      <a:r>
                        <a:rPr sz="1100" b="0">
                          <a:solidFill>
                            <a:srgbClr val="0F172A"/>
                          </a:solidFill>
                          <a:latin typeface="Calibri"/>
                        </a:rPr>
                        <a:t>GitHub repo + live app</a:t>
                      </a:r>
                    </a:p>
                  </a:txBody>
                  <a:tcPr marL="101600" marT="30000" marB="30000" anchor="c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0766550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03 · LIVE IN PRODUCTION</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Deployed and public — the panel can open it during this talk</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03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15748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266740"/>
          </a:xfrm>
          <a:prstGeom prst="rect">
            <a:avLst/>
          </a:prstGeom>
          <a:noFill/>
        </p:spPr>
        <p:txBody>
          <a:bodyPr wrap="square" lIns="25400" tIns="25400" rIns="25400" bIns="25400" anchor="t">
            <a:spAutoFit/>
          </a:bodyPr>
          <a:lstStyle/>
          <a:p>
            <a:pPr>
              <a:spcBef>
                <a:spcPts val="200"/>
              </a:spcBef>
              <a:spcAft>
                <a:spcPts val="200"/>
              </a:spcAft>
            </a:pPr>
            <a:r>
              <a:rPr sz="1400" b="0" dirty="0">
                <a:solidFill>
                  <a:srgbClr val="0F172A"/>
                </a:solidFill>
                <a:latin typeface="Calibri"/>
              </a:rPr>
              <a:t>Live app   </a:t>
            </a:r>
            <a:r>
              <a:rPr sz="1400" b="0" i="1" u="sng" dirty="0">
                <a:solidFill>
                  <a:srgbClr val="0F172A"/>
                </a:solidFill>
                <a:latin typeface="Calibri"/>
              </a:rPr>
              <a:t>shift-operations-</a:t>
            </a:r>
            <a:r>
              <a:rPr sz="1400" b="0" i="1" u="sng" dirty="0" err="1">
                <a:solidFill>
                  <a:srgbClr val="0F172A"/>
                </a:solidFill>
                <a:latin typeface="Calibri"/>
              </a:rPr>
              <a:t>analytics.vercel.app</a:t>
            </a:r>
            <a:r>
              <a:rPr sz="1400" b="0" dirty="0">
                <a:solidFill>
                  <a:srgbClr val="0F172A"/>
                </a:solidFill>
                <a:latin typeface="Calibri"/>
              </a:rPr>
              <a:t>     ·     API   shift-analytics-api.onrender.com     ·     Code   </a:t>
            </a:r>
            <a:r>
              <a:rPr lang="en-US" sz="1400" dirty="0">
                <a:solidFill>
                  <a:srgbClr val="0F172A"/>
                </a:solidFill>
              </a:rPr>
              <a:t>github.com/</a:t>
            </a:r>
            <a:r>
              <a:rPr lang="en-US" sz="1400" dirty="0" err="1">
                <a:solidFill>
                  <a:srgbClr val="0F172A"/>
                </a:solidFill>
              </a:rPr>
              <a:t>Raisulll</a:t>
            </a:r>
            <a:r>
              <a:rPr lang="en-US" sz="1400" dirty="0">
                <a:solidFill>
                  <a:srgbClr val="0F172A"/>
                </a:solidFill>
              </a:rPr>
              <a:t>/Shift-Operations-Analytics</a:t>
            </a:r>
            <a:endParaRPr sz="1400" b="0" dirty="0">
              <a:solidFill>
                <a:srgbClr val="0F172A"/>
              </a:solidFill>
              <a:latin typeface="Calibri"/>
            </a:endParaRP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l="2964" t="259" r="3726"/>
          <a:stretch>
            <a:fillRect/>
          </a:stretch>
        </p:blipFill>
        <p:spPr>
          <a:xfrm>
            <a:off x="173736" y="2040300"/>
            <a:ext cx="8403336" cy="3971216"/>
          </a:xfrm>
          <a:prstGeom prst="roundRect">
            <a:avLst>
              <a:gd name="adj" fmla="val 3252"/>
            </a:avLst>
          </a:prstGeom>
          <a:ln>
            <a:noFill/>
          </a:ln>
          <a:effectLst>
            <a:outerShdw blurRad="292100" dist="139700" dir="2700000" algn="tl" rotWithShape="0">
              <a:srgbClr val="333333">
                <a:alpha val="65000"/>
              </a:srgbClr>
            </a:outerShdw>
          </a:effectLst>
        </p:spPr>
      </p:pic>
      <p:pic>
        <p:nvPicPr>
          <p:cNvPr id="97" name="QR live app"/>
          <p:cNvPicPr>
            <a:picLocks noChangeAspect="1"/>
          </p:cNvPicPr>
          <p:nvPr/>
        </p:nvPicPr>
        <p:blipFill>
          <a:blip r:embed="rId4"/>
          <a:stretch>
            <a:fillRect/>
          </a:stretch>
        </p:blipFill>
        <p:spPr>
          <a:xfrm>
            <a:off x="8760000" y="2620000"/>
            <a:ext cx="2200000" cy="2200000"/>
          </a:xfrm>
          <a:prstGeom prst="roundRect">
            <a:avLst>
              <a:gd name="adj" fmla="val 5029"/>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98" name="QR caption"/>
          <p:cNvSpPr txBox="1"/>
          <p:nvPr/>
        </p:nvSpPr>
        <p:spPr>
          <a:xfrm>
            <a:off x="8460000" y="4900000"/>
            <a:ext cx="2800000" cy="350000"/>
          </a:xfrm>
          <a:prstGeom prst="rect">
            <a:avLst/>
          </a:prstGeom>
        </p:spPr>
        <p:txBody>
          <a:bodyPr wrap="square"/>
          <a:lstStyle/>
          <a:p>
            <a:pPr algn="ctr">
              <a:buNone/>
            </a:pPr>
            <a:r>
              <a:rPr lang="en-US" sz="1100">
                <a:solidFill>
                  <a:srgbClr val="475569"/>
                </a:solidFill>
                <a:latin typeface="Calibri"/>
              </a:rPr>
              <a:t>Scan to open the live app</a:t>
            </a:r>
          </a:p>
        </p:txBody>
      </p:sp>
    </p:spTree>
    <p:extLst>
      <p:ext uri="{BB962C8B-B14F-4D97-AF65-F5344CB8AC3E}">
        <p14:creationId xmlns:p14="http://schemas.microsoft.com/office/powerpoint/2010/main" val="199058128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04 · REQUIREMENT 1 · DATA QUALITY</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Detect, document and handle inconsistencies — nothing dropped in silence</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04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21082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The Data Quality report lists every flagged row with its issue and the action taken: recovered rows keep their derived values, excluded rows stay visible with the reason. Ten issue types are detected, and the full catalogue is documented in the README.</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032000" y="2160370"/>
            <a:ext cx="8128000" cy="3628182"/>
          </a:xfrm>
          <a:prstGeom prst="roundRect">
            <a:avLst>
              <a:gd name="adj" fmla="val 3814"/>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5200404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05 · REQUIREMENT 2 · FILTER &amp; ANALYSE</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Filter and analyse by any combination of attributes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05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26289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One shared filter — date range, reasons, validity — drives every panel and the CSV export, so a filtered view and its download always agree. Combinations apply everywhere at once: charts, streaks, score and insights.</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1751076" y="2148085"/>
            <a:ext cx="8659368" cy="4014971"/>
          </a:xfrm>
          <a:prstGeom prst="roundRect">
            <a:avLst>
              <a:gd name="adj" fmla="val 1636"/>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2659599"/>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06 · REQUIREMENT 3 · SHIFT CHART</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A 36-hour axis keeps overnight shifts as one continuous bar</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06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31623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Date on X, time of day on Y, one coloured bar per shift. A 22:00 → 06:00 shift crosses midnight, so the axis runs 12 AM → next 12 PM (36 h): an overnight bar simply passes the 24-hour line — see Oct 4 — instead of wrapping or breaking.</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tretch>
            <a:fillRect/>
          </a:stretch>
        </p:blipFill>
        <p:spPr>
          <a:xfrm>
            <a:off x="2032000" y="2140712"/>
            <a:ext cx="8128000" cy="4014971"/>
          </a:xfrm>
          <a:prstGeom prst="roundRect">
            <a:avLst>
              <a:gd name="adj" fmla="val 3230"/>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02435705"/>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07 · REQUIREMENT 4 · BREAKDOWN STREAKS</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Identify meaningful breakdown streaks — configurable and documented</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07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36830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A streak is N or more consecutive calendar days, each containing at least one record from a configurable target set — reported with span, length and severity in downtime hours. Presets switch the definition live; the assumptions are written down, not implied.</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489979" y="2018374"/>
            <a:ext cx="7208993" cy="4014971"/>
          </a:xfrm>
          <a:prstGeom prst="roundRect">
            <a:avLst>
              <a:gd name="adj" fmla="val 2775"/>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9408295"/>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08 · THE KEY FINDING</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Grouping the labels reveals a 4-day run the raw label hides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08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42037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 y="2148840"/>
            <a:ext cx="1645920" cy="45720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0"/>
              </a:spcBef>
              <a:spcAft>
                <a:spcPts val="0"/>
              </a:spcAft>
              <a:buNone/>
            </a:pPr>
            <a:r>
              <a:rPr sz="1050" b="1">
                <a:solidFill>
                  <a:srgbClr val="0F172A"/>
                </a:solidFill>
                <a:latin typeface="Calibri"/>
              </a:rPr>
              <a:t>Literal “Breakdown”</a:t>
            </a:r>
          </a:p>
        </p:txBody>
      </p:sp>
      <p:sp>
        <p:nvSpPr>
          <p:cNvPr id="14" name="Rounded Rectangle 13"/>
          <p:cNvSpPr/>
          <p:nvPr/>
        </p:nvSpPr>
        <p:spPr>
          <a:xfrm>
            <a:off x="822960" y="3520440"/>
            <a:ext cx="1645920" cy="45720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0"/>
              </a:spcBef>
              <a:spcAft>
                <a:spcPts val="0"/>
              </a:spcAft>
              <a:buNone/>
            </a:pPr>
            <a:r>
              <a:rPr sz="1050" b="1">
                <a:solidFill>
                  <a:srgbClr val="0F172A"/>
                </a:solidFill>
                <a:latin typeface="Calibri"/>
              </a:rPr>
              <a:t>Failure family</a:t>
            </a:r>
          </a:p>
        </p:txBody>
      </p:sp>
      <p:sp>
        <p:nvSpPr>
          <p:cNvPr id="15" name="TextBox 14"/>
          <p:cNvSpPr txBox="1"/>
          <p:nvPr/>
        </p:nvSpPr>
        <p:spPr>
          <a:xfrm>
            <a:off x="2240279"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3</a:t>
            </a:r>
          </a:p>
        </p:txBody>
      </p:sp>
      <p:cxnSp>
        <p:nvCxnSpPr>
          <p:cNvPr id="16" name="Connector 15"/>
          <p:cNvCxnSpPr/>
          <p:nvPr/>
        </p:nvCxnSpPr>
        <p:spPr>
          <a:xfrm>
            <a:off x="2560320"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03320"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6</a:t>
            </a:r>
          </a:p>
        </p:txBody>
      </p:sp>
      <p:cxnSp>
        <p:nvCxnSpPr>
          <p:cNvPr id="18" name="Connector 17"/>
          <p:cNvCxnSpPr/>
          <p:nvPr/>
        </p:nvCxnSpPr>
        <p:spPr>
          <a:xfrm>
            <a:off x="4023359"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166360"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9</a:t>
            </a:r>
          </a:p>
        </p:txBody>
      </p:sp>
      <p:cxnSp>
        <p:nvCxnSpPr>
          <p:cNvPr id="20" name="Connector 19"/>
          <p:cNvCxnSpPr/>
          <p:nvPr/>
        </p:nvCxnSpPr>
        <p:spPr>
          <a:xfrm>
            <a:off x="5486400"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29400"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12</a:t>
            </a:r>
          </a:p>
        </p:txBody>
      </p:sp>
      <p:cxnSp>
        <p:nvCxnSpPr>
          <p:cNvPr id="22" name="Connector 21"/>
          <p:cNvCxnSpPr/>
          <p:nvPr/>
        </p:nvCxnSpPr>
        <p:spPr>
          <a:xfrm>
            <a:off x="6949440"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092440"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15</a:t>
            </a:r>
          </a:p>
        </p:txBody>
      </p:sp>
      <p:cxnSp>
        <p:nvCxnSpPr>
          <p:cNvPr id="24" name="Connector 23"/>
          <p:cNvCxnSpPr/>
          <p:nvPr/>
        </p:nvCxnSpPr>
        <p:spPr>
          <a:xfrm>
            <a:off x="8412480"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555480"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18</a:t>
            </a:r>
          </a:p>
        </p:txBody>
      </p:sp>
      <p:cxnSp>
        <p:nvCxnSpPr>
          <p:cNvPr id="26" name="Connector 25"/>
          <p:cNvCxnSpPr/>
          <p:nvPr/>
        </p:nvCxnSpPr>
        <p:spPr>
          <a:xfrm>
            <a:off x="9875520"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018519" y="4297680"/>
            <a:ext cx="822960" cy="274320"/>
          </a:xfrm>
          <a:prstGeom prst="rect">
            <a:avLst/>
          </a:prstGeom>
          <a:noFill/>
        </p:spPr>
        <p:txBody>
          <a:bodyPr wrap="square" lIns="25400" tIns="25400" rIns="25400" bIns="25400" anchor="t">
            <a:spAutoFit/>
          </a:bodyPr>
          <a:lstStyle/>
          <a:p>
            <a:pPr algn="ctr">
              <a:spcBef>
                <a:spcPts val="200"/>
              </a:spcBef>
              <a:spcAft>
                <a:spcPts val="200"/>
              </a:spcAft>
              <a:buNone/>
            </a:pPr>
            <a:r>
              <a:rPr sz="900" b="0">
                <a:solidFill>
                  <a:srgbClr val="334155"/>
                </a:solidFill>
                <a:latin typeface="Calibri"/>
              </a:rPr>
              <a:t>Oct 21</a:t>
            </a:r>
          </a:p>
        </p:txBody>
      </p:sp>
      <p:cxnSp>
        <p:nvCxnSpPr>
          <p:cNvPr id="28" name="Connector 27"/>
          <p:cNvCxnSpPr/>
          <p:nvPr/>
        </p:nvCxnSpPr>
        <p:spPr>
          <a:xfrm>
            <a:off x="11338559" y="2286000"/>
            <a:ext cx="0" cy="1965960"/>
          </a:xfrm>
          <a:prstGeom prst="line">
            <a:avLst/>
          </a:prstGeom>
          <a:ln w="9525">
            <a:solidFill>
              <a:srgbClr val="F8FAFC"/>
            </a:solidFill>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998720" y="2194560"/>
            <a:ext cx="975359" cy="457200"/>
          </a:xfrm>
          <a:prstGeom prst="roundRect">
            <a:avLst>
              <a:gd name="adj" fmla="val 6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000" b="1">
                <a:solidFill>
                  <a:srgbClr val="F8FAFC"/>
                </a:solidFill>
                <a:latin typeface="Calibri"/>
              </a:rPr>
              <a:t>2-day blip</a:t>
            </a:r>
          </a:p>
        </p:txBody>
      </p:sp>
      <p:sp>
        <p:nvSpPr>
          <p:cNvPr id="30" name="Rounded Rectangle 29"/>
          <p:cNvSpPr/>
          <p:nvPr/>
        </p:nvSpPr>
        <p:spPr>
          <a:xfrm>
            <a:off x="2560320" y="3566160"/>
            <a:ext cx="975359" cy="457200"/>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000" b="1">
                <a:solidFill>
                  <a:srgbClr val="F8FAFC"/>
                </a:solidFill>
                <a:latin typeface="Calibri"/>
              </a:rPr>
              <a:t>2d</a:t>
            </a:r>
          </a:p>
        </p:txBody>
      </p:sp>
      <p:sp>
        <p:nvSpPr>
          <p:cNvPr id="31" name="Rounded Rectangle 30"/>
          <p:cNvSpPr/>
          <p:nvPr/>
        </p:nvSpPr>
        <p:spPr>
          <a:xfrm>
            <a:off x="4511040" y="3566160"/>
            <a:ext cx="1950719" cy="457200"/>
          </a:xfrm>
          <a:prstGeom prst="roundRect">
            <a:avLst>
              <a:gd name="adj" fmla="val 6000"/>
            </a:avLst>
          </a:prstGeom>
          <a:solidFill>
            <a:srgbClr val="FBBF24"/>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000" b="1">
                <a:solidFill>
                  <a:srgbClr val="0F172A"/>
                </a:solidFill>
                <a:latin typeface="Calibri"/>
              </a:rPr>
              <a:t>4-DAY RUN (Oct 7–10)</a:t>
            </a:r>
          </a:p>
        </p:txBody>
      </p:sp>
      <p:sp>
        <p:nvSpPr>
          <p:cNvPr id="32" name="Rounded Rectangle 31"/>
          <p:cNvSpPr/>
          <p:nvPr/>
        </p:nvSpPr>
        <p:spPr>
          <a:xfrm>
            <a:off x="10850880" y="3566160"/>
            <a:ext cx="975359" cy="457200"/>
          </a:xfrm>
          <a:prstGeom prst="roundRect">
            <a:avLst>
              <a:gd name="adj" fmla="val 6000"/>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000" b="1">
                <a:solidFill>
                  <a:srgbClr val="F8FAFC"/>
                </a:solidFill>
                <a:latin typeface="Calibri"/>
              </a:rPr>
              <a:t>2d</a:t>
            </a:r>
          </a:p>
        </p:txBody>
      </p:sp>
      <p:sp>
        <p:nvSpPr>
          <p:cNvPr id="33" name="Rounded Rectangle 32"/>
          <p:cNvSpPr/>
          <p:nvPr/>
        </p:nvSpPr>
        <p:spPr>
          <a:xfrm>
            <a:off x="566928" y="5029200"/>
            <a:ext cx="11064240" cy="105156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300"/>
              </a:spcAft>
              <a:buNone/>
            </a:pPr>
            <a:r>
              <a:rPr sz="1300" b="0">
                <a:solidFill>
                  <a:srgbClr val="0F172A"/>
                </a:solidFill>
                <a:latin typeface="Calibri"/>
              </a:rPr>
              <a:t>Literal </a:t>
            </a:r>
            <a:r>
              <a:rPr sz="1300" b="1">
                <a:solidFill>
                  <a:srgbClr val="0F172A"/>
                </a:solidFill>
                <a:latin typeface="Consolas"/>
              </a:rPr>
              <a:t>Breakdown</a:t>
            </a:r>
            <a:r>
              <a:rPr sz="1300" b="0">
                <a:solidFill>
                  <a:srgbClr val="0F172A"/>
                </a:solidFill>
                <a:latin typeface="Calibri"/>
              </a:rPr>
              <a:t> label → one 2-day blip.   Widen to the </a:t>
            </a:r>
            <a:r>
              <a:rPr sz="1300" b="1">
                <a:solidFill>
                  <a:srgbClr val="0F172A"/>
                </a:solidFill>
                <a:latin typeface="Calibri"/>
              </a:rPr>
              <a:t>failure family</a:t>
            </a:r>
            <a:r>
              <a:rPr sz="1300" b="0">
                <a:solidFill>
                  <a:srgbClr val="0F172A"/>
                </a:solidFill>
                <a:latin typeface="Calibri"/>
              </a:rPr>
              <a:t> (Breakdown + Power Failure + Machine Jam + Unknown Failure) → a </a:t>
            </a:r>
            <a:r>
              <a:rPr sz="1300" b="1">
                <a:solidFill>
                  <a:srgbClr val="FBBF24"/>
                </a:solidFill>
                <a:latin typeface="Calibri"/>
              </a:rPr>
              <a:t>4-day downtime run</a:t>
            </a:r>
            <a:r>
              <a:rPr sz="1300" b="0">
                <a:solidFill>
                  <a:srgbClr val="0F172A"/>
                </a:solidFill>
                <a:latin typeface="Calibri"/>
              </a:rPr>
              <a:t> emerges.</a:t>
            </a:r>
          </a:p>
          <a:p>
            <a:pPr algn="l">
              <a:spcBef>
                <a:spcPts val="200"/>
              </a:spcBef>
              <a:spcAft>
                <a:spcPts val="200"/>
              </a:spcAft>
              <a:buNone/>
            </a:pPr>
            <a:r>
              <a:rPr sz="1350" b="1">
                <a:solidFill>
                  <a:srgbClr val="0F172A"/>
                </a:solidFill>
                <a:latin typeface="Calibri"/>
              </a:rPr>
              <a:t>➡  Concrete, data-driven evidence for why categories must be groupable.</a:t>
            </a:r>
          </a:p>
        </p:txBody>
      </p:sp>
    </p:spTree>
    <p:extLst>
      <p:ext uri="{BB962C8B-B14F-4D97-AF65-F5344CB8AC3E}">
        <p14:creationId xmlns:p14="http://schemas.microsoft.com/office/powerpoint/2010/main" val="3292397969"/>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09 · REQUIREMENT 5 · EFFICIENCY SCORE</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(Productive ÷ Total) × 100 — implemented exactly as specified</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09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47371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dirty="0">
                <a:solidFill>
                  <a:srgbClr val="0F172A"/>
                </a:solidFill>
                <a:latin typeface="Calibri"/>
              </a:rPr>
              <a:t>86.8% overall on the bundled data, plus a daily trend. I followed the formula literally — only Breakdown and Unknown Failure count as non-productive — then made the set configurable,</a:t>
            </a:r>
            <a:r>
              <a:rPr lang="en-US" sz="1400" b="0" dirty="0">
                <a:solidFill>
                  <a:srgbClr val="0F172A"/>
                </a:solidFill>
                <a:latin typeface="Calibri"/>
              </a:rPr>
              <a:t> </a:t>
            </a:r>
            <a:r>
              <a:rPr sz="1400" b="0" dirty="0">
                <a:solidFill>
                  <a:srgbClr val="0F172A"/>
                </a:solidFill>
                <a:latin typeface="Calibri"/>
              </a:rPr>
              <a:t>and gave streaks a broader failure family so downtime analysis is not limited by the formula.</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632717" y="2018374"/>
            <a:ext cx="6923518" cy="4014971"/>
          </a:xfrm>
          <a:prstGeom prst="roundRect">
            <a:avLst>
              <a:gd name="adj" fmla="val 4596"/>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35246909"/>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10 · REQUIREMENT 6 · ACTIONABLE INSIGHTS</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Five-plus insights a plant manager can act on — computed, never hardcoded</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10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52578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Biggest downtime driver, peak failure window, worst day, data-quality signal and more — each generated live from the current filtered dataset, so the insights update the moment the data, the filters or the grouping change.</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868863" y="2018374"/>
            <a:ext cx="6423794" cy="4014971"/>
          </a:xfrm>
          <a:prstGeom prst="roundRect">
            <a:avLst>
              <a:gd name="adj" fmla="val 3913"/>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2297038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11 · REQUIREMENT 7 · BUILT FOR CHANGE</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THE BRIEF, DELIVERED LIVE</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New categories appear, related ones group — every view re-flows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11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57912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Reasons are derived from the data, never hardcoded, and colours are assigned deterministically. Merge related reasons in the group editor and every chart, streak and score re-aggregates instantly — proven live by uploading sample_new_categories.</a:t>
            </a: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045751" y="2018374"/>
            <a:ext cx="8070017" cy="4014971"/>
          </a:xfrm>
          <a:prstGeom prst="roundRect">
            <a:avLst>
              <a:gd name="adj" fmla="val 4369"/>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7681692"/>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95360" y="1280160"/>
            <a:ext cx="3931920" cy="393192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0" y="1828799"/>
            <a:ext cx="2834640" cy="28346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46920" y="2331720"/>
            <a:ext cx="1828800" cy="1828800"/>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46920" y="2560320"/>
            <a:ext cx="1828800" cy="1371600"/>
          </a:xfrm>
          <a:prstGeom prst="rect">
            <a:avLst/>
          </a:prstGeom>
          <a:noFill/>
        </p:spPr>
        <p:txBody>
          <a:bodyPr wrap="square" lIns="25400" tIns="25400" rIns="25400" bIns="25400" anchor="ctr">
            <a:spAutoFit/>
          </a:bodyPr>
          <a:lstStyle/>
          <a:p>
            <a:pPr algn="ctr">
              <a:spcBef>
                <a:spcPts val="0"/>
              </a:spcBef>
              <a:spcAft>
                <a:spcPts val="0"/>
              </a:spcAft>
              <a:buNone/>
            </a:pPr>
            <a:r>
              <a:rPr sz="6000" b="1">
                <a:solidFill>
                  <a:srgbClr val="38BDF8"/>
                </a:solidFill>
                <a:latin typeface="Calibri"/>
              </a:rPr>
              <a:t>II</a:t>
            </a:r>
          </a:p>
        </p:txBody>
      </p:sp>
      <p:sp>
        <p:nvSpPr>
          <p:cNvPr id="7" name="TextBox 6"/>
          <p:cNvSpPr txBox="1"/>
          <p:nvPr/>
        </p:nvSpPr>
        <p:spPr>
          <a:xfrm>
            <a:off x="822960" y="2148840"/>
            <a:ext cx="6583680" cy="365760"/>
          </a:xfrm>
          <a:prstGeom prst="rect">
            <a:avLst/>
          </a:prstGeom>
          <a:noFill/>
        </p:spPr>
        <p:txBody>
          <a:bodyPr wrap="square" lIns="25400" tIns="25400" rIns="25400" bIns="25400" anchor="t">
            <a:spAutoFit/>
          </a:bodyPr>
          <a:lstStyle/>
          <a:p>
            <a:pPr algn="l">
              <a:spcBef>
                <a:spcPts val="0"/>
              </a:spcBef>
              <a:spcAft>
                <a:spcPts val="0"/>
              </a:spcAft>
              <a:buNone/>
            </a:pPr>
            <a:r>
              <a:rPr sz="1400" b="1">
                <a:solidFill>
                  <a:srgbClr val="38BDF8"/>
                </a:solidFill>
                <a:latin typeface="Calibri"/>
              </a:rPr>
              <a:t>PART II</a:t>
            </a:r>
          </a:p>
        </p:txBody>
      </p:sp>
      <p:sp>
        <p:nvSpPr>
          <p:cNvPr id="8" name="TextBox 7"/>
          <p:cNvSpPr txBox="1"/>
          <p:nvPr/>
        </p:nvSpPr>
        <p:spPr>
          <a:xfrm>
            <a:off x="786384" y="2487168"/>
            <a:ext cx="6766560" cy="1554480"/>
          </a:xfrm>
          <a:prstGeom prst="rect">
            <a:avLst/>
          </a:prstGeom>
          <a:noFill/>
        </p:spPr>
        <p:txBody>
          <a:bodyPr wrap="square" lIns="25400" tIns="25400" rIns="25400" bIns="25400" anchor="t">
            <a:spAutoFit/>
          </a:bodyPr>
          <a:lstStyle/>
          <a:p>
            <a:pPr algn="l">
              <a:spcBef>
                <a:spcPts val="0"/>
              </a:spcBef>
              <a:spcAft>
                <a:spcPts val="0"/>
              </a:spcAft>
              <a:buNone/>
            </a:pPr>
            <a:r>
              <a:rPr sz="3800" b="1">
                <a:solidFill>
                  <a:srgbClr val="F8FAFC"/>
                </a:solidFill>
                <a:latin typeface="Calibri"/>
              </a:rPr>
              <a:t>Beyond</a:t>
            </a:r>
          </a:p>
          <a:p>
            <a:pPr algn="l">
              <a:spcBef>
                <a:spcPts val="0"/>
              </a:spcBef>
              <a:spcAft>
                <a:spcPts val="0"/>
              </a:spcAft>
              <a:buNone/>
            </a:pPr>
            <a:r>
              <a:rPr sz="3800" b="1">
                <a:solidFill>
                  <a:srgbClr val="F8FAFC"/>
                </a:solidFill>
                <a:latin typeface="Calibri"/>
              </a:rPr>
              <a:t>the brief</a:t>
            </a:r>
          </a:p>
        </p:txBody>
      </p:sp>
      <p:sp>
        <p:nvSpPr>
          <p:cNvPr id="9" name="Rectangle 8"/>
          <p:cNvSpPr/>
          <p:nvPr/>
        </p:nvSpPr>
        <p:spPr>
          <a:xfrm>
            <a:off x="822960" y="4023360"/>
            <a:ext cx="1371600" cy="640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343400"/>
            <a:ext cx="6675120" cy="1645920"/>
          </a:xfrm>
          <a:prstGeom prst="rect">
            <a:avLst/>
          </a:prstGeom>
          <a:noFill/>
        </p:spPr>
        <p:txBody>
          <a:bodyPr wrap="square" lIns="25400" tIns="25400" rIns="25400" bIns="25400" anchor="t">
            <a:spAutoFit/>
          </a:bodyPr>
          <a:lstStyle/>
          <a:p>
            <a:pPr algn="l">
              <a:spcBef>
                <a:spcPts val="300"/>
              </a:spcBef>
              <a:spcAft>
                <a:spcPts val="300"/>
              </a:spcAft>
              <a:buNone/>
            </a:pPr>
            <a:r>
              <a:rPr sz="1300" b="1">
                <a:solidFill>
                  <a:srgbClr val="38BDF8"/>
                </a:solidFill>
                <a:latin typeface="Calibri"/>
              </a:rPr>
              <a:t>—  </a:t>
            </a:r>
            <a:r>
              <a:rPr sz="1300" b="0">
                <a:solidFill>
                  <a:srgbClr val="94A3B8"/>
                </a:solidFill>
                <a:latin typeface="Calibri"/>
              </a:rPr>
              <a:t>Reliability KPIs — MTBF, MTTR, Availability</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Optional AI that structurally cannot fabricate</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Upload any format, export a filtered CSV</a:t>
            </a:r>
          </a:p>
        </p:txBody>
      </p:sp>
    </p:spTree>
    <p:extLst>
      <p:ext uri="{BB962C8B-B14F-4D97-AF65-F5344CB8AC3E}">
        <p14:creationId xmlns:p14="http://schemas.microsoft.com/office/powerpoint/2010/main" val="1720621332"/>
      </p:ext>
    </p:extLst>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12 · RELIABILITY KPIS</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BEYOND THE BRIEF</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Speak the maintenance team's language — no black boxes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12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63119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600200"/>
            <a:ext cx="11064240" cy="1371600"/>
          </a:xfrm>
          <a:prstGeom prst="roundRect">
            <a:avLst>
              <a:gd name="adj" fmla="val 6000"/>
            </a:avLst>
          </a:prstGeom>
          <a:solidFill>
            <a:srgbClr val="0F172A"/>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300"/>
              </a:spcAft>
              <a:buNone/>
            </a:pPr>
            <a:r>
              <a:rPr sz="1400" b="0" dirty="0">
                <a:solidFill>
                  <a:srgbClr val="F8FAFC"/>
                </a:solidFill>
                <a:latin typeface="Consolas"/>
              </a:rPr>
              <a:t>MTTR  =  downtime hours ÷ failure count            (mean time to repair)</a:t>
            </a:r>
          </a:p>
          <a:p>
            <a:pPr algn="l">
              <a:spcBef>
                <a:spcPts val="200"/>
              </a:spcBef>
              <a:spcAft>
                <a:spcPts val="300"/>
              </a:spcAft>
              <a:buNone/>
            </a:pPr>
            <a:r>
              <a:rPr sz="1400" b="0" dirty="0">
                <a:solidFill>
                  <a:srgbClr val="F8FAFC"/>
                </a:solidFill>
                <a:latin typeface="Consolas"/>
              </a:rPr>
              <a:t>MTBF  =  uptime  hours ÷ failure count            (mean time between failures)</a:t>
            </a:r>
          </a:p>
          <a:p>
            <a:pPr algn="l">
              <a:spcBef>
                <a:spcPts val="200"/>
              </a:spcBef>
              <a:spcAft>
                <a:spcPts val="200"/>
              </a:spcAft>
              <a:buNone/>
            </a:pPr>
            <a:r>
              <a:rPr sz="1400" b="0" dirty="0">
                <a:solidFill>
                  <a:srgbClr val="38BDF8"/>
                </a:solidFill>
                <a:latin typeface="Consolas"/>
              </a:rPr>
              <a:t>Availability  =  uptime ÷ total × 100  =  MTBF ÷ (MTBF + MTTR) × 100</a:t>
            </a:r>
          </a:p>
        </p:txBody>
      </p:sp>
      <p:sp>
        <p:nvSpPr>
          <p:cNvPr id="30" name="KPI Heading"/>
          <p:cNvSpPr txBox="1"/>
          <p:nvPr/>
        </p:nvSpPr>
        <p:spPr>
          <a:xfrm>
            <a:off x="571500" y="3175000"/>
            <a:ext cx="7620000" cy="304800"/>
          </a:xfrm>
          <a:prstGeom prst="rect">
            <a:avLst/>
          </a:prstGeom>
          <a:noFill/>
        </p:spPr>
        <p:txBody>
          <a:bodyPr wrap="square" lIns="0" tIns="0" rIns="0" bIns="0" anchor="t"/>
          <a:lstStyle/>
          <a:p>
            <a:pPr algn="l"/>
            <a:r>
              <a:rPr sz="1600" b="1" dirty="0">
                <a:solidFill>
                  <a:srgbClr val="0F172A"/>
                </a:solidFill>
                <a:latin typeface="Calibri"/>
              </a:rPr>
              <a:t>Reliability</a:t>
            </a:r>
          </a:p>
        </p:txBody>
      </p:sp>
      <p:sp>
        <p:nvSpPr>
          <p:cNvPr id="31" name="KPI Subtitle"/>
          <p:cNvSpPr txBox="1"/>
          <p:nvPr/>
        </p:nvSpPr>
        <p:spPr>
          <a:xfrm>
            <a:off x="571500" y="3479800"/>
            <a:ext cx="9652000" cy="254000"/>
          </a:xfrm>
          <a:prstGeom prst="rect">
            <a:avLst/>
          </a:prstGeom>
          <a:noFill/>
        </p:spPr>
        <p:txBody>
          <a:bodyPr wrap="square" lIns="0" tIns="0" rIns="0" bIns="0" anchor="t"/>
          <a:lstStyle/>
          <a:p>
            <a:pPr algn="l"/>
            <a:r>
              <a:rPr sz="1300" b="0" dirty="0">
                <a:solidFill>
                  <a:srgbClr val="64748B"/>
                </a:solidFill>
                <a:latin typeface="Calibri"/>
              </a:rPr>
              <a:t>Standard maintenance KPIs computed over unplanned failures</a:t>
            </a:r>
          </a:p>
        </p:txBody>
      </p:sp>
      <p:sp>
        <p:nvSpPr>
          <p:cNvPr id="32" name="KPI Card MTBF"/>
          <p:cNvSpPr/>
          <p:nvPr/>
        </p:nvSpPr>
        <p:spPr>
          <a:xfrm>
            <a:off x="571500" y="3810000"/>
            <a:ext cx="2590800" cy="2222500"/>
          </a:xfrm>
          <a:prstGeom prst="roundRect">
            <a:avLst>
              <a:gd name="adj" fmla="val 6000"/>
            </a:avLst>
          </a:prstGeom>
          <a:solidFill>
            <a:srgbClr val="EEF0FE"/>
          </a:solidFill>
          <a:ln>
            <a:noFill/>
          </a:ln>
        </p:spPr>
        <p:txBody>
          <a:bodyPr wrap="square" lIns="228600" tIns="254000" rIns="177800" bIns="177800" anchor="t"/>
          <a:lstStyle/>
          <a:p>
            <a:pPr algn="l"/>
            <a:r>
              <a:rPr sz="3200" b="1" dirty="0">
                <a:solidFill>
                  <a:srgbClr val="6366F1"/>
                </a:solidFill>
                <a:latin typeface="Calibri"/>
              </a:rPr>
              <a:t>7.38 h</a:t>
            </a:r>
          </a:p>
          <a:p>
            <a:pPr algn="l">
              <a:spcBef>
                <a:spcPts val="700"/>
              </a:spcBef>
            </a:pPr>
            <a:r>
              <a:rPr sz="1500" b="1" dirty="0">
                <a:solidFill>
                  <a:srgbClr val="0F172A"/>
                </a:solidFill>
                <a:latin typeface="Calibri"/>
              </a:rPr>
              <a:t>MTBF</a:t>
            </a:r>
          </a:p>
          <a:p>
            <a:pPr algn="l">
              <a:spcBef>
                <a:spcPts val="200"/>
              </a:spcBef>
            </a:pPr>
            <a:r>
              <a:rPr sz="1300" b="0" dirty="0">
                <a:solidFill>
                  <a:srgbClr val="64748B"/>
                </a:solidFill>
                <a:latin typeface="Calibri"/>
              </a:rPr>
              <a:t>Mean Time Between Failures</a:t>
            </a:r>
          </a:p>
        </p:txBody>
      </p:sp>
      <p:sp>
        <p:nvSpPr>
          <p:cNvPr id="33" name="KPI Card MTTR"/>
          <p:cNvSpPr/>
          <p:nvPr/>
        </p:nvSpPr>
        <p:spPr>
          <a:xfrm>
            <a:off x="3390900" y="3810000"/>
            <a:ext cx="2590800" cy="2222500"/>
          </a:xfrm>
          <a:prstGeom prst="roundRect">
            <a:avLst>
              <a:gd name="adj" fmla="val 6000"/>
            </a:avLst>
          </a:prstGeom>
          <a:solidFill>
            <a:srgbClr val="FEF3E2"/>
          </a:solidFill>
          <a:ln>
            <a:noFill/>
          </a:ln>
        </p:spPr>
        <p:txBody>
          <a:bodyPr wrap="square" lIns="228600" tIns="254000" rIns="177800" bIns="177800" anchor="t"/>
          <a:lstStyle/>
          <a:p>
            <a:pPr algn="l"/>
            <a:r>
              <a:rPr sz="3200" b="1" dirty="0">
                <a:solidFill>
                  <a:srgbClr val="D97706"/>
                </a:solidFill>
                <a:latin typeface="Calibri"/>
              </a:rPr>
              <a:t>2.77 h</a:t>
            </a:r>
          </a:p>
          <a:p>
            <a:pPr algn="l">
              <a:spcBef>
                <a:spcPts val="700"/>
              </a:spcBef>
            </a:pPr>
            <a:r>
              <a:rPr sz="1500" b="1" dirty="0">
                <a:solidFill>
                  <a:srgbClr val="0F172A"/>
                </a:solidFill>
                <a:latin typeface="Calibri"/>
              </a:rPr>
              <a:t>MTTR</a:t>
            </a:r>
          </a:p>
          <a:p>
            <a:pPr algn="l">
              <a:spcBef>
                <a:spcPts val="200"/>
              </a:spcBef>
            </a:pPr>
            <a:r>
              <a:rPr sz="1300" b="0" dirty="0">
                <a:solidFill>
                  <a:srgbClr val="64748B"/>
                </a:solidFill>
                <a:latin typeface="Calibri"/>
              </a:rPr>
              <a:t>Mean Time To Repair</a:t>
            </a:r>
          </a:p>
        </p:txBody>
      </p:sp>
      <p:sp>
        <p:nvSpPr>
          <p:cNvPr id="34" name="KPI Card Availability"/>
          <p:cNvSpPr/>
          <p:nvPr/>
        </p:nvSpPr>
        <p:spPr>
          <a:xfrm>
            <a:off x="6210300" y="3810000"/>
            <a:ext cx="2590800" cy="2222500"/>
          </a:xfrm>
          <a:prstGeom prst="roundRect">
            <a:avLst>
              <a:gd name="adj" fmla="val 6000"/>
            </a:avLst>
          </a:prstGeom>
          <a:solidFill>
            <a:srgbClr val="E7F6FE"/>
          </a:solidFill>
          <a:ln>
            <a:noFill/>
          </a:ln>
        </p:spPr>
        <p:txBody>
          <a:bodyPr wrap="square" lIns="228600" tIns="254000" rIns="177800" bIns="177800" anchor="t"/>
          <a:lstStyle/>
          <a:p>
            <a:pPr algn="l"/>
            <a:r>
              <a:rPr sz="3200" b="1" dirty="0">
                <a:solidFill>
                  <a:srgbClr val="0284C7"/>
                </a:solidFill>
                <a:latin typeface="Calibri"/>
              </a:rPr>
              <a:t>72.7%</a:t>
            </a:r>
          </a:p>
          <a:p>
            <a:pPr algn="l">
              <a:spcBef>
                <a:spcPts val="700"/>
              </a:spcBef>
            </a:pPr>
            <a:r>
              <a:rPr sz="1500" b="1" dirty="0">
                <a:solidFill>
                  <a:srgbClr val="0F172A"/>
                </a:solidFill>
                <a:latin typeface="Calibri"/>
              </a:rPr>
              <a:t>Availability</a:t>
            </a:r>
          </a:p>
          <a:p>
            <a:pPr algn="l">
              <a:spcBef>
                <a:spcPts val="200"/>
              </a:spcBef>
            </a:pPr>
            <a:r>
              <a:rPr sz="1300" b="0" dirty="0">
                <a:solidFill>
                  <a:srgbClr val="64748B"/>
                </a:solidFill>
                <a:latin typeface="Calibri"/>
              </a:rPr>
              <a:t>Uptime Share</a:t>
            </a:r>
          </a:p>
        </p:txBody>
      </p:sp>
      <p:sp>
        <p:nvSpPr>
          <p:cNvPr id="35" name="KPI Card Failures"/>
          <p:cNvSpPr/>
          <p:nvPr/>
        </p:nvSpPr>
        <p:spPr>
          <a:xfrm>
            <a:off x="9029700" y="3810000"/>
            <a:ext cx="2590800" cy="2222500"/>
          </a:xfrm>
          <a:prstGeom prst="roundRect">
            <a:avLst>
              <a:gd name="adj" fmla="val 6000"/>
            </a:avLst>
          </a:prstGeom>
          <a:solidFill>
            <a:srgbClr val="FCEBF3"/>
          </a:solidFill>
          <a:ln>
            <a:noFill/>
          </a:ln>
        </p:spPr>
        <p:txBody>
          <a:bodyPr wrap="square" lIns="228600" tIns="254000" rIns="177800" bIns="177800" anchor="t"/>
          <a:lstStyle/>
          <a:p>
            <a:pPr algn="l"/>
            <a:r>
              <a:rPr sz="3200" b="1" dirty="0">
                <a:solidFill>
                  <a:srgbClr val="DB2777"/>
                </a:solidFill>
                <a:latin typeface="Calibri"/>
              </a:rPr>
              <a:t>14</a:t>
            </a:r>
          </a:p>
          <a:p>
            <a:pPr algn="l">
              <a:spcBef>
                <a:spcPts val="700"/>
              </a:spcBef>
            </a:pPr>
            <a:r>
              <a:rPr sz="1500" b="1" dirty="0">
                <a:solidFill>
                  <a:srgbClr val="0F172A"/>
                </a:solidFill>
                <a:latin typeface="Calibri"/>
              </a:rPr>
              <a:t>Failures</a:t>
            </a:r>
          </a:p>
          <a:p>
            <a:pPr algn="l">
              <a:spcBef>
                <a:spcPts val="200"/>
              </a:spcBef>
            </a:pPr>
            <a:r>
              <a:rPr sz="1300" b="0" dirty="0">
                <a:solidFill>
                  <a:srgbClr val="64748B"/>
                </a:solidFill>
                <a:latin typeface="Calibri"/>
              </a:rPr>
              <a:t>38.8 h Downtime</a:t>
            </a:r>
          </a:p>
        </p:txBody>
      </p:sp>
    </p:spTree>
    <p:extLst>
      <p:ext uri="{BB962C8B-B14F-4D97-AF65-F5344CB8AC3E}">
        <p14:creationId xmlns:p14="http://schemas.microsoft.com/office/powerpoint/2010/main" val="363988176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13 · AI FEATURES</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BEYOND THE BRIEF</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Useful — and boxed in so they can't fabricate data</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13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68453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ard 40"/>
          <p:cNvSpPr/>
          <p:nvPr/>
        </p:nvSpPr>
        <p:spPr>
          <a:xfrm>
            <a:off x="571500" y="1554480"/>
            <a:ext cx="5435600" cy="4533900"/>
          </a:xfrm>
          <a:prstGeom prst="roundRect">
            <a:avLst>
              <a:gd name="adj" fmla="val 4000"/>
            </a:avLst>
          </a:prstGeom>
          <a:solidFill>
            <a:srgbClr val="FFFFFF"/>
          </a:solidFill>
          <a:ln w="12700">
            <a:solidFill>
              <a:srgbClr val="E2E8F0"/>
            </a:solidFill>
          </a:ln>
        </p:spPr>
        <p:txBody>
          <a:bodyPr/>
          <a:lstStyle/>
          <a:p>
            <a:endParaRPr dirty="0"/>
          </a:p>
        </p:txBody>
      </p:sp>
      <p:sp>
        <p:nvSpPr>
          <p:cNvPr id="42" name="Heading 40"/>
          <p:cNvSpPr txBox="1"/>
          <p:nvPr/>
        </p:nvSpPr>
        <p:spPr>
          <a:xfrm>
            <a:off x="952500" y="2895600"/>
            <a:ext cx="4673600" cy="381000"/>
          </a:xfrm>
          <a:prstGeom prst="rect">
            <a:avLst/>
          </a:prstGeom>
          <a:noFill/>
        </p:spPr>
        <p:txBody>
          <a:bodyPr wrap="square" lIns="0" tIns="0" rIns="0" bIns="0" anchor="t"/>
          <a:lstStyle/>
          <a:p>
            <a:pPr algn="l"/>
            <a:r>
              <a:rPr sz="1900" b="1" dirty="0">
                <a:solidFill>
                  <a:srgbClr val="0F172A"/>
                </a:solidFill>
                <a:latin typeface="Calibri"/>
              </a:rPr>
              <a:t>Suggest grouping</a:t>
            </a:r>
          </a:p>
        </p:txBody>
      </p:sp>
      <p:sp>
        <p:nvSpPr>
          <p:cNvPr id="43" name="Desc 40"/>
          <p:cNvSpPr txBox="1"/>
          <p:nvPr/>
        </p:nvSpPr>
        <p:spPr>
          <a:xfrm>
            <a:off x="952500" y="3327400"/>
            <a:ext cx="4724400" cy="762000"/>
          </a:xfrm>
          <a:prstGeom prst="rect">
            <a:avLst/>
          </a:prstGeom>
          <a:noFill/>
        </p:spPr>
        <p:txBody>
          <a:bodyPr wrap="square" lIns="0" tIns="0" rIns="0" bIns="0" anchor="t"/>
          <a:lstStyle/>
          <a:p>
            <a:pPr algn="l"/>
            <a:r>
              <a:rPr sz="1400" b="0" dirty="0">
                <a:solidFill>
                  <a:srgbClr val="334155"/>
                </a:solidFill>
                <a:latin typeface="Calibri"/>
              </a:rPr>
              <a:t>An LLM proposes reason groups, merging synonyms, typos and casing variants.</a:t>
            </a:r>
          </a:p>
        </p:txBody>
      </p:sp>
      <p:sp>
        <p:nvSpPr>
          <p:cNvPr id="44" name="Guardrail 40"/>
          <p:cNvSpPr/>
          <p:nvPr/>
        </p:nvSpPr>
        <p:spPr>
          <a:xfrm>
            <a:off x="901700" y="4263390"/>
            <a:ext cx="4826000" cy="1651000"/>
          </a:xfrm>
          <a:prstGeom prst="roundRect">
            <a:avLst>
              <a:gd name="adj" fmla="val 6000"/>
            </a:avLst>
          </a:prstGeom>
          <a:solidFill>
            <a:srgbClr val="E9FBF3"/>
          </a:solidFill>
          <a:ln w="12700">
            <a:solidFill>
              <a:srgbClr val="C7EED9"/>
            </a:solidFill>
          </a:ln>
        </p:spPr>
        <p:txBody>
          <a:bodyPr wrap="square" lIns="203200" tIns="584200" rIns="203200" bIns="152400" anchor="t"/>
          <a:lstStyle/>
          <a:p>
            <a:pPr algn="l"/>
            <a:r>
              <a:rPr sz="1250" b="0" dirty="0">
                <a:solidFill>
                  <a:srgbClr val="334155"/>
                </a:solidFill>
                <a:latin typeface="Calibri"/>
              </a:rPr>
              <a:t>Output is validated against the real reason list — hallucinated reasons are dropped; nothing persists until you approve.</a:t>
            </a:r>
          </a:p>
        </p:txBody>
      </p:sp>
      <p:sp>
        <p:nvSpPr>
          <p:cNvPr id="50" name="Card 50"/>
          <p:cNvSpPr/>
          <p:nvPr/>
        </p:nvSpPr>
        <p:spPr>
          <a:xfrm>
            <a:off x="6184900" y="1600200"/>
            <a:ext cx="5435600" cy="4533900"/>
          </a:xfrm>
          <a:prstGeom prst="roundRect">
            <a:avLst>
              <a:gd name="adj" fmla="val 4000"/>
            </a:avLst>
          </a:prstGeom>
          <a:solidFill>
            <a:srgbClr val="FFFFFF"/>
          </a:solidFill>
          <a:ln w="12700">
            <a:solidFill>
              <a:srgbClr val="E2E8F0"/>
            </a:solidFill>
          </a:ln>
        </p:spPr>
        <p:txBody>
          <a:bodyPr/>
          <a:lstStyle/>
          <a:p>
            <a:endParaRPr/>
          </a:p>
        </p:txBody>
      </p:sp>
      <p:sp>
        <p:nvSpPr>
          <p:cNvPr id="52" name="Heading 50"/>
          <p:cNvSpPr txBox="1"/>
          <p:nvPr/>
        </p:nvSpPr>
        <p:spPr>
          <a:xfrm>
            <a:off x="6565900" y="2895600"/>
            <a:ext cx="4673600" cy="381000"/>
          </a:xfrm>
          <a:prstGeom prst="rect">
            <a:avLst/>
          </a:prstGeom>
          <a:noFill/>
        </p:spPr>
        <p:txBody>
          <a:bodyPr wrap="square" lIns="0" tIns="0" rIns="0" bIns="0" anchor="t"/>
          <a:lstStyle/>
          <a:p>
            <a:pPr algn="l"/>
            <a:r>
              <a:rPr sz="1900" b="1" dirty="0">
                <a:solidFill>
                  <a:srgbClr val="0F172A"/>
                </a:solidFill>
                <a:latin typeface="Calibri"/>
              </a:rPr>
              <a:t>Executive summary</a:t>
            </a:r>
          </a:p>
        </p:txBody>
      </p:sp>
      <p:sp>
        <p:nvSpPr>
          <p:cNvPr id="53" name="Desc 50"/>
          <p:cNvSpPr txBox="1"/>
          <p:nvPr/>
        </p:nvSpPr>
        <p:spPr>
          <a:xfrm>
            <a:off x="6565900" y="3327400"/>
            <a:ext cx="4724400" cy="762000"/>
          </a:xfrm>
          <a:prstGeom prst="rect">
            <a:avLst/>
          </a:prstGeom>
          <a:noFill/>
        </p:spPr>
        <p:txBody>
          <a:bodyPr wrap="square" lIns="0" tIns="0" rIns="0" bIns="0" anchor="t"/>
          <a:lstStyle/>
          <a:p>
            <a:pPr algn="l"/>
            <a:r>
              <a:rPr sz="1400" b="0" dirty="0">
                <a:solidFill>
                  <a:srgbClr val="334155"/>
                </a:solidFill>
                <a:latin typeface="Calibri"/>
              </a:rPr>
              <a:t>A plain-language briefing of the current filtered view for leadership.</a:t>
            </a:r>
          </a:p>
        </p:txBody>
      </p:sp>
      <p:sp>
        <p:nvSpPr>
          <p:cNvPr id="54" name="Guardrail 50"/>
          <p:cNvSpPr/>
          <p:nvPr/>
        </p:nvSpPr>
        <p:spPr>
          <a:xfrm>
            <a:off x="6554927" y="4263390"/>
            <a:ext cx="4826000" cy="1651000"/>
          </a:xfrm>
          <a:prstGeom prst="roundRect">
            <a:avLst>
              <a:gd name="adj" fmla="val 6000"/>
            </a:avLst>
          </a:prstGeom>
          <a:solidFill>
            <a:srgbClr val="E9FBF3"/>
          </a:solidFill>
          <a:ln w="12700">
            <a:solidFill>
              <a:srgbClr val="C7EED9"/>
            </a:solidFill>
          </a:ln>
        </p:spPr>
        <p:txBody>
          <a:bodyPr wrap="square" lIns="203200" tIns="584200" rIns="203200" bIns="152400" anchor="t"/>
          <a:lstStyle/>
          <a:p>
            <a:pPr algn="l"/>
            <a:r>
              <a:rPr sz="1250" b="0" dirty="0">
                <a:solidFill>
                  <a:srgbClr val="334155"/>
                </a:solidFill>
                <a:latin typeface="Calibri"/>
              </a:rPr>
              <a:t>The model only sees numbers computed server-side — never raw rows — so it cannot invent figures.</a:t>
            </a:r>
          </a:p>
        </p:txBody>
      </p:sp>
      <p:grpSp>
        <p:nvGrpSpPr>
          <p:cNvPr id="14" name="Group 13">
            <a:extLst>
              <a:ext uri="{FF2B5EF4-FFF2-40B4-BE49-F238E27FC236}">
                <a16:creationId xmlns:a16="http://schemas.microsoft.com/office/drawing/2014/main" id="{64EB1293-2037-8B85-4E21-25D0B405EBC5}"/>
              </a:ext>
            </a:extLst>
          </p:cNvPr>
          <p:cNvGrpSpPr/>
          <p:nvPr/>
        </p:nvGrpSpPr>
        <p:grpSpPr>
          <a:xfrm>
            <a:off x="894080" y="1966977"/>
            <a:ext cx="736600" cy="736600"/>
            <a:chOff x="1054100" y="1955800"/>
            <a:chExt cx="736600" cy="736600"/>
          </a:xfrm>
        </p:grpSpPr>
        <p:sp>
          <p:nvSpPr>
            <p:cNvPr id="41" name="IconCircle 40"/>
            <p:cNvSpPr/>
            <p:nvPr/>
          </p:nvSpPr>
          <p:spPr>
            <a:xfrm>
              <a:off x="1054100" y="1955800"/>
              <a:ext cx="736600" cy="736600"/>
            </a:xfrm>
            <a:prstGeom prst="ellipse">
              <a:avLst/>
            </a:prstGeom>
            <a:solidFill>
              <a:srgbClr val="0284C7"/>
            </a:solidFill>
            <a:ln>
              <a:noFill/>
            </a:ln>
          </p:spPr>
          <p:txBody>
            <a:bodyPr/>
            <a:lstStyle/>
            <a:p>
              <a:endParaRPr dirty="0"/>
            </a:p>
          </p:txBody>
        </p:sp>
        <p:pic>
          <p:nvPicPr>
            <p:cNvPr id="56" name="Graphic 56" descr="AI sugges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520" y="2146300"/>
              <a:ext cx="355600" cy="355600"/>
            </a:xfrm>
            <a:prstGeom prst="rect">
              <a:avLst/>
            </a:prstGeom>
          </p:spPr>
        </p:pic>
      </p:grpSp>
      <p:grpSp>
        <p:nvGrpSpPr>
          <p:cNvPr id="13" name="Group 12">
            <a:extLst>
              <a:ext uri="{FF2B5EF4-FFF2-40B4-BE49-F238E27FC236}">
                <a16:creationId xmlns:a16="http://schemas.microsoft.com/office/drawing/2014/main" id="{7510FB70-3EF9-0F05-E28F-BF0131114565}"/>
              </a:ext>
            </a:extLst>
          </p:cNvPr>
          <p:cNvGrpSpPr/>
          <p:nvPr/>
        </p:nvGrpSpPr>
        <p:grpSpPr>
          <a:xfrm>
            <a:off x="6428739" y="1993900"/>
            <a:ext cx="736600" cy="736600"/>
            <a:chOff x="7586979" y="1910588"/>
            <a:chExt cx="736600" cy="736600"/>
          </a:xfrm>
        </p:grpSpPr>
        <p:sp>
          <p:nvSpPr>
            <p:cNvPr id="51" name="IconCircle 50"/>
            <p:cNvSpPr/>
            <p:nvPr/>
          </p:nvSpPr>
          <p:spPr>
            <a:xfrm>
              <a:off x="7586979" y="1910588"/>
              <a:ext cx="736600" cy="736600"/>
            </a:xfrm>
            <a:prstGeom prst="ellipse">
              <a:avLst/>
            </a:prstGeom>
            <a:solidFill>
              <a:srgbClr val="4F46E5"/>
            </a:solidFill>
            <a:ln>
              <a:noFill/>
            </a:ln>
          </p:spPr>
          <p:txBody>
            <a:bodyPr/>
            <a:lstStyle/>
            <a:p>
              <a:endParaRPr/>
            </a:p>
          </p:txBody>
        </p:sp>
        <p:pic>
          <p:nvPicPr>
            <p:cNvPr id="57" name="Graphic 57" descr="Summary documen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7479" y="2084833"/>
              <a:ext cx="355600" cy="355600"/>
            </a:xfrm>
            <a:prstGeom prst="rect">
              <a:avLst/>
            </a:prstGeom>
          </p:spPr>
        </p:pic>
      </p:grpSp>
    </p:spTree>
    <p:extLst>
      <p:ext uri="{BB962C8B-B14F-4D97-AF65-F5344CB8AC3E}">
        <p14:creationId xmlns:p14="http://schemas.microsoft.com/office/powerpoint/2010/main" val="179189178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14 · UPLOAD &amp; EXPORT</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BEYOND THE BRIEF</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436017"/>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Any dataset in — CSV, TSV, Excel or JSON — filtered CSV out</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14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73660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463040"/>
            <a:ext cx="11064240" cy="482183"/>
          </a:xfrm>
          <a:prstGeom prst="rect">
            <a:avLst/>
          </a:prstGeom>
          <a:noFill/>
        </p:spPr>
        <p:txBody>
          <a:bodyPr wrap="square" lIns="25400" tIns="25400" rIns="25400" bIns="25400" anchor="t">
            <a:spAutoFit/>
          </a:bodyPr>
          <a:lstStyle/>
          <a:p>
            <a:pPr algn="l">
              <a:spcBef>
                <a:spcPts val="200"/>
              </a:spcBef>
              <a:spcAft>
                <a:spcPts val="200"/>
              </a:spcAft>
              <a:buNone/>
            </a:pPr>
            <a:r>
              <a:rPr sz="1400" b="0">
                <a:solidFill>
                  <a:srgbClr val="0F172A"/>
                </a:solidFill>
                <a:latin typeface="Calibri"/>
              </a:rPr>
              <a:t>The loader is format-agnostic and re-runs the full cleaning pipeline on every upload, so a brand-new dataset gets the same treatment as the bundled one. The export honours the active filters: what you see is exactly what you download.</a:t>
            </a:r>
          </a:p>
        </p:txBody>
      </p:sp>
      <p:sp>
        <p:nvSpPr>
          <p:cNvPr id="60" name="Product Frame"/>
          <p:cNvSpPr/>
          <p:nvPr/>
        </p:nvSpPr>
        <p:spPr>
          <a:xfrm>
            <a:off x="1905000" y="2286000"/>
            <a:ext cx="8686800" cy="2286000"/>
          </a:xfrm>
          <a:prstGeom prst="roundRect">
            <a:avLst>
              <a:gd name="adj" fmla="val 4000"/>
            </a:avLst>
          </a:prstGeom>
          <a:solidFill>
            <a:srgbClr val="F1F5F9"/>
          </a:solidFill>
          <a:ln w="12700">
            <a:solidFill>
              <a:srgbClr val="E2E8F0"/>
            </a:solidFill>
          </a:ln>
        </p:spPr>
        <p:txBody>
          <a:bodyPr/>
          <a:lstStyle/>
          <a:p>
            <a:endParaRPr/>
          </a:p>
        </p:txBody>
      </p:sp>
      <p:pic>
        <p:nvPicPr>
          <p:cNvPr id="14" name="Picture 13">
            <a:extLst>
              <a:ext uri="{FF2B5EF4-FFF2-40B4-BE49-F238E27FC236}">
                <a16:creationId xmlns:a16="http://schemas.microsoft.com/office/drawing/2014/main" id="{7DFE6E18-8BDE-2861-F29E-B52EDC7EDA24}"/>
              </a:ext>
            </a:extLst>
          </p:cNvPr>
          <p:cNvPicPr>
            <a:picLocks noChangeAspect="1"/>
          </p:cNvPicPr>
          <p:nvPr/>
        </p:nvPicPr>
        <p:blipFill>
          <a:blip r:embed="rId3"/>
          <a:srcRect/>
          <a:stretch/>
        </p:blipFill>
        <p:spPr>
          <a:xfrm>
            <a:off x="2184400" y="2438278"/>
            <a:ext cx="8128000" cy="822605"/>
          </a:xfrm>
          <a:prstGeom prst="roundRect">
            <a:avLst>
              <a:gd name="adj" fmla="val 16667"/>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5C2DEAF0-2DC4-3802-710C-A735E1B400D8}"/>
              </a:ext>
            </a:extLst>
          </p:cNvPr>
          <p:cNvPicPr>
            <a:picLocks noChangeAspect="1"/>
          </p:cNvPicPr>
          <p:nvPr/>
        </p:nvPicPr>
        <p:blipFill>
          <a:blip r:embed="rId4"/>
          <a:stretch>
            <a:fillRect/>
          </a:stretch>
        </p:blipFill>
        <p:spPr>
          <a:xfrm>
            <a:off x="2184400" y="3725133"/>
            <a:ext cx="8128000" cy="662997"/>
          </a:xfrm>
          <a:prstGeom prst="roundRect">
            <a:avLst/>
          </a:prstGeom>
          <a:ln>
            <a:noFill/>
          </a:ln>
          <a:effectLst>
            <a:outerShdw blurRad="292100" dist="139700" dir="2700000" algn="tl" rotWithShape="0">
              <a:srgbClr val="333333">
                <a:alpha val="65000"/>
              </a:srgbClr>
            </a:outerShdw>
          </a:effectLst>
        </p:spPr>
      </p:pic>
      <p:sp>
        <p:nvSpPr>
          <p:cNvPr id="61" name="Step Upload"/>
          <p:cNvSpPr/>
          <p:nvPr/>
        </p:nvSpPr>
        <p:spPr>
          <a:xfrm>
            <a:off x="571500" y="4953000"/>
            <a:ext cx="3378200" cy="1168400"/>
          </a:xfrm>
          <a:prstGeom prst="roundRect">
            <a:avLst>
              <a:gd name="adj" fmla="val 8000"/>
            </a:avLst>
          </a:prstGeom>
          <a:solidFill>
            <a:srgbClr val="FFFFFF"/>
          </a:solidFill>
          <a:ln w="12700">
            <a:solidFill>
              <a:srgbClr val="E2E8F0"/>
            </a:solidFill>
          </a:ln>
        </p:spPr>
        <p:txBody>
          <a:bodyPr wrap="square" lIns="939800" tIns="152400" rIns="152400" bIns="127000" anchor="ctr"/>
          <a:lstStyle/>
          <a:p>
            <a:pPr algn="l"/>
            <a:r>
              <a:rPr sz="1600" b="1" dirty="0">
                <a:solidFill>
                  <a:srgbClr val="0F172A"/>
                </a:solidFill>
                <a:latin typeface="Calibri"/>
              </a:rPr>
              <a:t>Upload</a:t>
            </a:r>
          </a:p>
          <a:p>
            <a:pPr algn="l">
              <a:spcBef>
                <a:spcPts val="200"/>
              </a:spcBef>
            </a:pPr>
            <a:r>
              <a:rPr sz="1200" b="0" dirty="0">
                <a:solidFill>
                  <a:srgbClr val="475569"/>
                </a:solidFill>
                <a:latin typeface="Calibri"/>
              </a:rPr>
              <a:t>CSV · TSV · Excel · JSON</a:t>
            </a:r>
          </a:p>
        </p:txBody>
      </p:sp>
      <p:sp>
        <p:nvSpPr>
          <p:cNvPr id="62" name="StepCircle Upload"/>
          <p:cNvSpPr/>
          <p:nvPr/>
        </p:nvSpPr>
        <p:spPr>
          <a:xfrm>
            <a:off x="774700" y="5245100"/>
            <a:ext cx="584200" cy="584200"/>
          </a:xfrm>
          <a:prstGeom prst="ellipse">
            <a:avLst/>
          </a:prstGeom>
          <a:solidFill>
            <a:srgbClr val="0284C7"/>
          </a:solidFill>
          <a:ln>
            <a:noFill/>
          </a:ln>
        </p:spPr>
        <p:txBody>
          <a:bodyPr/>
          <a:lstStyle/>
          <a:p>
            <a:endParaRPr/>
          </a:p>
        </p:txBody>
      </p:sp>
      <p:sp>
        <p:nvSpPr>
          <p:cNvPr id="64" name="Step Clean"/>
          <p:cNvSpPr/>
          <p:nvPr/>
        </p:nvSpPr>
        <p:spPr>
          <a:xfrm>
            <a:off x="4406900" y="4953000"/>
            <a:ext cx="3378200" cy="1168400"/>
          </a:xfrm>
          <a:prstGeom prst="roundRect">
            <a:avLst>
              <a:gd name="adj" fmla="val 8000"/>
            </a:avLst>
          </a:prstGeom>
          <a:solidFill>
            <a:srgbClr val="FFFFFF"/>
          </a:solidFill>
          <a:ln w="12700">
            <a:solidFill>
              <a:srgbClr val="E2E8F0"/>
            </a:solidFill>
          </a:ln>
        </p:spPr>
        <p:txBody>
          <a:bodyPr wrap="square" lIns="939800" tIns="152400" rIns="152400" bIns="127000" anchor="ctr"/>
          <a:lstStyle/>
          <a:p>
            <a:pPr algn="l"/>
            <a:r>
              <a:rPr sz="1600" b="1" dirty="0">
                <a:solidFill>
                  <a:srgbClr val="0F172A"/>
                </a:solidFill>
                <a:latin typeface="Calibri"/>
              </a:rPr>
              <a:t>Clean</a:t>
            </a:r>
          </a:p>
          <a:p>
            <a:pPr algn="l">
              <a:spcBef>
                <a:spcPts val="200"/>
              </a:spcBef>
            </a:pPr>
            <a:r>
              <a:rPr sz="1200" b="0" dirty="0">
                <a:solidFill>
                  <a:srgbClr val="475569"/>
                </a:solidFill>
                <a:latin typeface="Calibri"/>
              </a:rPr>
              <a:t>Full pipeline re-runs on every upload</a:t>
            </a:r>
          </a:p>
        </p:txBody>
      </p:sp>
      <p:sp>
        <p:nvSpPr>
          <p:cNvPr id="65" name="StepCircle Clean"/>
          <p:cNvSpPr/>
          <p:nvPr/>
        </p:nvSpPr>
        <p:spPr>
          <a:xfrm>
            <a:off x="4610100" y="5245100"/>
            <a:ext cx="584200" cy="584200"/>
          </a:xfrm>
          <a:prstGeom prst="ellipse">
            <a:avLst/>
          </a:prstGeom>
          <a:solidFill>
            <a:srgbClr val="4F46E5"/>
          </a:solidFill>
          <a:ln>
            <a:noFill/>
          </a:ln>
        </p:spPr>
        <p:txBody>
          <a:bodyPr/>
          <a:lstStyle/>
          <a:p>
            <a:endParaRPr/>
          </a:p>
        </p:txBody>
      </p:sp>
      <p:sp>
        <p:nvSpPr>
          <p:cNvPr id="67" name="Step Export"/>
          <p:cNvSpPr/>
          <p:nvPr/>
        </p:nvSpPr>
        <p:spPr>
          <a:xfrm>
            <a:off x="8242300" y="4953000"/>
            <a:ext cx="3378200" cy="1168400"/>
          </a:xfrm>
          <a:prstGeom prst="roundRect">
            <a:avLst>
              <a:gd name="adj" fmla="val 8000"/>
            </a:avLst>
          </a:prstGeom>
          <a:solidFill>
            <a:srgbClr val="FFFFFF"/>
          </a:solidFill>
          <a:ln w="12700">
            <a:solidFill>
              <a:srgbClr val="E2E8F0"/>
            </a:solidFill>
          </a:ln>
        </p:spPr>
        <p:txBody>
          <a:bodyPr wrap="square" lIns="939800" tIns="152400" rIns="152400" bIns="127000" anchor="ctr"/>
          <a:lstStyle/>
          <a:p>
            <a:pPr algn="l"/>
            <a:r>
              <a:rPr sz="1600" b="1" dirty="0">
                <a:solidFill>
                  <a:srgbClr val="0F172A"/>
                </a:solidFill>
                <a:latin typeface="Calibri"/>
              </a:rPr>
              <a:t>Export</a:t>
            </a:r>
          </a:p>
          <a:p>
            <a:pPr algn="l">
              <a:spcBef>
                <a:spcPts val="200"/>
              </a:spcBef>
            </a:pPr>
            <a:r>
              <a:rPr sz="1200" b="0" dirty="0">
                <a:solidFill>
                  <a:srgbClr val="475569"/>
                </a:solidFill>
                <a:latin typeface="Calibri"/>
              </a:rPr>
              <a:t>Filtered CSV — exactly what you see</a:t>
            </a:r>
          </a:p>
        </p:txBody>
      </p:sp>
      <p:sp>
        <p:nvSpPr>
          <p:cNvPr id="68" name="StepCircle Export"/>
          <p:cNvSpPr/>
          <p:nvPr/>
        </p:nvSpPr>
        <p:spPr>
          <a:xfrm>
            <a:off x="8445500" y="5245100"/>
            <a:ext cx="584200" cy="584200"/>
          </a:xfrm>
          <a:prstGeom prst="ellipse">
            <a:avLst/>
          </a:prstGeom>
          <a:solidFill>
            <a:srgbClr val="059669"/>
          </a:solidFill>
          <a:ln>
            <a:noFill/>
          </a:ln>
        </p:spPr>
        <p:txBody>
          <a:bodyPr/>
          <a:lstStyle/>
          <a:p>
            <a:endParaRPr/>
          </a:p>
        </p:txBody>
      </p:sp>
      <p:sp>
        <p:nvSpPr>
          <p:cNvPr id="70" name="Arrow 0"/>
          <p:cNvSpPr/>
          <p:nvPr/>
        </p:nvSpPr>
        <p:spPr>
          <a:xfrm>
            <a:off x="4000500" y="5422900"/>
            <a:ext cx="330200" cy="228600"/>
          </a:xfrm>
          <a:prstGeom prst="rightArrow">
            <a:avLst/>
          </a:prstGeom>
          <a:solidFill>
            <a:srgbClr val="94A3B8"/>
          </a:solidFill>
          <a:ln>
            <a:noFill/>
          </a:ln>
        </p:spPr>
        <p:txBody>
          <a:bodyPr/>
          <a:lstStyle/>
          <a:p>
            <a:endParaRPr/>
          </a:p>
        </p:txBody>
      </p:sp>
      <p:sp>
        <p:nvSpPr>
          <p:cNvPr id="71" name="Arrow 1"/>
          <p:cNvSpPr/>
          <p:nvPr/>
        </p:nvSpPr>
        <p:spPr>
          <a:xfrm>
            <a:off x="7835900" y="5422900"/>
            <a:ext cx="330200" cy="228600"/>
          </a:xfrm>
          <a:prstGeom prst="rightArrow">
            <a:avLst/>
          </a:prstGeom>
          <a:solidFill>
            <a:srgbClr val="94A3B8"/>
          </a:solidFill>
          <a:ln>
            <a:noFill/>
          </a:ln>
        </p:spPr>
        <p:txBody>
          <a:bodyPr/>
          <a:lstStyle/>
          <a:p>
            <a:endParaRPr/>
          </a:p>
        </p:txBody>
      </p:sp>
      <p:pic>
        <p:nvPicPr>
          <p:cNvPr id="72" name="Graphic 72" descr="Upload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5422900"/>
            <a:ext cx="304800" cy="304800"/>
          </a:xfrm>
          <a:prstGeom prst="rect">
            <a:avLst/>
          </a:prstGeom>
        </p:spPr>
      </p:pic>
      <p:pic>
        <p:nvPicPr>
          <p:cNvPr id="73" name="Graphic 73" descr="Refresh pipeline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49800" y="5422900"/>
            <a:ext cx="304800" cy="304800"/>
          </a:xfrm>
          <a:prstGeom prst="rect">
            <a:avLst/>
          </a:prstGeom>
        </p:spPr>
      </p:pic>
      <p:pic>
        <p:nvPicPr>
          <p:cNvPr id="74" name="Graphic 74" descr="Download ic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85200" y="5422900"/>
            <a:ext cx="304800" cy="304800"/>
          </a:xfrm>
          <a:prstGeom prst="rect">
            <a:avLst/>
          </a:prstGeom>
        </p:spPr>
      </p:pic>
    </p:spTree>
    <p:extLst>
      <p:ext uri="{BB962C8B-B14F-4D97-AF65-F5344CB8AC3E}">
        <p14:creationId xmlns:p14="http://schemas.microsoft.com/office/powerpoint/2010/main" val="1301312070"/>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95360" y="1280160"/>
            <a:ext cx="3931920" cy="393192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0" y="1828799"/>
            <a:ext cx="2834640" cy="28346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46920" y="2331720"/>
            <a:ext cx="1828800" cy="1828800"/>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46920" y="2560320"/>
            <a:ext cx="1828800" cy="1371600"/>
          </a:xfrm>
          <a:prstGeom prst="rect">
            <a:avLst/>
          </a:prstGeom>
          <a:noFill/>
        </p:spPr>
        <p:txBody>
          <a:bodyPr wrap="square" lIns="25400" tIns="25400" rIns="25400" bIns="25400" anchor="ctr">
            <a:spAutoFit/>
          </a:bodyPr>
          <a:lstStyle/>
          <a:p>
            <a:pPr algn="ctr">
              <a:spcBef>
                <a:spcPts val="0"/>
              </a:spcBef>
              <a:spcAft>
                <a:spcPts val="0"/>
              </a:spcAft>
              <a:buNone/>
            </a:pPr>
            <a:r>
              <a:rPr sz="6000" b="1">
                <a:solidFill>
                  <a:srgbClr val="38BDF8"/>
                </a:solidFill>
                <a:latin typeface="Calibri"/>
              </a:rPr>
              <a:t>III</a:t>
            </a:r>
          </a:p>
        </p:txBody>
      </p:sp>
      <p:sp>
        <p:nvSpPr>
          <p:cNvPr id="7" name="TextBox 6"/>
          <p:cNvSpPr txBox="1"/>
          <p:nvPr/>
        </p:nvSpPr>
        <p:spPr>
          <a:xfrm>
            <a:off x="822960" y="2148840"/>
            <a:ext cx="6583680" cy="365760"/>
          </a:xfrm>
          <a:prstGeom prst="rect">
            <a:avLst/>
          </a:prstGeom>
          <a:noFill/>
        </p:spPr>
        <p:txBody>
          <a:bodyPr wrap="square" lIns="25400" tIns="25400" rIns="25400" bIns="25400" anchor="t">
            <a:spAutoFit/>
          </a:bodyPr>
          <a:lstStyle/>
          <a:p>
            <a:pPr algn="l">
              <a:spcBef>
                <a:spcPts val="0"/>
              </a:spcBef>
              <a:spcAft>
                <a:spcPts val="0"/>
              </a:spcAft>
              <a:buNone/>
            </a:pPr>
            <a:r>
              <a:rPr sz="1400" b="1">
                <a:solidFill>
                  <a:srgbClr val="38BDF8"/>
                </a:solidFill>
                <a:latin typeface="Calibri"/>
              </a:rPr>
              <a:t>PART III</a:t>
            </a:r>
          </a:p>
        </p:txBody>
      </p:sp>
      <p:sp>
        <p:nvSpPr>
          <p:cNvPr id="8" name="TextBox 7"/>
          <p:cNvSpPr txBox="1"/>
          <p:nvPr/>
        </p:nvSpPr>
        <p:spPr>
          <a:xfrm>
            <a:off x="786384" y="2487168"/>
            <a:ext cx="6766560" cy="1554480"/>
          </a:xfrm>
          <a:prstGeom prst="rect">
            <a:avLst/>
          </a:prstGeom>
          <a:noFill/>
        </p:spPr>
        <p:txBody>
          <a:bodyPr wrap="square" lIns="25400" tIns="25400" rIns="25400" bIns="25400" anchor="t">
            <a:spAutoFit/>
          </a:bodyPr>
          <a:lstStyle/>
          <a:p>
            <a:pPr algn="l">
              <a:spcBef>
                <a:spcPts val="0"/>
              </a:spcBef>
              <a:spcAft>
                <a:spcPts val="0"/>
              </a:spcAft>
              <a:buNone/>
            </a:pPr>
            <a:r>
              <a:rPr sz="3800" b="1">
                <a:solidFill>
                  <a:srgbClr val="F8FAFC"/>
                </a:solidFill>
                <a:latin typeface="Calibri"/>
              </a:rPr>
              <a:t>How</a:t>
            </a:r>
          </a:p>
          <a:p>
            <a:pPr algn="l">
              <a:spcBef>
                <a:spcPts val="0"/>
              </a:spcBef>
              <a:spcAft>
                <a:spcPts val="0"/>
              </a:spcAft>
              <a:buNone/>
            </a:pPr>
            <a:r>
              <a:rPr sz="3800" b="1">
                <a:solidFill>
                  <a:srgbClr val="F8FAFC"/>
                </a:solidFill>
                <a:latin typeface="Calibri"/>
              </a:rPr>
              <a:t>it’s built</a:t>
            </a:r>
          </a:p>
        </p:txBody>
      </p:sp>
      <p:sp>
        <p:nvSpPr>
          <p:cNvPr id="9" name="Rectangle 8"/>
          <p:cNvSpPr/>
          <p:nvPr/>
        </p:nvSpPr>
        <p:spPr>
          <a:xfrm>
            <a:off x="822960" y="4023360"/>
            <a:ext cx="1371600" cy="640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343400"/>
            <a:ext cx="6675120" cy="1645920"/>
          </a:xfrm>
          <a:prstGeom prst="rect">
            <a:avLst/>
          </a:prstGeom>
          <a:noFill/>
        </p:spPr>
        <p:txBody>
          <a:bodyPr wrap="square" lIns="25400" tIns="25400" rIns="25400" bIns="25400" anchor="t">
            <a:spAutoFit/>
          </a:bodyPr>
          <a:lstStyle/>
          <a:p>
            <a:pPr algn="l">
              <a:spcBef>
                <a:spcPts val="300"/>
              </a:spcBef>
              <a:spcAft>
                <a:spcPts val="300"/>
              </a:spcAft>
              <a:buNone/>
            </a:pPr>
            <a:r>
              <a:rPr sz="1300" b="1">
                <a:solidFill>
                  <a:srgbClr val="38BDF8"/>
                </a:solidFill>
                <a:latin typeface="Calibri"/>
              </a:rPr>
              <a:t>—  </a:t>
            </a:r>
            <a:r>
              <a:rPr sz="1300" b="0">
                <a:solidFill>
                  <a:srgbClr val="94A3B8"/>
                </a:solidFill>
                <a:latin typeface="Calibri"/>
              </a:rPr>
              <a:t>One rule: all logic server-side, the UI renders</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Recover-or-exclude cleaning with an audit trail</a:t>
            </a:r>
          </a:p>
          <a:p>
            <a:pPr algn="l">
              <a:spcBef>
                <a:spcPts val="300"/>
              </a:spcBef>
              <a:spcAft>
                <a:spcPts val="300"/>
              </a:spcAft>
              <a:buNone/>
            </a:pPr>
            <a:r>
              <a:rPr sz="1300" b="1">
                <a:solidFill>
                  <a:srgbClr val="38BDF8"/>
                </a:solidFill>
                <a:latin typeface="Calibri"/>
              </a:rPr>
              <a:t>—  </a:t>
            </a:r>
            <a:r>
              <a:rPr sz="1300" b="0">
                <a:solidFill>
                  <a:srgbClr val="94A3B8"/>
                </a:solidFill>
                <a:latin typeface="Calibri"/>
              </a:rPr>
              <a:t>Tested, deployed, extensible by construction</a:t>
            </a:r>
          </a:p>
        </p:txBody>
      </p:sp>
    </p:spTree>
    <p:extLst>
      <p:ext uri="{BB962C8B-B14F-4D97-AF65-F5344CB8AC3E}">
        <p14:creationId xmlns:p14="http://schemas.microsoft.com/office/powerpoint/2010/main" val="168675525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15 · ARCHITECTURE</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One rule: all logic on the backend, the UI only renders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15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78867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2880360"/>
            <a:ext cx="1554480" cy="868680"/>
          </a:xfrm>
          <a:prstGeom prst="roundRect">
            <a:avLst>
              <a:gd name="adj" fmla="val 6000"/>
            </a:avLst>
          </a:prstGeom>
          <a:solidFill>
            <a:srgbClr val="1E293B"/>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F8FAFC"/>
                </a:solidFill>
                <a:latin typeface="Calibri"/>
              </a:rPr>
              <a:t>👤 User</a:t>
            </a:r>
          </a:p>
          <a:p>
            <a:pPr algn="ctr">
              <a:spcBef>
                <a:spcPts val="0"/>
              </a:spcBef>
              <a:spcAft>
                <a:spcPts val="0"/>
              </a:spcAft>
              <a:buNone/>
            </a:pPr>
            <a:r>
              <a:rPr sz="950" b="0">
                <a:solidFill>
                  <a:srgbClr val="F8FAFC"/>
                </a:solidFill>
                <a:latin typeface="Calibri"/>
              </a:rPr>
              <a:t>Plant manager</a:t>
            </a:r>
          </a:p>
        </p:txBody>
      </p:sp>
      <p:sp>
        <p:nvSpPr>
          <p:cNvPr id="14" name="Rounded Rectangle 13"/>
          <p:cNvSpPr/>
          <p:nvPr/>
        </p:nvSpPr>
        <p:spPr>
          <a:xfrm>
            <a:off x="2514600" y="2148840"/>
            <a:ext cx="2880360" cy="233172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15" name="TextBox 14"/>
          <p:cNvSpPr txBox="1"/>
          <p:nvPr/>
        </p:nvSpPr>
        <p:spPr>
          <a:xfrm>
            <a:off x="2606040" y="2212848"/>
            <a:ext cx="2651760" cy="274320"/>
          </a:xfrm>
          <a:prstGeom prst="rect">
            <a:avLst/>
          </a:prstGeom>
          <a:noFill/>
        </p:spPr>
        <p:txBody>
          <a:bodyPr wrap="square" lIns="25400" tIns="25400" rIns="25400" bIns="25400" anchor="t">
            <a:spAutoFit/>
          </a:bodyPr>
          <a:lstStyle/>
          <a:p>
            <a:pPr algn="l">
              <a:spcBef>
                <a:spcPts val="200"/>
              </a:spcBef>
              <a:spcAft>
                <a:spcPts val="200"/>
              </a:spcAft>
              <a:buNone/>
            </a:pPr>
            <a:r>
              <a:rPr sz="1000" b="1">
                <a:solidFill>
                  <a:srgbClr val="334155"/>
                </a:solidFill>
                <a:latin typeface="Calibri"/>
              </a:rPr>
              <a:t>FRONTEND · VERCEL</a:t>
            </a:r>
          </a:p>
        </p:txBody>
      </p:sp>
      <p:sp>
        <p:nvSpPr>
          <p:cNvPr id="16" name="Rounded Rectangle 15"/>
          <p:cNvSpPr/>
          <p:nvPr/>
        </p:nvSpPr>
        <p:spPr>
          <a:xfrm>
            <a:off x="2697480" y="2606040"/>
            <a:ext cx="2514600" cy="1691640"/>
          </a:xfrm>
          <a:prstGeom prst="roundRect">
            <a:avLst>
              <a:gd name="adj" fmla="val 6000"/>
            </a:avLst>
          </a:prstGeom>
          <a:solidFill>
            <a:srgbClr val="F8FAFC"/>
          </a:solidFill>
          <a:ln w="15875">
            <a:solidFill>
              <a:srgbClr val="334155"/>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React 19 + Vite SPA</a:t>
            </a:r>
          </a:p>
          <a:p>
            <a:pPr algn="ctr">
              <a:spcBef>
                <a:spcPts val="0"/>
              </a:spcBef>
              <a:spcAft>
                <a:spcPts val="0"/>
              </a:spcAft>
              <a:buNone/>
            </a:pPr>
            <a:endParaRPr sz="1300" b="1">
              <a:solidFill>
                <a:srgbClr val="0F172A"/>
              </a:solidFill>
              <a:latin typeface="Calibri"/>
            </a:endParaRPr>
          </a:p>
          <a:p>
            <a:pPr algn="ctr">
              <a:spcBef>
                <a:spcPts val="0"/>
              </a:spcBef>
              <a:spcAft>
                <a:spcPts val="0"/>
              </a:spcAft>
              <a:buNone/>
            </a:pPr>
            <a:r>
              <a:rPr sz="1050" b="0">
                <a:solidFill>
                  <a:srgbClr val="0F172A"/>
                </a:solidFill>
                <a:latin typeface="Calibri"/>
              </a:rPr>
              <a:t>useDashboardData hook</a:t>
            </a:r>
          </a:p>
          <a:p>
            <a:pPr algn="ctr">
              <a:spcBef>
                <a:spcPts val="0"/>
              </a:spcBef>
              <a:spcAft>
                <a:spcPts val="0"/>
              </a:spcAft>
              <a:buNone/>
            </a:pPr>
            <a:r>
              <a:rPr sz="1050" b="0">
                <a:solidFill>
                  <a:srgbClr val="0F172A"/>
                </a:solidFill>
                <a:latin typeface="Calibri"/>
              </a:rPr>
              <a:t>Recharts / SVG panels</a:t>
            </a:r>
          </a:p>
          <a:p>
            <a:pPr algn="ctr">
              <a:spcBef>
                <a:spcPts val="0"/>
              </a:spcBef>
              <a:spcAft>
                <a:spcPts val="0"/>
              </a:spcAft>
              <a:buNone/>
            </a:pPr>
            <a:endParaRPr sz="1050" b="0">
              <a:solidFill>
                <a:srgbClr val="0F172A"/>
              </a:solidFill>
              <a:latin typeface="Calibri"/>
            </a:endParaRPr>
          </a:p>
          <a:p>
            <a:pPr algn="ctr">
              <a:spcBef>
                <a:spcPts val="0"/>
              </a:spcBef>
              <a:spcAft>
                <a:spcPts val="0"/>
              </a:spcAft>
              <a:buNone/>
            </a:pPr>
            <a:r>
              <a:rPr sz="1000" b="1">
                <a:solidFill>
                  <a:srgbClr val="38BDF8"/>
                </a:solidFill>
                <a:latin typeface="Calibri"/>
              </a:rPr>
              <a:t>Pure renderer —</a:t>
            </a:r>
          </a:p>
          <a:p>
            <a:pPr algn="ctr">
              <a:spcBef>
                <a:spcPts val="0"/>
              </a:spcBef>
              <a:spcAft>
                <a:spcPts val="0"/>
              </a:spcAft>
              <a:buNone/>
            </a:pPr>
            <a:r>
              <a:rPr sz="1000" b="1">
                <a:solidFill>
                  <a:srgbClr val="38BDF8"/>
                </a:solidFill>
                <a:latin typeface="Calibri"/>
              </a:rPr>
              <a:t>no business logic</a:t>
            </a:r>
          </a:p>
        </p:txBody>
      </p:sp>
      <p:sp>
        <p:nvSpPr>
          <p:cNvPr id="17" name="Rounded Rectangle 16"/>
          <p:cNvSpPr/>
          <p:nvPr/>
        </p:nvSpPr>
        <p:spPr>
          <a:xfrm>
            <a:off x="5806440" y="1874519"/>
            <a:ext cx="3063240" cy="292608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endParaRPr/>
          </a:p>
        </p:txBody>
      </p:sp>
      <p:sp>
        <p:nvSpPr>
          <p:cNvPr id="18" name="TextBox 17"/>
          <p:cNvSpPr txBox="1"/>
          <p:nvPr/>
        </p:nvSpPr>
        <p:spPr>
          <a:xfrm>
            <a:off x="5897880" y="1938528"/>
            <a:ext cx="2743200" cy="274320"/>
          </a:xfrm>
          <a:prstGeom prst="rect">
            <a:avLst/>
          </a:prstGeom>
          <a:noFill/>
        </p:spPr>
        <p:txBody>
          <a:bodyPr wrap="square" lIns="25400" tIns="25400" rIns="25400" bIns="25400" anchor="t">
            <a:spAutoFit/>
          </a:bodyPr>
          <a:lstStyle/>
          <a:p>
            <a:pPr algn="l">
              <a:spcBef>
                <a:spcPts val="200"/>
              </a:spcBef>
              <a:spcAft>
                <a:spcPts val="200"/>
              </a:spcAft>
              <a:buNone/>
            </a:pPr>
            <a:r>
              <a:rPr sz="1000" b="1">
                <a:solidFill>
                  <a:srgbClr val="334155"/>
                </a:solidFill>
                <a:latin typeface="Calibri"/>
              </a:rPr>
              <a:t>BACKEND · RENDER</a:t>
            </a:r>
          </a:p>
        </p:txBody>
      </p:sp>
      <p:sp>
        <p:nvSpPr>
          <p:cNvPr id="19" name="Rounded Rectangle 18"/>
          <p:cNvSpPr/>
          <p:nvPr/>
        </p:nvSpPr>
        <p:spPr>
          <a:xfrm>
            <a:off x="5989320" y="2331720"/>
            <a:ext cx="2697480" cy="960120"/>
          </a:xfrm>
          <a:prstGeom prst="roundRect">
            <a:avLst>
              <a:gd name="adj" fmla="val 6000"/>
            </a:avLst>
          </a:prstGeom>
          <a:solidFill>
            <a:srgbClr val="F8FAFC"/>
          </a:solidFill>
          <a:ln w="15875">
            <a:solidFill>
              <a:srgbClr val="334155"/>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Django 6 + DRF</a:t>
            </a:r>
          </a:p>
          <a:p>
            <a:pPr algn="ctr">
              <a:spcBef>
                <a:spcPts val="0"/>
              </a:spcBef>
              <a:spcAft>
                <a:spcPts val="0"/>
              </a:spcAft>
              <a:buNone/>
            </a:pPr>
            <a:r>
              <a:rPr sz="1050" b="0">
                <a:solidFill>
                  <a:srgbClr val="0F172A"/>
                </a:solidFill>
                <a:latin typeface="Calibri"/>
              </a:rPr>
              <a:t>REST API</a:t>
            </a:r>
          </a:p>
        </p:txBody>
      </p:sp>
      <p:sp>
        <p:nvSpPr>
          <p:cNvPr id="20" name="Rounded Rectangle 19"/>
          <p:cNvSpPr/>
          <p:nvPr/>
        </p:nvSpPr>
        <p:spPr>
          <a:xfrm>
            <a:off x="5989320" y="3429000"/>
            <a:ext cx="2697480" cy="1170432"/>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pandas pipeline</a:t>
            </a:r>
          </a:p>
          <a:p>
            <a:pPr algn="ctr">
              <a:spcBef>
                <a:spcPts val="0"/>
              </a:spcBef>
              <a:spcAft>
                <a:spcPts val="0"/>
              </a:spcAft>
              <a:buNone/>
            </a:pPr>
            <a:r>
              <a:rPr sz="1050" b="0">
                <a:solidFill>
                  <a:srgbClr val="0F172A"/>
                </a:solidFill>
                <a:latin typeface="Calibri"/>
              </a:rPr>
              <a:t>cleaning + analysis</a:t>
            </a:r>
          </a:p>
          <a:p>
            <a:pPr algn="ctr">
              <a:spcBef>
                <a:spcPts val="0"/>
              </a:spcBef>
              <a:spcAft>
                <a:spcPts val="0"/>
              </a:spcAft>
              <a:buNone/>
            </a:pPr>
            <a:r>
              <a:rPr sz="950" b="0">
                <a:solidFill>
                  <a:srgbClr val="334155"/>
                </a:solidFill>
                <a:latin typeface="Calibri"/>
              </a:rPr>
              <a:t>(single source of truth)</a:t>
            </a:r>
          </a:p>
        </p:txBody>
      </p:sp>
      <p:sp>
        <p:nvSpPr>
          <p:cNvPr id="21" name="Rounded Rectangle 20"/>
          <p:cNvSpPr/>
          <p:nvPr/>
        </p:nvSpPr>
        <p:spPr>
          <a:xfrm>
            <a:off x="9281160" y="2331720"/>
            <a:ext cx="2331720" cy="960120"/>
          </a:xfrm>
          <a:prstGeom prst="roundRect">
            <a:avLst>
              <a:gd name="adj" fmla="val 6000"/>
            </a:avLst>
          </a:prstGeom>
          <a:solidFill>
            <a:srgbClr val="38BDF8"/>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B1220"/>
                </a:solidFill>
                <a:latin typeface="Calibri"/>
              </a:rPr>
              <a:t>🗄 PostgreSQL</a:t>
            </a:r>
          </a:p>
          <a:p>
            <a:pPr algn="ctr">
              <a:spcBef>
                <a:spcPts val="0"/>
              </a:spcBef>
              <a:spcAft>
                <a:spcPts val="0"/>
              </a:spcAft>
              <a:buNone/>
            </a:pPr>
            <a:r>
              <a:rPr sz="1000" b="0">
                <a:solidFill>
                  <a:srgbClr val="0B1220"/>
                </a:solidFill>
                <a:latin typeface="Calibri"/>
              </a:rPr>
              <a:t>Supabase</a:t>
            </a:r>
          </a:p>
        </p:txBody>
      </p:sp>
      <p:sp>
        <p:nvSpPr>
          <p:cNvPr id="22" name="Rounded Rectangle 21"/>
          <p:cNvSpPr/>
          <p:nvPr/>
        </p:nvSpPr>
        <p:spPr>
          <a:xfrm>
            <a:off x="9281160" y="3703320"/>
            <a:ext cx="2331720" cy="914400"/>
          </a:xfrm>
          <a:prstGeom prst="roundRect">
            <a:avLst>
              <a:gd name="adj" fmla="val 6000"/>
            </a:avLst>
          </a:prstGeom>
          <a:solidFill>
            <a:srgbClr val="F8FAFC"/>
          </a:solidFill>
          <a:ln w="19050">
            <a:solidFill>
              <a:srgbClr val="FBBF24"/>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50" b="1">
                <a:solidFill>
                  <a:srgbClr val="0F172A"/>
                </a:solidFill>
                <a:latin typeface="Calibri"/>
              </a:rPr>
              <a:t>Groq LLM</a:t>
            </a:r>
          </a:p>
          <a:p>
            <a:pPr algn="ctr">
              <a:spcBef>
                <a:spcPts val="0"/>
              </a:spcBef>
              <a:spcAft>
                <a:spcPts val="0"/>
              </a:spcAft>
              <a:buNone/>
            </a:pPr>
            <a:r>
              <a:rPr sz="1000" b="0">
                <a:solidFill>
                  <a:srgbClr val="334155"/>
                </a:solidFill>
                <a:latin typeface="Calibri"/>
              </a:rPr>
              <a:t>optional</a:t>
            </a:r>
          </a:p>
        </p:txBody>
      </p:sp>
      <p:cxnSp>
        <p:nvCxnSpPr>
          <p:cNvPr id="23" name="Connector 22"/>
          <p:cNvCxnSpPr/>
          <p:nvPr/>
        </p:nvCxnSpPr>
        <p:spPr>
          <a:xfrm>
            <a:off x="2121408" y="3291840"/>
            <a:ext cx="576072"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212080" y="3063240"/>
            <a:ext cx="777240" cy="22860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4920" y="2761488"/>
            <a:ext cx="1280160" cy="274320"/>
          </a:xfrm>
          <a:prstGeom prst="rect">
            <a:avLst/>
          </a:prstGeom>
          <a:noFill/>
        </p:spPr>
        <p:txBody>
          <a:bodyPr wrap="square" lIns="25400" tIns="25400" rIns="25400" bIns="25400" anchor="t">
            <a:spAutoFit/>
          </a:bodyPr>
          <a:lstStyle/>
          <a:p>
            <a:pPr algn="ctr">
              <a:spcBef>
                <a:spcPts val="200"/>
              </a:spcBef>
              <a:spcAft>
                <a:spcPts val="200"/>
              </a:spcAft>
              <a:buNone/>
            </a:pPr>
            <a:r>
              <a:rPr sz="900" b="1">
                <a:solidFill>
                  <a:srgbClr val="334155"/>
                </a:solidFill>
                <a:latin typeface="Calibri"/>
              </a:rPr>
              <a:t>/api HTTPS</a:t>
            </a:r>
          </a:p>
        </p:txBody>
      </p:sp>
      <p:cxnSp>
        <p:nvCxnSpPr>
          <p:cNvPr id="26" name="Connector 25"/>
          <p:cNvCxnSpPr/>
          <p:nvPr/>
        </p:nvCxnSpPr>
        <p:spPr>
          <a:xfrm>
            <a:off x="8686800" y="2788920"/>
            <a:ext cx="594360" cy="0"/>
          </a:xfrm>
          <a:prstGeom prst="line">
            <a:avLst/>
          </a:prstGeom>
          <a:ln w="2222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4023360"/>
            <a:ext cx="594360" cy="91440"/>
          </a:xfrm>
          <a:prstGeom prst="line">
            <a:avLst/>
          </a:prstGeom>
          <a:ln w="22225">
            <a:solidFill>
              <a:srgbClr val="FBBF24"/>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6826924"/>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16 · CLEANING PIPELINE</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Detect → recover-or-exclude → gate, with a full audit trail</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16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84201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3063240"/>
            <a:ext cx="1417320" cy="91440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00" b="1">
                <a:solidFill>
                  <a:srgbClr val="0F172A"/>
                </a:solidFill>
                <a:latin typeface="Calibri"/>
              </a:rPr>
              <a:t>Raw row</a:t>
            </a:r>
          </a:p>
          <a:p>
            <a:pPr algn="ctr">
              <a:spcBef>
                <a:spcPts val="0"/>
              </a:spcBef>
              <a:spcAft>
                <a:spcPts val="0"/>
              </a:spcAft>
              <a:buNone/>
            </a:pPr>
            <a:r>
              <a:rPr sz="950" b="0">
                <a:solidFill>
                  <a:srgbClr val="334155"/>
                </a:solidFill>
                <a:latin typeface="Calibri"/>
              </a:rPr>
              <a:t>5 fields</a:t>
            </a:r>
          </a:p>
        </p:txBody>
      </p:sp>
      <p:sp>
        <p:nvSpPr>
          <p:cNvPr id="14" name="Rounded Rectangle 13"/>
          <p:cNvSpPr/>
          <p:nvPr/>
        </p:nvSpPr>
        <p:spPr>
          <a:xfrm>
            <a:off x="2240280" y="3063240"/>
            <a:ext cx="1417320" cy="91440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00" b="1">
                <a:solidFill>
                  <a:srgbClr val="0F172A"/>
                </a:solidFill>
                <a:latin typeface="Calibri"/>
              </a:rPr>
              <a:t>Parse</a:t>
            </a:r>
          </a:p>
          <a:p>
            <a:pPr algn="ctr">
              <a:spcBef>
                <a:spcPts val="0"/>
              </a:spcBef>
              <a:spcAft>
                <a:spcPts val="0"/>
              </a:spcAft>
              <a:buNone/>
            </a:pPr>
            <a:r>
              <a:rPr sz="950" b="0">
                <a:solidFill>
                  <a:srgbClr val="334155"/>
                </a:solidFill>
                <a:latin typeface="Calibri"/>
              </a:rPr>
              <a:t>multi-format</a:t>
            </a:r>
          </a:p>
          <a:p>
            <a:pPr algn="ctr">
              <a:spcBef>
                <a:spcPts val="0"/>
              </a:spcBef>
              <a:spcAft>
                <a:spcPts val="0"/>
              </a:spcAft>
              <a:buNone/>
            </a:pPr>
            <a:r>
              <a:rPr sz="950" b="0">
                <a:solidFill>
                  <a:srgbClr val="334155"/>
                </a:solidFill>
                <a:latin typeface="Calibri"/>
              </a:rPr>
              <a:t>tz-aware</a:t>
            </a:r>
          </a:p>
        </p:txBody>
      </p:sp>
      <p:sp>
        <p:nvSpPr>
          <p:cNvPr id="15" name="Diamond 14"/>
          <p:cNvSpPr/>
          <p:nvPr/>
        </p:nvSpPr>
        <p:spPr>
          <a:xfrm>
            <a:off x="3703320" y="2816352"/>
            <a:ext cx="1554480" cy="1417320"/>
          </a:xfrm>
          <a:prstGeom prst="diamond">
            <a:avLst/>
          </a:prstGeom>
          <a:solidFill>
            <a:srgbClr val="F8FAFC"/>
          </a:solidFill>
          <a:ln w="15875">
            <a:solidFill>
              <a:srgbClr val="334155"/>
            </a:solidFill>
          </a:ln>
          <a:effectLst>
            <a:outerShdw blurRad="54864" dist="27432" dir="5400000" rotWithShape="0">
              <a:srgbClr val="0F172A">
                <a:alpha val="1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buNone/>
            </a:pPr>
            <a:r>
              <a:rPr sz="950" b="1">
                <a:solidFill>
                  <a:srgbClr val="0F172A"/>
                </a:solidFill>
                <a:latin typeface="Calibri"/>
              </a:rPr>
              <a:t>START / END
valid?</a:t>
            </a:r>
          </a:p>
        </p:txBody>
      </p:sp>
      <p:sp>
        <p:nvSpPr>
          <p:cNvPr id="16" name="Diamond 15"/>
          <p:cNvSpPr/>
          <p:nvPr/>
        </p:nvSpPr>
        <p:spPr>
          <a:xfrm>
            <a:off x="5486400" y="2816352"/>
            <a:ext cx="1554480" cy="1417320"/>
          </a:xfrm>
          <a:prstGeom prst="diamond">
            <a:avLst/>
          </a:prstGeom>
          <a:solidFill>
            <a:srgbClr val="F8FAFC"/>
          </a:solidFill>
          <a:ln w="15875">
            <a:solidFill>
              <a:srgbClr val="334155"/>
            </a:solidFill>
          </a:ln>
          <a:effectLst>
            <a:outerShdw blurRad="54864" dist="27432" dir="5400000" rotWithShape="0">
              <a:srgbClr val="0F172A">
                <a:alpha val="1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buNone/>
            </a:pPr>
            <a:r>
              <a:rPr sz="950" b="1">
                <a:solidFill>
                  <a:srgbClr val="0F172A"/>
                </a:solidFill>
                <a:latin typeface="Calibri"/>
              </a:rPr>
              <a:t>HOURS =
END−START?</a:t>
            </a:r>
          </a:p>
        </p:txBody>
      </p:sp>
      <p:sp>
        <p:nvSpPr>
          <p:cNvPr id="17" name="Diamond 16"/>
          <p:cNvSpPr/>
          <p:nvPr/>
        </p:nvSpPr>
        <p:spPr>
          <a:xfrm>
            <a:off x="7269480" y="2816352"/>
            <a:ext cx="1554480" cy="1417320"/>
          </a:xfrm>
          <a:prstGeom prst="diamond">
            <a:avLst/>
          </a:prstGeom>
          <a:solidFill>
            <a:srgbClr val="F8FAFC"/>
          </a:solidFill>
          <a:ln w="15875">
            <a:solidFill>
              <a:srgbClr val="334155"/>
            </a:solidFill>
          </a:ln>
          <a:effectLst>
            <a:outerShdw blurRad="54864" dist="27432" dir="5400000" rotWithShape="0">
              <a:srgbClr val="0F172A">
                <a:alpha val="18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buNone/>
            </a:pPr>
            <a:r>
              <a:rPr sz="950" b="1">
                <a:solidFill>
                  <a:srgbClr val="0F172A"/>
                </a:solidFill>
                <a:latin typeface="Calibri"/>
              </a:rPr>
              <a:t>Date ok? /
duplicate?</a:t>
            </a:r>
          </a:p>
        </p:txBody>
      </p:sp>
      <p:sp>
        <p:nvSpPr>
          <p:cNvPr id="18" name="Rounded Rectangle 17"/>
          <p:cNvSpPr/>
          <p:nvPr/>
        </p:nvSpPr>
        <p:spPr>
          <a:xfrm>
            <a:off x="9098280" y="2971800"/>
            <a:ext cx="1554480" cy="1097280"/>
          </a:xfrm>
          <a:prstGeom prst="roundRect">
            <a:avLst>
              <a:gd name="adj" fmla="val 6000"/>
            </a:avLst>
          </a:prstGeom>
          <a:solidFill>
            <a:srgbClr val="0F172A"/>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50" b="1">
                <a:solidFill>
                  <a:srgbClr val="F8FAFC"/>
                </a:solidFill>
                <a:latin typeface="Calibri"/>
              </a:rPr>
              <a:t>Validity</a:t>
            </a:r>
          </a:p>
          <a:p>
            <a:pPr algn="ctr">
              <a:spcBef>
                <a:spcPts val="0"/>
              </a:spcBef>
              <a:spcAft>
                <a:spcPts val="0"/>
              </a:spcAft>
              <a:buNone/>
            </a:pPr>
            <a:r>
              <a:rPr sz="1250" b="1">
                <a:solidFill>
                  <a:srgbClr val="F8FAFC"/>
                </a:solidFill>
                <a:latin typeface="Calibri"/>
              </a:rPr>
              <a:t>gate</a:t>
            </a:r>
          </a:p>
        </p:txBody>
      </p:sp>
      <p:sp>
        <p:nvSpPr>
          <p:cNvPr id="19" name="Rounded Rectangle 18"/>
          <p:cNvSpPr/>
          <p:nvPr/>
        </p:nvSpPr>
        <p:spPr>
          <a:xfrm>
            <a:off x="9829800" y="1463040"/>
            <a:ext cx="1828800" cy="822960"/>
          </a:xfrm>
          <a:prstGeom prst="roundRect">
            <a:avLst>
              <a:gd name="adj" fmla="val 6000"/>
            </a:avLst>
          </a:prstGeom>
          <a:solidFill>
            <a:srgbClr val="F8FAFC"/>
          </a:solidFill>
          <a:ln w="15875">
            <a:solidFill>
              <a:srgbClr val="34D399"/>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150" b="1" dirty="0" err="1">
                <a:solidFill>
                  <a:srgbClr val="34D399"/>
                </a:solidFill>
                <a:latin typeface="Calibri"/>
              </a:rPr>
              <a:t>is_valid</a:t>
            </a:r>
            <a:r>
              <a:rPr sz="1150" b="1" dirty="0">
                <a:solidFill>
                  <a:srgbClr val="34D399"/>
                </a:solidFill>
                <a:latin typeface="Calibri"/>
              </a:rPr>
              <a:t> = true</a:t>
            </a:r>
          </a:p>
          <a:p>
            <a:pPr algn="ctr">
              <a:spcBef>
                <a:spcPts val="0"/>
              </a:spcBef>
              <a:spcAft>
                <a:spcPts val="0"/>
              </a:spcAft>
              <a:buNone/>
            </a:pPr>
            <a:r>
              <a:rPr sz="900" b="0" dirty="0">
                <a:solidFill>
                  <a:srgbClr val="0F172A"/>
                </a:solidFill>
                <a:latin typeface="Calibri"/>
              </a:rPr>
              <a:t>charts · streaks · score</a:t>
            </a:r>
          </a:p>
        </p:txBody>
      </p:sp>
      <p:sp>
        <p:nvSpPr>
          <p:cNvPr id="20" name="Rounded Rectangle 19"/>
          <p:cNvSpPr/>
          <p:nvPr/>
        </p:nvSpPr>
        <p:spPr>
          <a:xfrm>
            <a:off x="9829800" y="5349240"/>
            <a:ext cx="1828800" cy="868680"/>
          </a:xfrm>
          <a:prstGeom prst="roundRect">
            <a:avLst>
              <a:gd name="adj" fmla="val 6000"/>
            </a:avLst>
          </a:prstGeom>
          <a:solidFill>
            <a:srgbClr val="F8FAFC"/>
          </a:solidFill>
          <a:ln w="15875">
            <a:solidFill>
              <a:srgbClr val="38BDF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150" b="1" dirty="0" err="1">
                <a:solidFill>
                  <a:srgbClr val="38BDF8"/>
                </a:solidFill>
                <a:latin typeface="Calibri"/>
              </a:rPr>
              <a:t>is_valid</a:t>
            </a:r>
            <a:r>
              <a:rPr sz="1150" b="1" dirty="0">
                <a:solidFill>
                  <a:srgbClr val="38BDF8"/>
                </a:solidFill>
                <a:latin typeface="Calibri"/>
              </a:rPr>
              <a:t> = false</a:t>
            </a:r>
          </a:p>
          <a:p>
            <a:pPr algn="ctr">
              <a:spcBef>
                <a:spcPts val="0"/>
              </a:spcBef>
              <a:spcAft>
                <a:spcPts val="0"/>
              </a:spcAft>
              <a:buNone/>
            </a:pPr>
            <a:r>
              <a:rPr sz="900" b="0" dirty="0">
                <a:solidFill>
                  <a:srgbClr val="0F172A"/>
                </a:solidFill>
                <a:latin typeface="Calibri"/>
              </a:rPr>
              <a:t>quality report only</a:t>
            </a:r>
          </a:p>
        </p:txBody>
      </p:sp>
      <p:sp>
        <p:nvSpPr>
          <p:cNvPr id="21" name="Rounded Rectangle 20"/>
          <p:cNvSpPr/>
          <p:nvPr/>
        </p:nvSpPr>
        <p:spPr>
          <a:xfrm>
            <a:off x="566928" y="4709160"/>
            <a:ext cx="2148840" cy="658368"/>
          </a:xfrm>
          <a:prstGeom prst="roundRect">
            <a:avLst>
              <a:gd name="adj" fmla="val 6000"/>
            </a:avLst>
          </a:prstGeom>
          <a:solidFill>
            <a:srgbClr val="34D399"/>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0"/>
              </a:spcBef>
              <a:spcAft>
                <a:spcPts val="0"/>
              </a:spcAft>
              <a:buNone/>
            </a:pPr>
            <a:r>
              <a:rPr sz="1200" b="1">
                <a:solidFill>
                  <a:srgbClr val="0B1220"/>
                </a:solidFill>
                <a:latin typeface="Calibri"/>
              </a:rPr>
              <a:t>RECOVER lane</a:t>
            </a:r>
          </a:p>
          <a:p>
            <a:pPr algn="l">
              <a:spcBef>
                <a:spcPts val="0"/>
              </a:spcBef>
              <a:spcAft>
                <a:spcPts val="0"/>
              </a:spcAft>
              <a:buNone/>
            </a:pPr>
            <a:r>
              <a:rPr sz="900" b="0">
                <a:solidFill>
                  <a:srgbClr val="0B1220"/>
                </a:solidFill>
                <a:latin typeface="Calibri"/>
              </a:rPr>
              <a:t>row is fixed, then continues</a:t>
            </a:r>
          </a:p>
        </p:txBody>
      </p:sp>
      <p:sp>
        <p:nvSpPr>
          <p:cNvPr id="22" name="Rounded Rectangle 21"/>
          <p:cNvSpPr/>
          <p:nvPr/>
        </p:nvSpPr>
        <p:spPr>
          <a:xfrm>
            <a:off x="3703320" y="4709160"/>
            <a:ext cx="1554480" cy="658368"/>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950" b="1">
                <a:solidFill>
                  <a:srgbClr val="34D399"/>
                </a:solidFill>
                <a:latin typeface="Calibri"/>
              </a:rPr>
              <a:t>derive START</a:t>
            </a:r>
          </a:p>
          <a:p>
            <a:pPr algn="ctr">
              <a:spcBef>
                <a:spcPts val="0"/>
              </a:spcBef>
              <a:spcAft>
                <a:spcPts val="0"/>
              </a:spcAft>
              <a:buNone/>
            </a:pPr>
            <a:r>
              <a:rPr sz="900" b="0">
                <a:solidFill>
                  <a:srgbClr val="0F172A"/>
                </a:solidFill>
                <a:latin typeface="Calibri"/>
              </a:rPr>
              <a:t>= END − HOURS</a:t>
            </a:r>
          </a:p>
        </p:txBody>
      </p:sp>
      <p:sp>
        <p:nvSpPr>
          <p:cNvPr id="23" name="Rounded Rectangle 22"/>
          <p:cNvSpPr/>
          <p:nvPr/>
        </p:nvSpPr>
        <p:spPr>
          <a:xfrm>
            <a:off x="5486400" y="4709160"/>
            <a:ext cx="1554480" cy="658368"/>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950" b="1">
                <a:solidFill>
                  <a:srgbClr val="34D399"/>
                </a:solidFill>
                <a:latin typeface="Calibri"/>
              </a:rPr>
              <a:t>recompute HOURS</a:t>
            </a:r>
          </a:p>
          <a:p>
            <a:pPr algn="ctr">
              <a:spcBef>
                <a:spcPts val="0"/>
              </a:spcBef>
              <a:spcAft>
                <a:spcPts val="0"/>
              </a:spcAft>
              <a:buNone/>
            </a:pPr>
            <a:r>
              <a:rPr sz="900" b="0">
                <a:solidFill>
                  <a:srgbClr val="0F172A"/>
                </a:solidFill>
                <a:latin typeface="Calibri"/>
              </a:rPr>
              <a:t>from timestamps</a:t>
            </a:r>
          </a:p>
        </p:txBody>
      </p:sp>
      <p:sp>
        <p:nvSpPr>
          <p:cNvPr id="24" name="Rounded Rectangle 23"/>
          <p:cNvSpPr/>
          <p:nvPr/>
        </p:nvSpPr>
        <p:spPr>
          <a:xfrm>
            <a:off x="7269480" y="4709160"/>
            <a:ext cx="1554480" cy="658368"/>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950" b="1">
                <a:solidFill>
                  <a:srgbClr val="34D399"/>
                </a:solidFill>
                <a:latin typeface="Calibri"/>
              </a:rPr>
              <a:t>recover date</a:t>
            </a:r>
          </a:p>
          <a:p>
            <a:pPr algn="ctr">
              <a:spcBef>
                <a:spcPts val="0"/>
              </a:spcBef>
              <a:spcAft>
                <a:spcPts val="0"/>
              </a:spcAft>
              <a:buNone/>
            </a:pPr>
            <a:r>
              <a:rPr sz="900" b="0">
                <a:solidFill>
                  <a:srgbClr val="0F172A"/>
                </a:solidFill>
                <a:latin typeface="Calibri"/>
              </a:rPr>
              <a:t>from START</a:t>
            </a:r>
          </a:p>
        </p:txBody>
      </p:sp>
      <p:sp>
        <p:nvSpPr>
          <p:cNvPr id="25" name="Rounded Rectangle 24"/>
          <p:cNvSpPr/>
          <p:nvPr/>
        </p:nvSpPr>
        <p:spPr>
          <a:xfrm>
            <a:off x="566928" y="5532120"/>
            <a:ext cx="2880360" cy="566928"/>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0"/>
              </a:spcBef>
              <a:spcAft>
                <a:spcPts val="0"/>
              </a:spcAft>
              <a:buNone/>
            </a:pPr>
            <a:r>
              <a:rPr sz="1050" b="1">
                <a:solidFill>
                  <a:srgbClr val="0284C7"/>
                </a:solidFill>
                <a:latin typeface="Calibri"/>
              </a:rPr>
              <a:t>EXCLUDE → report</a:t>
            </a:r>
          </a:p>
          <a:p>
            <a:pPr algn="l">
              <a:spcBef>
                <a:spcPts val="0"/>
              </a:spcBef>
              <a:spcAft>
                <a:spcPts val="0"/>
              </a:spcAft>
              <a:buNone/>
            </a:pPr>
            <a:r>
              <a:rPr sz="900" b="0">
                <a:solidFill>
                  <a:srgbClr val="0284C7"/>
                </a:solidFill>
                <a:latin typeface="Calibri"/>
              </a:rPr>
              <a:t>invalid ts · END&lt;START · bad date · duplicate</a:t>
            </a:r>
          </a:p>
        </p:txBody>
      </p:sp>
      <p:cxnSp>
        <p:nvCxnSpPr>
          <p:cNvPr id="26" name="Connector 25"/>
          <p:cNvCxnSpPr/>
          <p:nvPr/>
        </p:nvCxnSpPr>
        <p:spPr>
          <a:xfrm>
            <a:off x="1984248" y="3520440"/>
            <a:ext cx="256032"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657600" y="3520440"/>
            <a:ext cx="4572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257800" y="3520440"/>
            <a:ext cx="22860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40880" y="3520440"/>
            <a:ext cx="22860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3960" y="3520440"/>
            <a:ext cx="27432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652760" y="2331720"/>
            <a:ext cx="91440" cy="914400"/>
          </a:xfrm>
          <a:prstGeom prst="line">
            <a:avLst/>
          </a:prstGeom>
          <a:ln w="22225">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52760" y="4069080"/>
            <a:ext cx="91440" cy="1280160"/>
          </a:xfrm>
          <a:prstGeom prst="line">
            <a:avLst/>
          </a:prstGeom>
          <a:ln w="2222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80560" y="4233672"/>
            <a:ext cx="0" cy="475488"/>
          </a:xfrm>
          <a:prstGeom prst="line">
            <a:avLst/>
          </a:prstGeom>
          <a:ln w="17780">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263640" y="4233672"/>
            <a:ext cx="0" cy="475488"/>
          </a:xfrm>
          <a:prstGeom prst="line">
            <a:avLst/>
          </a:prstGeom>
          <a:ln w="17780">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46720" y="4233672"/>
            <a:ext cx="0" cy="475488"/>
          </a:xfrm>
          <a:prstGeom prst="line">
            <a:avLst/>
          </a:prstGeom>
          <a:ln w="17780">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03320" y="5532120"/>
            <a:ext cx="5394960" cy="685800"/>
          </a:xfrm>
          <a:prstGeom prst="rect">
            <a:avLst/>
          </a:prstGeom>
          <a:noFill/>
        </p:spPr>
        <p:txBody>
          <a:bodyPr wrap="square" lIns="25400" tIns="25400" rIns="25400" bIns="25400" anchor="t">
            <a:spAutoFit/>
          </a:bodyPr>
          <a:lstStyle/>
          <a:p>
            <a:pPr algn="l">
              <a:spcBef>
                <a:spcPts val="200"/>
              </a:spcBef>
              <a:spcAft>
                <a:spcPts val="100"/>
              </a:spcAft>
              <a:buNone/>
            </a:pPr>
            <a:r>
              <a:rPr sz="1000" b="1">
                <a:solidFill>
                  <a:srgbClr val="0F172A"/>
                </a:solidFill>
                <a:latin typeface="Calibri"/>
              </a:rPr>
              <a:t>Every row emits  {code, detail, action}:</a:t>
            </a:r>
          </a:p>
          <a:p>
            <a:pPr algn="l">
              <a:spcBef>
                <a:spcPts val="200"/>
              </a:spcBef>
              <a:spcAft>
                <a:spcPts val="200"/>
              </a:spcAft>
              <a:buNone/>
            </a:pPr>
            <a:r>
              <a:rPr sz="950" b="0">
                <a:solidFill>
                  <a:srgbClr val="334155"/>
                </a:solidFill>
                <a:latin typeface="Calibri"/>
              </a:rPr>
              <a:t>INVALID_DATE · INVALID_START/END · MISSING_START/END · NEGATIVE_HOURS · HOURS_MISMATCH · END_BEFORE_START · CROSS_MIDNIGHT · DUPLICATE</a:t>
            </a:r>
          </a:p>
        </p:txBody>
      </p:sp>
    </p:spTree>
    <p:extLst>
      <p:ext uri="{BB962C8B-B14F-4D97-AF65-F5344CB8AC3E}">
        <p14:creationId xmlns:p14="http://schemas.microsoft.com/office/powerpoint/2010/main" val="356109272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17 · KEY DECISION</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When HOURS and timestamps disagree, I trust the timestamps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17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89408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600200"/>
            <a:ext cx="11064240" cy="868680"/>
          </a:xfrm>
          <a:prstGeom prst="roundRect">
            <a:avLst>
              <a:gd name="adj" fmla="val 6000"/>
            </a:avLst>
          </a:prstGeom>
          <a:solidFill>
            <a:srgbClr val="0F172A"/>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200"/>
              </a:spcBef>
              <a:spcAft>
                <a:spcPts val="200"/>
              </a:spcAft>
              <a:buNone/>
            </a:pPr>
            <a:r>
              <a:rPr sz="1800" b="1">
                <a:solidFill>
                  <a:srgbClr val="F8FAFC"/>
                </a:solidFill>
                <a:latin typeface="Consolas"/>
              </a:rPr>
              <a:t>HOURS = 18        but        END − START = 4.0 h        → which is right?</a:t>
            </a:r>
          </a:p>
        </p:txBody>
      </p:sp>
      <p:sp>
        <p:nvSpPr>
          <p:cNvPr id="14" name="Rounded Rectangle 13"/>
          <p:cNvSpPr/>
          <p:nvPr/>
        </p:nvSpPr>
        <p:spPr>
          <a:xfrm>
            <a:off x="566928" y="2788920"/>
            <a:ext cx="3383280" cy="1874519"/>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4000" b="1">
                <a:solidFill>
                  <a:srgbClr val="38BDF8"/>
                </a:solidFill>
                <a:latin typeface="Calibri"/>
              </a:rPr>
              <a:t>17 / 21</a:t>
            </a:r>
          </a:p>
          <a:p>
            <a:pPr algn="ctr">
              <a:spcBef>
                <a:spcPts val="0"/>
              </a:spcBef>
              <a:spcAft>
                <a:spcPts val="0"/>
              </a:spcAft>
              <a:buNone/>
            </a:pPr>
            <a:r>
              <a:rPr sz="1300" b="0">
                <a:solidFill>
                  <a:srgbClr val="0F172A"/>
                </a:solidFill>
                <a:latin typeface="Calibri"/>
              </a:rPr>
              <a:t>rows already agree</a:t>
            </a:r>
          </a:p>
          <a:p>
            <a:pPr algn="ctr">
              <a:spcBef>
                <a:spcPts val="0"/>
              </a:spcBef>
              <a:spcAft>
                <a:spcPts val="0"/>
              </a:spcAft>
              <a:buNone/>
            </a:pPr>
            <a:r>
              <a:rPr sz="1100" b="0">
                <a:solidFill>
                  <a:srgbClr val="334155"/>
                </a:solidFill>
                <a:latin typeface="Calibri"/>
              </a:rPr>
              <a:t>within rounding</a:t>
            </a:r>
          </a:p>
        </p:txBody>
      </p:sp>
      <p:sp>
        <p:nvSpPr>
          <p:cNvPr id="15" name="Rounded Rectangle 14"/>
          <p:cNvSpPr/>
          <p:nvPr/>
        </p:nvSpPr>
        <p:spPr>
          <a:xfrm>
            <a:off x="4206240" y="2788920"/>
            <a:ext cx="7424927" cy="56692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300" b="1">
                <a:solidFill>
                  <a:srgbClr val="34D399"/>
                </a:solidFill>
                <a:latin typeface="Calibri"/>
              </a:rPr>
              <a:t>✓  </a:t>
            </a:r>
            <a:r>
              <a:rPr sz="1250" b="1">
                <a:solidFill>
                  <a:srgbClr val="0F172A"/>
                </a:solidFill>
                <a:latin typeface="Calibri"/>
              </a:rPr>
              <a:t>Timestamps are internally consistent</a:t>
            </a:r>
            <a:r>
              <a:rPr sz="1150" b="0">
                <a:solidFill>
                  <a:srgbClr val="0F172A"/>
                </a:solidFill>
                <a:latin typeface="Calibri"/>
              </a:rPr>
              <a:t>  —  and they drive the timeline / chart axis anyway.</a:t>
            </a:r>
          </a:p>
        </p:txBody>
      </p:sp>
      <p:sp>
        <p:nvSpPr>
          <p:cNvPr id="16" name="Rounded Rectangle 15"/>
          <p:cNvSpPr/>
          <p:nvPr/>
        </p:nvSpPr>
        <p:spPr>
          <a:xfrm>
            <a:off x="4206240" y="3447287"/>
            <a:ext cx="7424927" cy="56692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300" b="1">
                <a:solidFill>
                  <a:srgbClr val="34D399"/>
                </a:solidFill>
                <a:latin typeface="Calibri"/>
              </a:rPr>
              <a:t>✓  </a:t>
            </a:r>
            <a:r>
              <a:rPr sz="1250" b="1">
                <a:solidFill>
                  <a:srgbClr val="0F172A"/>
                </a:solidFill>
                <a:latin typeface="Calibri"/>
              </a:rPr>
              <a:t>HOURS is a single scalar</a:t>
            </a:r>
            <a:r>
              <a:rPr sz="1150" b="0">
                <a:solidFill>
                  <a:srgbClr val="0F172A"/>
                </a:solidFill>
                <a:latin typeface="Calibri"/>
              </a:rPr>
              <a:t>  —  — the easy field to fumble on manual data entry.</a:t>
            </a:r>
          </a:p>
        </p:txBody>
      </p:sp>
      <p:sp>
        <p:nvSpPr>
          <p:cNvPr id="17" name="Rounded Rectangle 16"/>
          <p:cNvSpPr/>
          <p:nvPr/>
        </p:nvSpPr>
        <p:spPr>
          <a:xfrm>
            <a:off x="4206240" y="4105655"/>
            <a:ext cx="7424927" cy="566928"/>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300" b="1">
                <a:solidFill>
                  <a:srgbClr val="34D399"/>
                </a:solidFill>
                <a:latin typeface="Calibri"/>
              </a:rPr>
              <a:t>✓  </a:t>
            </a:r>
            <a:r>
              <a:rPr sz="1250" b="1">
                <a:solidFill>
                  <a:srgbClr val="0F172A"/>
                </a:solidFill>
                <a:latin typeface="Calibri"/>
              </a:rPr>
              <a:t>Documented, defensible assumption</a:t>
            </a:r>
            <a:r>
              <a:rPr sz="1150" b="0">
                <a:solidFill>
                  <a:srgbClr val="0F172A"/>
                </a:solidFill>
                <a:latin typeface="Calibri"/>
              </a:rPr>
              <a:t>  —  written in the README and the code, not a silent choice.</a:t>
            </a:r>
          </a:p>
        </p:txBody>
      </p:sp>
      <p:sp>
        <p:nvSpPr>
          <p:cNvPr id="18" name="Rounded Rectangle 17"/>
          <p:cNvSpPr/>
          <p:nvPr/>
        </p:nvSpPr>
        <p:spPr>
          <a:xfrm>
            <a:off x="566928" y="4983480"/>
            <a:ext cx="11064240" cy="868680"/>
          </a:xfrm>
          <a:prstGeom prst="roundRect">
            <a:avLst>
              <a:gd name="adj" fmla="val 6000"/>
            </a:avLst>
          </a:prstGeom>
          <a:solidFill>
            <a:srgbClr val="F8FAFC"/>
          </a:solidFill>
          <a:ln w="15875">
            <a:solidFill>
              <a:srgbClr val="FBBF24"/>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200" b="1">
                <a:solidFill>
                  <a:srgbClr val="0F172A"/>
                </a:solidFill>
                <a:latin typeface="Calibri"/>
              </a:rPr>
              <a:t>📌  A decision I'd flag to a stakeholder, not bury in code — if HOURS were authoritative it's a one-function change. And the data model keeps the audit trail: every row stores its raw values, recomputed fields, is_valid flag and issue list.</a:t>
            </a:r>
          </a:p>
        </p:txBody>
      </p:sp>
    </p:spTree>
    <p:extLst>
      <p:ext uri="{BB962C8B-B14F-4D97-AF65-F5344CB8AC3E}">
        <p14:creationId xmlns:p14="http://schemas.microsoft.com/office/powerpoint/2010/main" val="1583158478"/>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18 · EXTENSIBILITY, BY CONSTRUCTION</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No reason is hardcoded — new categories flow everywhere for free</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18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94742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2880360"/>
            <a:ext cx="1828800" cy="91440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Dataset</a:t>
            </a:r>
          </a:p>
          <a:p>
            <a:pPr algn="ctr">
              <a:spcBef>
                <a:spcPts val="0"/>
              </a:spcBef>
              <a:spcAft>
                <a:spcPts val="0"/>
              </a:spcAft>
              <a:buNone/>
            </a:pPr>
            <a:r>
              <a:rPr sz="1000" b="0">
                <a:solidFill>
                  <a:srgbClr val="334155"/>
                </a:solidFill>
                <a:latin typeface="Calibri"/>
              </a:rPr>
              <a:t>any reasons</a:t>
            </a:r>
          </a:p>
        </p:txBody>
      </p:sp>
      <p:sp>
        <p:nvSpPr>
          <p:cNvPr id="14" name="Rounded Rectangle 13"/>
          <p:cNvSpPr/>
          <p:nvPr/>
        </p:nvSpPr>
        <p:spPr>
          <a:xfrm>
            <a:off x="2743200" y="2880360"/>
            <a:ext cx="2011680" cy="914400"/>
          </a:xfrm>
          <a:prstGeom prst="roundRect">
            <a:avLst>
              <a:gd name="adj" fmla="val 6000"/>
            </a:avLst>
          </a:prstGeom>
          <a:solidFill>
            <a:srgbClr val="1E293B"/>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50" b="1">
                <a:solidFill>
                  <a:srgbClr val="F8FAFC"/>
                </a:solidFill>
                <a:latin typeface="Calibri"/>
              </a:rPr>
              <a:t>Reasons derived</a:t>
            </a:r>
          </a:p>
          <a:p>
            <a:pPr algn="ctr">
              <a:spcBef>
                <a:spcPts val="0"/>
              </a:spcBef>
              <a:spcAft>
                <a:spcPts val="0"/>
              </a:spcAft>
              <a:buNone/>
            </a:pPr>
            <a:r>
              <a:rPr sz="1000" b="0">
                <a:solidFill>
                  <a:srgbClr val="F8FAFC"/>
                </a:solidFill>
                <a:latin typeface="Calibri"/>
              </a:rPr>
              <a:t>at runtime</a:t>
            </a:r>
          </a:p>
          <a:p>
            <a:pPr algn="ctr">
              <a:spcBef>
                <a:spcPts val="0"/>
              </a:spcBef>
              <a:spcAft>
                <a:spcPts val="0"/>
              </a:spcAft>
              <a:buNone/>
            </a:pPr>
            <a:r>
              <a:rPr sz="900" b="0">
                <a:solidFill>
                  <a:srgbClr val="94A3B8"/>
                </a:solidFill>
                <a:latin typeface="Calibri"/>
              </a:rPr>
              <a:t>SELECT DISTINCT</a:t>
            </a:r>
          </a:p>
        </p:txBody>
      </p:sp>
      <p:sp>
        <p:nvSpPr>
          <p:cNvPr id="15" name="Rounded Rectangle 14"/>
          <p:cNvSpPr/>
          <p:nvPr/>
        </p:nvSpPr>
        <p:spPr>
          <a:xfrm>
            <a:off x="5212080" y="2148840"/>
            <a:ext cx="1554480" cy="82296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00" b="1">
                <a:solidFill>
                  <a:srgbClr val="0F172A"/>
                </a:solidFill>
                <a:latin typeface="Calibri"/>
              </a:rPr>
              <a:t>Filters</a:t>
            </a:r>
          </a:p>
        </p:txBody>
      </p:sp>
      <p:sp>
        <p:nvSpPr>
          <p:cNvPr id="16" name="Rounded Rectangle 15"/>
          <p:cNvSpPr/>
          <p:nvPr/>
        </p:nvSpPr>
        <p:spPr>
          <a:xfrm>
            <a:off x="7086600" y="2148840"/>
            <a:ext cx="1737360" cy="82296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00" b="1">
                <a:solidFill>
                  <a:srgbClr val="0F172A"/>
                </a:solidFill>
                <a:latin typeface="Calibri"/>
              </a:rPr>
              <a:t>Chart legend</a:t>
            </a:r>
          </a:p>
          <a:p>
            <a:pPr algn="ctr">
              <a:spcBef>
                <a:spcPts val="0"/>
              </a:spcBef>
              <a:spcAft>
                <a:spcPts val="0"/>
              </a:spcAft>
              <a:buNone/>
            </a:pPr>
            <a:r>
              <a:rPr sz="1000" b="0">
                <a:solidFill>
                  <a:srgbClr val="0F172A"/>
                </a:solidFill>
                <a:latin typeface="Calibri"/>
              </a:rPr>
              <a:t>+ colours</a:t>
            </a:r>
          </a:p>
        </p:txBody>
      </p:sp>
      <p:sp>
        <p:nvSpPr>
          <p:cNvPr id="17" name="Rounded Rectangle 16"/>
          <p:cNvSpPr/>
          <p:nvPr/>
        </p:nvSpPr>
        <p:spPr>
          <a:xfrm>
            <a:off x="9144000" y="2148840"/>
            <a:ext cx="1691640" cy="82296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200" b="1">
                <a:solidFill>
                  <a:srgbClr val="0F172A"/>
                </a:solidFill>
                <a:latin typeface="Calibri"/>
              </a:rPr>
              <a:t>Grouping</a:t>
            </a:r>
          </a:p>
          <a:p>
            <a:pPr algn="ctr">
              <a:spcBef>
                <a:spcPts val="0"/>
              </a:spcBef>
              <a:spcAft>
                <a:spcPts val="0"/>
              </a:spcAft>
              <a:buNone/>
            </a:pPr>
            <a:r>
              <a:rPr sz="1000" b="0">
                <a:solidFill>
                  <a:srgbClr val="0F172A"/>
                </a:solidFill>
                <a:latin typeface="Calibri"/>
              </a:rPr>
              <a:t>editor</a:t>
            </a:r>
          </a:p>
        </p:txBody>
      </p:sp>
      <p:sp>
        <p:nvSpPr>
          <p:cNvPr id="18" name="Rounded Rectangle 17"/>
          <p:cNvSpPr/>
          <p:nvPr/>
        </p:nvSpPr>
        <p:spPr>
          <a:xfrm>
            <a:off x="5212080" y="3977639"/>
            <a:ext cx="6035040" cy="777240"/>
          </a:xfrm>
          <a:prstGeom prst="roundRect">
            <a:avLst>
              <a:gd name="adj" fmla="val 6000"/>
            </a:avLst>
          </a:prstGeom>
          <a:solidFill>
            <a:srgbClr val="38BDF8"/>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B1220"/>
                </a:solidFill>
                <a:latin typeface="Calibri"/>
              </a:rPr>
              <a:t>Re-aggregate charts · streaks · score · filters</a:t>
            </a:r>
          </a:p>
        </p:txBody>
      </p:sp>
      <p:cxnSp>
        <p:nvCxnSpPr>
          <p:cNvPr id="19" name="Connector 18"/>
          <p:cNvCxnSpPr/>
          <p:nvPr/>
        </p:nvCxnSpPr>
        <p:spPr>
          <a:xfrm>
            <a:off x="2395728" y="3337560"/>
            <a:ext cx="347472"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754880" y="2926080"/>
            <a:ext cx="457200" cy="41148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754880" y="3337560"/>
            <a:ext cx="457200" cy="100584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89320" y="2971800"/>
            <a:ext cx="0" cy="0"/>
          </a:xfrm>
          <a:prstGeom prst="line">
            <a:avLst/>
          </a:prstGeom>
          <a:ln w="22225">
            <a:solidFill>
              <a:srgbClr val="334155"/>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55279" y="2971800"/>
            <a:ext cx="0" cy="0"/>
          </a:xfrm>
          <a:prstGeom prst="line">
            <a:avLst/>
          </a:prstGeom>
          <a:ln w="22225">
            <a:solidFill>
              <a:srgbClr val="334155"/>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989820" y="2971800"/>
            <a:ext cx="0" cy="0"/>
          </a:xfrm>
          <a:prstGeom prst="line">
            <a:avLst/>
          </a:prstGeom>
          <a:ln w="22225">
            <a:solidFill>
              <a:srgbClr val="334155"/>
            </a:solidFill>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66928" y="5029200"/>
            <a:ext cx="11064240" cy="105156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300" b="1">
                <a:solidFill>
                  <a:srgbClr val="0F172A"/>
                </a:solidFill>
                <a:latin typeface="Calibri"/>
              </a:rPr>
              <a:t>Proof:  </a:t>
            </a:r>
            <a:r>
              <a:rPr sz="1250" b="0">
                <a:solidFill>
                  <a:srgbClr val="0F172A"/>
                </a:solidFill>
                <a:latin typeface="Calibri"/>
              </a:rPr>
              <a:t>upload </a:t>
            </a:r>
            <a:r>
              <a:rPr sz="1200" b="1">
                <a:solidFill>
                  <a:srgbClr val="0F172A"/>
                </a:solidFill>
                <a:latin typeface="Consolas"/>
              </a:rPr>
              <a:t>sample_new_categories</a:t>
            </a:r>
            <a:r>
              <a:rPr sz="1250" b="0">
                <a:solidFill>
                  <a:srgbClr val="0F172A"/>
                </a:solidFill>
                <a:latin typeface="Calibri"/>
              </a:rPr>
              <a:t> → brand-new reasons (Sensor Fault, Tool Change, Calibration, Shift Handover) appear in filters, colours, legend and grouping with </a:t>
            </a:r>
            <a:r>
              <a:rPr sz="1300" b="1">
                <a:solidFill>
                  <a:srgbClr val="34D399"/>
                </a:solidFill>
                <a:latin typeface="Calibri"/>
              </a:rPr>
              <a:t>zero code changes.</a:t>
            </a:r>
          </a:p>
          <a:p>
            <a:pPr algn="l">
              <a:spcBef>
                <a:spcPts val="200"/>
              </a:spcBef>
              <a:spcAft>
                <a:spcPts val="200"/>
              </a:spcAft>
              <a:buNone/>
            </a:pPr>
            <a:r>
              <a:rPr sz="1150" b="0">
                <a:solidFill>
                  <a:srgbClr val="334155"/>
                </a:solidFill>
                <a:latin typeface="Calibri"/>
              </a:rPr>
              <a:t>Colours are assigned deterministically from the sorted reason list — a new reason just takes the next colour. Policy (non-productive set, groups, streak targets) is env-driven.</a:t>
            </a:r>
          </a:p>
        </p:txBody>
      </p:sp>
    </p:spTree>
    <p:extLst>
      <p:ext uri="{BB962C8B-B14F-4D97-AF65-F5344CB8AC3E}">
        <p14:creationId xmlns:p14="http://schemas.microsoft.com/office/powerpoint/2010/main" val="2982530813"/>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19 · TESTING &amp; VERIFICATION</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The risky parts — cleaning and analysis — carry the tests</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19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99949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554480"/>
            <a:ext cx="5532120" cy="306324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400"/>
              </a:spcAft>
              <a:buNone/>
            </a:pPr>
            <a:r>
              <a:rPr sz="1450" b="1">
                <a:solidFill>
                  <a:srgbClr val="0F172A"/>
                </a:solidFill>
                <a:latin typeface="Calibri"/>
              </a:rPr>
              <a:t>Backend — 25 tests (unit + DRF integration)</a:t>
            </a:r>
          </a:p>
          <a:p>
            <a:pPr marL="182880" indent="-182880" algn="l">
              <a:spcBef>
                <a:spcPts val="200"/>
              </a:spcBef>
              <a:spcAft>
                <a:spcPts val="200"/>
              </a:spcAft>
              <a:buFont typeface="Arial"/>
              <a:buChar char="•"/>
            </a:pPr>
            <a:r>
              <a:rPr sz="1150" b="0">
                <a:solidFill>
                  <a:srgbClr val="0F172A"/>
                </a:solidFill>
                <a:latin typeface="Calibri"/>
              </a:rPr>
              <a:t>Every cleaning issue code (recover vs exclude)</a:t>
            </a:r>
          </a:p>
          <a:p>
            <a:pPr marL="182880" indent="-182880" algn="l">
              <a:spcBef>
                <a:spcPts val="200"/>
              </a:spcBef>
              <a:spcAft>
                <a:spcPts val="200"/>
              </a:spcAft>
              <a:buFont typeface="Arial"/>
              <a:buChar char="•"/>
            </a:pPr>
            <a:r>
              <a:rPr sz="1150" b="0">
                <a:solidFill>
                  <a:srgbClr val="0F172A"/>
                </a:solidFill>
                <a:latin typeface="Calibri"/>
              </a:rPr>
              <a:t>Efficiency exclusion + configurable non-productive set</a:t>
            </a:r>
          </a:p>
          <a:p>
            <a:pPr marL="182880" indent="-182880" algn="l">
              <a:spcBef>
                <a:spcPts val="200"/>
              </a:spcBef>
              <a:spcAft>
                <a:spcPts val="200"/>
              </a:spcAft>
              <a:buFont typeface="Arial"/>
              <a:buChar char="•"/>
            </a:pPr>
            <a:r>
              <a:rPr sz="1150" b="0">
                <a:solidFill>
                  <a:srgbClr val="0F172A"/>
                </a:solidFill>
                <a:latin typeface="Calibri"/>
              </a:rPr>
              <a:t>Consecutive-day streak logic + configurable targets</a:t>
            </a:r>
          </a:p>
          <a:p>
            <a:pPr marL="182880" indent="-182880" algn="l">
              <a:spcBef>
                <a:spcPts val="200"/>
              </a:spcBef>
              <a:spcAft>
                <a:spcPts val="200"/>
              </a:spcAft>
              <a:buFont typeface="Arial"/>
              <a:buChar char="•"/>
            </a:pPr>
            <a:r>
              <a:rPr sz="1150" b="0">
                <a:solidFill>
                  <a:srgbClr val="0F172A"/>
                </a:solidFill>
                <a:latin typeface="Calibri"/>
              </a:rPr>
              <a:t>Overnight-axis handling · insight generation</a:t>
            </a:r>
          </a:p>
          <a:p>
            <a:pPr marL="182880" indent="-182880" algn="l">
              <a:spcBef>
                <a:spcPts val="200"/>
              </a:spcBef>
              <a:spcAft>
                <a:spcPts val="200"/>
              </a:spcAft>
              <a:buFont typeface="Arial"/>
              <a:buChar char="•"/>
            </a:pPr>
            <a:r>
              <a:rPr sz="1150" b="0">
                <a:solidFill>
                  <a:srgbClr val="0F172A"/>
                </a:solidFill>
                <a:latin typeface="Calibri"/>
              </a:rPr>
              <a:t>Reason grouping · reliability math</a:t>
            </a:r>
          </a:p>
          <a:p>
            <a:pPr marL="182880" indent="-182880" algn="l">
              <a:spcBef>
                <a:spcPts val="200"/>
              </a:spcBef>
              <a:spcAft>
                <a:spcPts val="200"/>
              </a:spcAft>
              <a:buFont typeface="Arial"/>
              <a:buChar char="•"/>
            </a:pPr>
            <a:r>
              <a:rPr sz="1150" b="0">
                <a:solidFill>
                  <a:srgbClr val="0F172A"/>
                </a:solidFill>
                <a:latin typeface="Calibri"/>
              </a:rPr>
              <a:t>API integration: exact numbers, filters, grouping round-trip, CSV download</a:t>
            </a:r>
          </a:p>
        </p:txBody>
      </p:sp>
      <p:sp>
        <p:nvSpPr>
          <p:cNvPr id="14" name="Rounded Rectangle 13"/>
          <p:cNvSpPr/>
          <p:nvPr/>
        </p:nvSpPr>
        <p:spPr>
          <a:xfrm>
            <a:off x="6263640" y="1554480"/>
            <a:ext cx="5367528" cy="306324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400"/>
              </a:spcAft>
              <a:buNone/>
            </a:pPr>
            <a:r>
              <a:rPr sz="1450" b="1">
                <a:solidFill>
                  <a:srgbClr val="0F172A"/>
                </a:solidFill>
                <a:latin typeface="Calibri"/>
              </a:rPr>
              <a:t>Frontend — Vitest + RTL</a:t>
            </a:r>
          </a:p>
          <a:p>
            <a:pPr marL="182880" indent="-182880" algn="l">
              <a:spcBef>
                <a:spcPts val="200"/>
              </a:spcBef>
              <a:spcAft>
                <a:spcPts val="200"/>
              </a:spcAft>
              <a:buFont typeface="Arial"/>
              <a:buChar char="•"/>
            </a:pPr>
            <a:r>
              <a:rPr sz="1150" b="0">
                <a:solidFill>
                  <a:srgbClr val="0F172A"/>
                </a:solidFill>
                <a:latin typeface="Calibri"/>
              </a:rPr>
              <a:t>Filter chips render per reason</a:t>
            </a:r>
          </a:p>
          <a:p>
            <a:pPr marL="182880" indent="-182880" algn="l">
              <a:spcBef>
                <a:spcPts val="200"/>
              </a:spcBef>
              <a:spcAft>
                <a:spcPts val="200"/>
              </a:spcAft>
              <a:buFont typeface="Arial"/>
              <a:buChar char="•"/>
            </a:pPr>
            <a:r>
              <a:rPr sz="1150" b="0">
                <a:solidFill>
                  <a:srgbClr val="0F172A"/>
                </a:solidFill>
                <a:latin typeface="Calibri"/>
              </a:rPr>
              <a:t>Group mode collapses reasons into group chips</a:t>
            </a:r>
          </a:p>
          <a:p>
            <a:pPr marL="182880" indent="-182880" algn="l">
              <a:spcBef>
                <a:spcPts val="200"/>
              </a:spcBef>
              <a:spcAft>
                <a:spcPts val="200"/>
              </a:spcAft>
              <a:buFont typeface="Arial"/>
              <a:buChar char="•"/>
            </a:pPr>
            <a:r>
              <a:rPr sz="1150" b="0">
                <a:solidFill>
                  <a:srgbClr val="0F172A"/>
                </a:solidFill>
                <a:latin typeface="Calibri"/>
              </a:rPr>
              <a:t>Toggling a group selects its member reasons</a:t>
            </a:r>
          </a:p>
          <a:p>
            <a:pPr marL="182880" indent="-182880" algn="l">
              <a:spcBef>
                <a:spcPts val="200"/>
              </a:spcBef>
              <a:spcAft>
                <a:spcPts val="200"/>
              </a:spcAft>
              <a:buFont typeface="Arial"/>
              <a:buChar char="•"/>
            </a:pPr>
            <a:r>
              <a:rPr sz="1150" b="0">
                <a:solidFill>
                  <a:srgbClr val="0F172A"/>
                </a:solidFill>
                <a:latin typeface="Calibri"/>
              </a:rPr>
              <a:t>Reliability tiles + empty state</a:t>
            </a:r>
          </a:p>
        </p:txBody>
      </p:sp>
      <p:sp>
        <p:nvSpPr>
          <p:cNvPr id="15" name="Rounded Rectangle 14"/>
          <p:cNvSpPr/>
          <p:nvPr/>
        </p:nvSpPr>
        <p:spPr>
          <a:xfrm>
            <a:off x="566928" y="4846320"/>
            <a:ext cx="11064240" cy="1005840"/>
          </a:xfrm>
          <a:prstGeom prst="roundRect">
            <a:avLst>
              <a:gd name="adj" fmla="val 6000"/>
            </a:avLst>
          </a:prstGeom>
          <a:solidFill>
            <a:srgbClr val="F8FAFC"/>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200"/>
              </a:spcAft>
              <a:buNone/>
            </a:pPr>
            <a:r>
              <a:rPr sz="1300" b="1">
                <a:solidFill>
                  <a:srgbClr val="0F172A"/>
                </a:solidFill>
                <a:latin typeface="Calibri"/>
              </a:rPr>
              <a:t>Every headline number is reproducible from the bundled data:  </a:t>
            </a:r>
            <a:r>
              <a:rPr sz="1300" b="1">
                <a:solidFill>
                  <a:srgbClr val="38BDF8"/>
                </a:solidFill>
                <a:latin typeface="Calibri"/>
              </a:rPr>
              <a:t>51 → 49 valid</a:t>
            </a:r>
            <a:r>
              <a:rPr sz="1300" b="0">
                <a:solidFill>
                  <a:srgbClr val="334155"/>
                </a:solidFill>
                <a:latin typeface="Calibri"/>
              </a:rPr>
              <a:t>  ·  </a:t>
            </a:r>
            <a:r>
              <a:rPr sz="1300" b="1">
                <a:solidFill>
                  <a:srgbClr val="38BDF8"/>
                </a:solidFill>
                <a:latin typeface="Calibri"/>
              </a:rPr>
              <a:t>86.8% efficiency</a:t>
            </a:r>
            <a:r>
              <a:rPr sz="1300" b="0">
                <a:solidFill>
                  <a:srgbClr val="334155"/>
                </a:solidFill>
                <a:latin typeface="Calibri"/>
              </a:rPr>
              <a:t>  ·  </a:t>
            </a:r>
            <a:r>
              <a:rPr sz="1300" b="1">
                <a:solidFill>
                  <a:srgbClr val="38BDF8"/>
                </a:solidFill>
                <a:latin typeface="Calibri"/>
              </a:rPr>
              <a:t>the streaks above</a:t>
            </a:r>
            <a:r>
              <a:rPr sz="1250" b="0">
                <a:solidFill>
                  <a:srgbClr val="0F172A"/>
                </a:solidFill>
                <a:latin typeface="Calibri"/>
              </a:rPr>
              <a:t>  — I re-ran the real pipeline to confirm.</a:t>
            </a:r>
          </a:p>
        </p:txBody>
      </p:sp>
    </p:spTree>
    <p:extLst>
      <p:ext uri="{BB962C8B-B14F-4D97-AF65-F5344CB8AC3E}">
        <p14:creationId xmlns:p14="http://schemas.microsoft.com/office/powerpoint/2010/main" val="647066191"/>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20 · DEPLOYMENT</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It's live — same code on SQLite locally and Postgres in prod</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20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6766560"/>
            <a:ext cx="10528300"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2960" y="2926080"/>
            <a:ext cx="1920240" cy="868680"/>
          </a:xfrm>
          <a:prstGeom prst="roundRect">
            <a:avLst>
              <a:gd name="adj" fmla="val 6000"/>
            </a:avLst>
          </a:prstGeom>
          <a:solidFill>
            <a:srgbClr val="1E293B"/>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F8FAFC"/>
                </a:solidFill>
                <a:latin typeface="Calibri"/>
              </a:rPr>
              <a:t>🌐 Browser</a:t>
            </a:r>
          </a:p>
        </p:txBody>
      </p:sp>
      <p:sp>
        <p:nvSpPr>
          <p:cNvPr id="14" name="Rounded Rectangle 13"/>
          <p:cNvSpPr/>
          <p:nvPr/>
        </p:nvSpPr>
        <p:spPr>
          <a:xfrm>
            <a:off x="3200400" y="2697480"/>
            <a:ext cx="2377440" cy="1325880"/>
          </a:xfrm>
          <a:prstGeom prst="roundRect">
            <a:avLst>
              <a:gd name="adj" fmla="val 6000"/>
            </a:avLst>
          </a:prstGeom>
          <a:solidFill>
            <a:srgbClr val="F8FAFC"/>
          </a:solidFill>
          <a:ln w="19050">
            <a:solidFill>
              <a:srgbClr val="334155"/>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Vercel</a:t>
            </a:r>
          </a:p>
          <a:p>
            <a:pPr algn="ctr">
              <a:spcBef>
                <a:spcPts val="0"/>
              </a:spcBef>
              <a:spcAft>
                <a:spcPts val="0"/>
              </a:spcAft>
              <a:buNone/>
            </a:pPr>
            <a:r>
              <a:rPr sz="1050" b="0">
                <a:solidFill>
                  <a:srgbClr val="334155"/>
                </a:solidFill>
                <a:latin typeface="Calibri"/>
              </a:rPr>
              <a:t>static SPA</a:t>
            </a:r>
          </a:p>
          <a:p>
            <a:pPr algn="ctr">
              <a:spcBef>
                <a:spcPts val="0"/>
              </a:spcBef>
              <a:spcAft>
                <a:spcPts val="0"/>
              </a:spcAft>
              <a:buNone/>
            </a:pPr>
            <a:r>
              <a:rPr sz="1000" b="0">
                <a:solidFill>
                  <a:srgbClr val="0F172A"/>
                </a:solidFill>
                <a:latin typeface="Calibri"/>
              </a:rPr>
              <a:t>(React build)</a:t>
            </a:r>
          </a:p>
        </p:txBody>
      </p:sp>
      <p:sp>
        <p:nvSpPr>
          <p:cNvPr id="15" name="Rounded Rectangle 14"/>
          <p:cNvSpPr/>
          <p:nvPr/>
        </p:nvSpPr>
        <p:spPr>
          <a:xfrm>
            <a:off x="6126480" y="2697480"/>
            <a:ext cx="2651760" cy="1325880"/>
          </a:xfrm>
          <a:prstGeom prst="roundRect">
            <a:avLst>
              <a:gd name="adj" fmla="val 6000"/>
            </a:avLst>
          </a:prstGeom>
          <a:solidFill>
            <a:srgbClr val="F8FAFC"/>
          </a:solidFill>
          <a:ln w="19050">
            <a:solidFill>
              <a:srgbClr val="38BDF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F172A"/>
                </a:solidFill>
                <a:latin typeface="Calibri"/>
              </a:rPr>
              <a:t>Render</a:t>
            </a:r>
          </a:p>
          <a:p>
            <a:pPr algn="ctr">
              <a:spcBef>
                <a:spcPts val="0"/>
              </a:spcBef>
              <a:spcAft>
                <a:spcPts val="0"/>
              </a:spcAft>
              <a:buNone/>
            </a:pPr>
            <a:r>
              <a:rPr sz="1050" b="0">
                <a:solidFill>
                  <a:srgbClr val="0F172A"/>
                </a:solidFill>
                <a:latin typeface="Calibri"/>
              </a:rPr>
              <a:t>gunicorn + Django</a:t>
            </a:r>
          </a:p>
          <a:p>
            <a:pPr algn="ctr">
              <a:spcBef>
                <a:spcPts val="0"/>
              </a:spcBef>
              <a:spcAft>
                <a:spcPts val="0"/>
              </a:spcAft>
              <a:buNone/>
            </a:pPr>
            <a:r>
              <a:rPr sz="1000" b="0">
                <a:solidFill>
                  <a:srgbClr val="334155"/>
                </a:solidFill>
                <a:latin typeface="Calibri"/>
              </a:rPr>
              <a:t>WhiteNoise static</a:t>
            </a:r>
          </a:p>
        </p:txBody>
      </p:sp>
      <p:sp>
        <p:nvSpPr>
          <p:cNvPr id="16" name="Rounded Rectangle 15"/>
          <p:cNvSpPr/>
          <p:nvPr/>
        </p:nvSpPr>
        <p:spPr>
          <a:xfrm>
            <a:off x="9326880" y="2697480"/>
            <a:ext cx="2286000" cy="1325880"/>
          </a:xfrm>
          <a:prstGeom prst="roundRect">
            <a:avLst>
              <a:gd name="adj" fmla="val 6000"/>
            </a:avLst>
          </a:prstGeom>
          <a:solidFill>
            <a:srgbClr val="38BDF8"/>
          </a:solidFill>
          <a:ln>
            <a:no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spcBef>
                <a:spcPts val="0"/>
              </a:spcBef>
              <a:spcAft>
                <a:spcPts val="0"/>
              </a:spcAft>
              <a:buNone/>
            </a:pPr>
            <a:r>
              <a:rPr sz="1300" b="1">
                <a:solidFill>
                  <a:srgbClr val="0B1220"/>
                </a:solidFill>
                <a:latin typeface="Calibri"/>
              </a:rPr>
              <a:t>Supabase</a:t>
            </a:r>
          </a:p>
          <a:p>
            <a:pPr algn="ctr">
              <a:spcBef>
                <a:spcPts val="0"/>
              </a:spcBef>
              <a:spcAft>
                <a:spcPts val="0"/>
              </a:spcAft>
              <a:buNone/>
            </a:pPr>
            <a:r>
              <a:rPr sz="1050" b="0">
                <a:solidFill>
                  <a:srgbClr val="0B1220"/>
                </a:solidFill>
                <a:latin typeface="Calibri"/>
              </a:rPr>
              <a:t>PostgreSQL</a:t>
            </a:r>
          </a:p>
        </p:txBody>
      </p:sp>
      <p:cxnSp>
        <p:nvCxnSpPr>
          <p:cNvPr id="17" name="Connector 16"/>
          <p:cNvCxnSpPr/>
          <p:nvPr/>
        </p:nvCxnSpPr>
        <p:spPr>
          <a:xfrm>
            <a:off x="2743200" y="3337560"/>
            <a:ext cx="45720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77840" y="3337560"/>
            <a:ext cx="548640" cy="0"/>
          </a:xfrm>
          <a:prstGeom prst="line">
            <a:avLst/>
          </a:prstGeom>
          <a:ln w="22225">
            <a:solidFill>
              <a:srgbClr val="33415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394960" y="2999232"/>
            <a:ext cx="1005840" cy="274320"/>
          </a:xfrm>
          <a:prstGeom prst="rect">
            <a:avLst/>
          </a:prstGeom>
          <a:noFill/>
        </p:spPr>
        <p:txBody>
          <a:bodyPr wrap="square" lIns="25400" tIns="25400" rIns="25400" bIns="25400" anchor="t">
            <a:spAutoFit/>
          </a:bodyPr>
          <a:lstStyle/>
          <a:p>
            <a:pPr algn="ctr">
              <a:spcBef>
                <a:spcPts val="200"/>
              </a:spcBef>
              <a:spcAft>
                <a:spcPts val="200"/>
              </a:spcAft>
              <a:buNone/>
            </a:pPr>
            <a:r>
              <a:rPr sz="900" b="1">
                <a:solidFill>
                  <a:srgbClr val="334155"/>
                </a:solidFill>
                <a:latin typeface="Calibri"/>
              </a:rPr>
              <a:t>/api HTTPS</a:t>
            </a:r>
          </a:p>
        </p:txBody>
      </p:sp>
      <p:cxnSp>
        <p:nvCxnSpPr>
          <p:cNvPr id="20" name="Connector 19"/>
          <p:cNvCxnSpPr/>
          <p:nvPr/>
        </p:nvCxnSpPr>
        <p:spPr>
          <a:xfrm>
            <a:off x="8778240" y="3337560"/>
            <a:ext cx="548640" cy="0"/>
          </a:xfrm>
          <a:prstGeom prst="line">
            <a:avLst/>
          </a:prstGeom>
          <a:ln w="22225">
            <a:solidFill>
              <a:srgbClr val="38BD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49640" y="2999232"/>
            <a:ext cx="1097280" cy="274320"/>
          </a:xfrm>
          <a:prstGeom prst="rect">
            <a:avLst/>
          </a:prstGeom>
          <a:noFill/>
        </p:spPr>
        <p:txBody>
          <a:bodyPr wrap="square" lIns="25400" tIns="25400" rIns="25400" bIns="25400" anchor="t">
            <a:spAutoFit/>
          </a:bodyPr>
          <a:lstStyle/>
          <a:p>
            <a:pPr algn="ctr">
              <a:spcBef>
                <a:spcPts val="200"/>
              </a:spcBef>
              <a:spcAft>
                <a:spcPts val="200"/>
              </a:spcAft>
              <a:buNone/>
            </a:pPr>
            <a:r>
              <a:rPr sz="900" b="1">
                <a:solidFill>
                  <a:srgbClr val="334155"/>
                </a:solidFill>
                <a:latin typeface="Calibri"/>
              </a:rPr>
              <a:t>pooler :5432</a:t>
            </a:r>
          </a:p>
        </p:txBody>
      </p:sp>
      <p:sp>
        <p:nvSpPr>
          <p:cNvPr id="22" name="Rounded Rectangle 21"/>
          <p:cNvSpPr/>
          <p:nvPr/>
        </p:nvSpPr>
        <p:spPr>
          <a:xfrm>
            <a:off x="566928" y="4572000"/>
            <a:ext cx="11064240" cy="146304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marL="182880" indent="-182880" algn="l">
              <a:spcBef>
                <a:spcPts val="200"/>
              </a:spcBef>
              <a:spcAft>
                <a:spcPts val="300"/>
              </a:spcAft>
              <a:buFont typeface="Arial"/>
              <a:buChar char="•"/>
            </a:pPr>
            <a:r>
              <a:rPr sz="1250" b="0">
                <a:solidFill>
                  <a:srgbClr val="0F172A"/>
                </a:solidFill>
                <a:latin typeface="Calibri"/>
              </a:rPr>
              <a:t>Same code, two databases — engine chosen from DATABASE_URL via dj-database-url. No schema changes.</a:t>
            </a:r>
          </a:p>
          <a:p>
            <a:pPr marL="182880" indent="-182880" algn="l">
              <a:spcBef>
                <a:spcPts val="200"/>
              </a:spcBef>
              <a:spcAft>
                <a:spcPts val="300"/>
              </a:spcAft>
              <a:buFont typeface="Arial"/>
              <a:buChar char="•"/>
            </a:pPr>
            <a:r>
              <a:rPr sz="1250" b="0">
                <a:solidFill>
                  <a:srgbClr val="0F172A"/>
                </a:solidFill>
                <a:latin typeface="Calibri"/>
              </a:rPr>
              <a:t>Config via env vars (render.yaml); secrets never in code.</a:t>
            </a:r>
          </a:p>
          <a:p>
            <a:pPr marL="182880" indent="-182880" algn="l">
              <a:spcBef>
                <a:spcPts val="200"/>
              </a:spcBef>
              <a:spcAft>
                <a:spcPts val="300"/>
              </a:spcAft>
              <a:buFont typeface="Arial"/>
              <a:buChar char="•"/>
            </a:pPr>
            <a:r>
              <a:rPr sz="1250" b="0">
                <a:solidFill>
                  <a:srgbClr val="0F172A"/>
                </a:solidFill>
                <a:latin typeface="Calibri"/>
              </a:rPr>
              <a:t>RENDER_EXTERNAL_HOSTNAME auto-trusted; CORS locked to the Vercel origin.</a:t>
            </a:r>
          </a:p>
        </p:txBody>
      </p:sp>
    </p:spTree>
    <p:extLst>
      <p:ext uri="{BB962C8B-B14F-4D97-AF65-F5344CB8AC3E}">
        <p14:creationId xmlns:p14="http://schemas.microsoft.com/office/powerpoint/2010/main" val="1167587557"/>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21 · DEMO FLOW &amp; LIMITS</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HOW IT’S BUILT</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What I'd show live — and where I know it would strain</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21 / 21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6766560"/>
            <a:ext cx="11055096"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554480"/>
            <a:ext cx="5532120" cy="429768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400"/>
              </a:spcAft>
              <a:buNone/>
            </a:pPr>
            <a:r>
              <a:rPr sz="1450" b="1">
                <a:solidFill>
                  <a:srgbClr val="0F172A"/>
                </a:solidFill>
                <a:latin typeface="Calibri"/>
              </a:rPr>
              <a:t>Live demo (≈ 3 min)</a:t>
            </a:r>
          </a:p>
          <a:p>
            <a:pPr algn="l">
              <a:spcBef>
                <a:spcPts val="200"/>
              </a:spcBef>
              <a:spcAft>
                <a:spcPts val="300"/>
              </a:spcAft>
              <a:buNone/>
            </a:pPr>
            <a:r>
              <a:rPr sz="1250" b="1">
                <a:solidFill>
                  <a:srgbClr val="334155"/>
                </a:solidFill>
                <a:latin typeface="Calibri"/>
              </a:rPr>
              <a:t>1.  </a:t>
            </a:r>
            <a:r>
              <a:rPr sz="1200" b="0">
                <a:solidFill>
                  <a:srgbClr val="0F172A"/>
                </a:solidFill>
                <a:latin typeface="Calibri"/>
              </a:rPr>
              <a:t>Dashboard + KPI row (efficiency, valid/total).</a:t>
            </a:r>
          </a:p>
          <a:p>
            <a:pPr algn="l">
              <a:spcBef>
                <a:spcPts val="200"/>
              </a:spcBef>
              <a:spcAft>
                <a:spcPts val="300"/>
              </a:spcAft>
              <a:buNone/>
            </a:pPr>
            <a:r>
              <a:rPr sz="1250" b="1">
                <a:solidFill>
                  <a:srgbClr val="334155"/>
                </a:solidFill>
                <a:latin typeface="Calibri"/>
              </a:rPr>
              <a:t>2.  </a:t>
            </a:r>
            <a:r>
              <a:rPr sz="1200" b="0">
                <a:solidFill>
                  <a:srgbClr val="0F172A"/>
                </a:solidFill>
                <a:latin typeface="Calibri"/>
              </a:rPr>
              <a:t>Quality report: a recovered row and an excluded duplicate.</a:t>
            </a:r>
          </a:p>
          <a:p>
            <a:pPr algn="l">
              <a:spcBef>
                <a:spcPts val="200"/>
              </a:spcBef>
              <a:spcAft>
                <a:spcPts val="300"/>
              </a:spcAft>
              <a:buNone/>
            </a:pPr>
            <a:r>
              <a:rPr sz="1250" b="1">
                <a:solidFill>
                  <a:srgbClr val="334155"/>
                </a:solidFill>
                <a:latin typeface="Calibri"/>
              </a:rPr>
              <a:t>3.  </a:t>
            </a:r>
            <a:r>
              <a:rPr sz="1200" b="0">
                <a:solidFill>
                  <a:srgbClr val="0F172A"/>
                </a:solidFill>
                <a:latin typeface="Calibri"/>
              </a:rPr>
              <a:t>Streak preset toggle → the 4-day run appears. (the money moment)</a:t>
            </a:r>
          </a:p>
          <a:p>
            <a:pPr algn="l">
              <a:spcBef>
                <a:spcPts val="200"/>
              </a:spcBef>
              <a:spcAft>
                <a:spcPts val="300"/>
              </a:spcAft>
              <a:buNone/>
            </a:pPr>
            <a:r>
              <a:rPr sz="1250" b="1">
                <a:solidFill>
                  <a:srgbClr val="334155"/>
                </a:solidFill>
                <a:latin typeface="Calibri"/>
              </a:rPr>
              <a:t>4.  </a:t>
            </a:r>
            <a:r>
              <a:rPr sz="1200" b="0">
                <a:solidFill>
                  <a:srgbClr val="0F172A"/>
                </a:solidFill>
                <a:latin typeface="Calibri"/>
              </a:rPr>
              <a:t>Upload sample_new_categories → new reasons everywhere, no code change.</a:t>
            </a:r>
          </a:p>
          <a:p>
            <a:pPr algn="l">
              <a:spcBef>
                <a:spcPts val="200"/>
              </a:spcBef>
              <a:spcAft>
                <a:spcPts val="300"/>
              </a:spcAft>
              <a:buNone/>
            </a:pPr>
            <a:r>
              <a:rPr sz="1250" b="1">
                <a:solidFill>
                  <a:srgbClr val="334155"/>
                </a:solidFill>
                <a:latin typeface="Calibri"/>
              </a:rPr>
              <a:t>5.  </a:t>
            </a:r>
            <a:r>
              <a:rPr sz="1200" b="0">
                <a:solidFill>
                  <a:srgbClr val="0F172A"/>
                </a:solidFill>
                <a:latin typeface="Calibri"/>
              </a:rPr>
              <a:t>Edit groups / ✨ Suggest with AI → charts re-aggregate.</a:t>
            </a:r>
          </a:p>
          <a:p>
            <a:pPr algn="l">
              <a:spcBef>
                <a:spcPts val="200"/>
              </a:spcBef>
              <a:spcAft>
                <a:spcPts val="300"/>
              </a:spcAft>
              <a:buNone/>
            </a:pPr>
            <a:r>
              <a:rPr sz="1250" b="1">
                <a:solidFill>
                  <a:srgbClr val="334155"/>
                </a:solidFill>
                <a:latin typeface="Calibri"/>
              </a:rPr>
              <a:t>6.  </a:t>
            </a:r>
            <a:r>
              <a:rPr sz="1200" b="0">
                <a:solidFill>
                  <a:srgbClr val="0F172A"/>
                </a:solidFill>
                <a:latin typeface="Calibri"/>
              </a:rPr>
              <a:t>AI summary + export CSV.</a:t>
            </a:r>
          </a:p>
        </p:txBody>
      </p:sp>
      <p:sp>
        <p:nvSpPr>
          <p:cNvPr id="14" name="Rounded Rectangle 13"/>
          <p:cNvSpPr/>
          <p:nvPr/>
        </p:nvSpPr>
        <p:spPr>
          <a:xfrm>
            <a:off x="6263640" y="1554480"/>
            <a:ext cx="5367528" cy="4297680"/>
          </a:xfrm>
          <a:prstGeom prst="roundRect">
            <a:avLst>
              <a:gd name="adj" fmla="val 6000"/>
            </a:avLst>
          </a:prstGeom>
          <a:solidFill>
            <a:srgbClr val="F8FAFC"/>
          </a:solidFill>
          <a:ln w="12700">
            <a:solidFill>
              <a:srgbClr val="94A3B8"/>
            </a:solidFill>
          </a:ln>
          <a:effectLst>
            <a:outerShdw blurRad="64008" dist="36576" dir="5400000" rotWithShape="0">
              <a:srgbClr val="0F172A">
                <a:alpha val="24000"/>
              </a:srgbClr>
            </a:outerShdw>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spcBef>
                <a:spcPts val="200"/>
              </a:spcBef>
              <a:spcAft>
                <a:spcPts val="400"/>
              </a:spcAft>
              <a:buNone/>
            </a:pPr>
            <a:r>
              <a:rPr sz="1450" b="1">
                <a:solidFill>
                  <a:srgbClr val="0F172A"/>
                </a:solidFill>
                <a:latin typeface="Calibri"/>
              </a:rPr>
              <a:t>Honest limitations / next steps</a:t>
            </a:r>
          </a:p>
          <a:p>
            <a:pPr marL="182880" indent="-182880" algn="l">
              <a:spcBef>
                <a:spcPts val="200"/>
              </a:spcBef>
              <a:spcAft>
                <a:spcPts val="400"/>
              </a:spcAft>
              <a:buFont typeface="Arial"/>
              <a:buChar char="•"/>
            </a:pPr>
            <a:r>
              <a:rPr sz="1200" b="0">
                <a:solidFill>
                  <a:srgbClr val="0F172A"/>
                </a:solidFill>
                <a:latin typeface="Calibri"/>
              </a:rPr>
              <a:t>Scale: move heavy aggregation into SQL + paginate large uploads (pipeline is in-memory today).</a:t>
            </a:r>
          </a:p>
          <a:p>
            <a:pPr marL="182880" indent="-182880" algn="l">
              <a:spcBef>
                <a:spcPts val="200"/>
              </a:spcBef>
              <a:spcAft>
                <a:spcPts val="400"/>
              </a:spcAft>
              <a:buFont typeface="Arial"/>
              <a:buChar char="•"/>
            </a:pPr>
            <a:r>
              <a:rPr sz="1200" b="0">
                <a:solidFill>
                  <a:srgbClr val="0F172A"/>
                </a:solidFill>
                <a:latin typeface="Calibri"/>
              </a:rPr>
              <a:t>Auth &amp; multi-user: active dataset is a singleton → add per-user workspaces.</a:t>
            </a:r>
          </a:p>
          <a:p>
            <a:pPr marL="182880" indent="-182880" algn="l">
              <a:spcBef>
                <a:spcPts val="200"/>
              </a:spcBef>
              <a:spcAft>
                <a:spcPts val="400"/>
              </a:spcAft>
              <a:buFont typeface="Arial"/>
              <a:buChar char="•"/>
            </a:pPr>
            <a:r>
              <a:rPr sz="1200" b="0">
                <a:solidFill>
                  <a:srgbClr val="0F172A"/>
                </a:solidFill>
                <a:latin typeface="Calibri"/>
              </a:rPr>
              <a:t>Streaming AI summary + caching for identical views.</a:t>
            </a:r>
          </a:p>
          <a:p>
            <a:pPr marL="182880" indent="-182880" algn="l">
              <a:spcBef>
                <a:spcPts val="200"/>
              </a:spcBef>
              <a:spcAft>
                <a:spcPts val="400"/>
              </a:spcAft>
              <a:buFont typeface="Arial"/>
              <a:buChar char="•"/>
            </a:pPr>
            <a:r>
              <a:rPr sz="1200" b="0">
                <a:solidFill>
                  <a:srgbClr val="0F172A"/>
                </a:solidFill>
                <a:latin typeface="Calibri"/>
              </a:rPr>
              <a:t>Drill-down from a Pareto bar to its records.</a:t>
            </a:r>
          </a:p>
          <a:p>
            <a:pPr algn="l">
              <a:spcBef>
                <a:spcPts val="600"/>
              </a:spcBef>
              <a:spcAft>
                <a:spcPts val="200"/>
              </a:spcAft>
              <a:buNone/>
            </a:pPr>
            <a:r>
              <a:rPr sz="1200" b="1">
                <a:solidFill>
                  <a:srgbClr val="0F172A"/>
                </a:solidFill>
                <a:latin typeface="Calibri"/>
              </a:rPr>
              <a:t>I'd rather show I know the edges of my solution than pretend it has none.</a:t>
            </a:r>
          </a:p>
        </p:txBody>
      </p:sp>
    </p:spTree>
    <p:extLst>
      <p:ext uri="{BB962C8B-B14F-4D97-AF65-F5344CB8AC3E}">
        <p14:creationId xmlns:p14="http://schemas.microsoft.com/office/powerpoint/2010/main" val="2519842928"/>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601200" y="4297680"/>
            <a:ext cx="4023360" cy="402336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149840" y="4846320"/>
            <a:ext cx="2926080" cy="292608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75619" y="5372100"/>
            <a:ext cx="1874519" cy="1874519"/>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658368"/>
            <a:ext cx="7315200" cy="292608"/>
          </a:xfrm>
          <a:prstGeom prst="rect">
            <a:avLst/>
          </a:prstGeom>
          <a:noFill/>
        </p:spPr>
        <p:txBody>
          <a:bodyPr wrap="square" lIns="25400" tIns="25400" rIns="25400" bIns="25400" anchor="t">
            <a:spAutoFit/>
          </a:bodyPr>
          <a:lstStyle/>
          <a:p>
            <a:pPr algn="l">
              <a:spcBef>
                <a:spcPts val="200"/>
              </a:spcBef>
              <a:spcAft>
                <a:spcPts val="200"/>
              </a:spcAft>
              <a:buNone/>
            </a:pPr>
            <a:r>
              <a:rPr sz="1300" b="1">
                <a:solidFill>
                  <a:srgbClr val="38BDF8"/>
                </a:solidFill>
                <a:latin typeface="Calibri"/>
              </a:rPr>
              <a:t>IN SUMMARY</a:t>
            </a:r>
          </a:p>
        </p:txBody>
      </p:sp>
      <p:sp>
        <p:nvSpPr>
          <p:cNvPr id="7" name="Rectangle 6"/>
          <p:cNvSpPr/>
          <p:nvPr/>
        </p:nvSpPr>
        <p:spPr>
          <a:xfrm>
            <a:off x="822960" y="1572768"/>
            <a:ext cx="1371600" cy="640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914400"/>
            <a:ext cx="10515600" cy="777240"/>
          </a:xfrm>
          <a:prstGeom prst="rect">
            <a:avLst/>
          </a:prstGeom>
          <a:noFill/>
        </p:spPr>
        <p:txBody>
          <a:bodyPr wrap="square" lIns="25400" tIns="25400" rIns="25400" bIns="25400" anchor="t">
            <a:spAutoFit/>
          </a:bodyPr>
          <a:lstStyle/>
          <a:p>
            <a:pPr algn="l">
              <a:spcBef>
                <a:spcPts val="200"/>
              </a:spcBef>
              <a:spcAft>
                <a:spcPts val="200"/>
              </a:spcAft>
              <a:buNone/>
            </a:pPr>
            <a:r>
              <a:rPr sz="3600" b="1">
                <a:solidFill>
                  <a:srgbClr val="F8FAFC"/>
                </a:solidFill>
                <a:latin typeface="Calibri"/>
              </a:rPr>
              <a:t>Summary</a:t>
            </a:r>
          </a:p>
        </p:txBody>
      </p:sp>
      <p:sp>
        <p:nvSpPr>
          <p:cNvPr id="9" name="Oval 8"/>
          <p:cNvSpPr/>
          <p:nvPr/>
        </p:nvSpPr>
        <p:spPr>
          <a:xfrm>
            <a:off x="868680" y="2039112"/>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965960"/>
            <a:ext cx="10241280" cy="685800"/>
          </a:xfrm>
          <a:prstGeom prst="rect">
            <a:avLst/>
          </a:prstGeom>
          <a:noFill/>
        </p:spPr>
        <p:txBody>
          <a:bodyPr wrap="square" lIns="25400" tIns="25400" rIns="25400" bIns="25400" anchor="t">
            <a:spAutoFit/>
          </a:bodyPr>
          <a:lstStyle/>
          <a:p>
            <a:pPr algn="l">
              <a:spcBef>
                <a:spcPts val="200"/>
              </a:spcBef>
              <a:spcAft>
                <a:spcPts val="200"/>
              </a:spcAft>
              <a:buNone/>
            </a:pPr>
            <a:r>
              <a:rPr sz="1500" b="1">
                <a:solidFill>
                  <a:srgbClr val="F8FAFC"/>
                </a:solidFill>
                <a:latin typeface="Calibri"/>
              </a:rPr>
              <a:t>Messy data, handled honestly  —  </a:t>
            </a:r>
            <a:r>
              <a:rPr sz="1300" b="0">
                <a:solidFill>
                  <a:srgbClr val="94A3B8"/>
                </a:solidFill>
                <a:latin typeface="Calibri"/>
              </a:rPr>
              <a:t>10 issue types, recover-or-exclude, full audit trail. Nothing silently dropped.</a:t>
            </a:r>
          </a:p>
        </p:txBody>
      </p:sp>
      <p:sp>
        <p:nvSpPr>
          <p:cNvPr id="11" name="Oval 10"/>
          <p:cNvSpPr/>
          <p:nvPr/>
        </p:nvSpPr>
        <p:spPr>
          <a:xfrm>
            <a:off x="868680" y="2788920"/>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2715768"/>
            <a:ext cx="10241280" cy="685800"/>
          </a:xfrm>
          <a:prstGeom prst="rect">
            <a:avLst/>
          </a:prstGeom>
          <a:noFill/>
        </p:spPr>
        <p:txBody>
          <a:bodyPr wrap="square" lIns="25400" tIns="25400" rIns="25400" bIns="25400" anchor="t">
            <a:spAutoFit/>
          </a:bodyPr>
          <a:lstStyle/>
          <a:p>
            <a:pPr algn="l">
              <a:spcBef>
                <a:spcPts val="200"/>
              </a:spcBef>
              <a:spcAft>
                <a:spcPts val="200"/>
              </a:spcAft>
              <a:buNone/>
            </a:pPr>
            <a:r>
              <a:rPr sz="1500" b="1">
                <a:solidFill>
                  <a:srgbClr val="F8FAFC"/>
                </a:solidFill>
                <a:latin typeface="Calibri"/>
              </a:rPr>
              <a:t>Defensible analytics  —  </a:t>
            </a:r>
            <a:r>
              <a:rPr sz="1300" b="0">
                <a:solidFill>
                  <a:srgbClr val="94A3B8"/>
                </a:solidFill>
                <a:latin typeface="Calibri"/>
              </a:rPr>
              <a:t>Efficiency, streaks, reliability — written assumptions, reproducible numbers.</a:t>
            </a:r>
          </a:p>
        </p:txBody>
      </p:sp>
      <p:sp>
        <p:nvSpPr>
          <p:cNvPr id="13" name="Oval 12"/>
          <p:cNvSpPr/>
          <p:nvPr/>
        </p:nvSpPr>
        <p:spPr>
          <a:xfrm>
            <a:off x="868680" y="3538727"/>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3465575"/>
            <a:ext cx="10241280" cy="685800"/>
          </a:xfrm>
          <a:prstGeom prst="rect">
            <a:avLst/>
          </a:prstGeom>
          <a:noFill/>
        </p:spPr>
        <p:txBody>
          <a:bodyPr wrap="square" lIns="25400" tIns="25400" rIns="25400" bIns="25400" anchor="t">
            <a:spAutoFit/>
          </a:bodyPr>
          <a:lstStyle/>
          <a:p>
            <a:pPr algn="l">
              <a:spcBef>
                <a:spcPts val="200"/>
              </a:spcBef>
              <a:spcAft>
                <a:spcPts val="200"/>
              </a:spcAft>
              <a:buNone/>
            </a:pPr>
            <a:r>
              <a:rPr sz="1500" b="1">
                <a:solidFill>
                  <a:srgbClr val="F8FAFC"/>
                </a:solidFill>
                <a:latin typeface="Calibri"/>
              </a:rPr>
              <a:t>Genuinely extensible  —  </a:t>
            </a:r>
            <a:r>
              <a:rPr sz="1300" b="0">
                <a:solidFill>
                  <a:srgbClr val="94A3B8"/>
                </a:solidFill>
                <a:latin typeface="Calibri"/>
              </a:rPr>
              <a:t>No hardcoded categories; grouping re-flows everything, proven with new-category data.</a:t>
            </a:r>
          </a:p>
        </p:txBody>
      </p:sp>
      <p:sp>
        <p:nvSpPr>
          <p:cNvPr id="15" name="Oval 14"/>
          <p:cNvSpPr/>
          <p:nvPr/>
        </p:nvSpPr>
        <p:spPr>
          <a:xfrm>
            <a:off x="868680" y="4288536"/>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215383"/>
            <a:ext cx="10241280" cy="282129"/>
          </a:xfrm>
          <a:prstGeom prst="rect">
            <a:avLst/>
          </a:prstGeom>
          <a:noFill/>
        </p:spPr>
        <p:txBody>
          <a:bodyPr wrap="square" lIns="25400" tIns="25400" rIns="25400" bIns="25400" anchor="t">
            <a:spAutoFit/>
          </a:bodyPr>
          <a:lstStyle/>
          <a:p>
            <a:pPr algn="l">
              <a:spcBef>
                <a:spcPts val="200"/>
              </a:spcBef>
              <a:spcAft>
                <a:spcPts val="200"/>
              </a:spcAft>
              <a:buNone/>
            </a:pPr>
            <a:r>
              <a:rPr sz="1500" b="1" dirty="0">
                <a:solidFill>
                  <a:srgbClr val="F8FAFC"/>
                </a:solidFill>
                <a:latin typeface="Calibri"/>
              </a:rPr>
              <a:t>Engineered like production  —  </a:t>
            </a:r>
            <a:r>
              <a:rPr sz="1300" b="0" dirty="0">
                <a:solidFill>
                  <a:srgbClr val="94A3B8"/>
                </a:solidFill>
                <a:latin typeface="Calibri"/>
              </a:rPr>
              <a:t>Server-side logic, live deploy, optional AI that can't fabricate.</a:t>
            </a:r>
          </a:p>
        </p:txBody>
      </p:sp>
      <p:sp>
        <p:nvSpPr>
          <p:cNvPr id="17" name="TextBox 16"/>
          <p:cNvSpPr txBox="1"/>
          <p:nvPr/>
        </p:nvSpPr>
        <p:spPr>
          <a:xfrm>
            <a:off x="822960" y="5257800"/>
            <a:ext cx="10515600" cy="1097280"/>
          </a:xfrm>
          <a:prstGeom prst="rect">
            <a:avLst/>
          </a:prstGeom>
          <a:noFill/>
        </p:spPr>
        <p:txBody>
          <a:bodyPr wrap="square" lIns="25400" tIns="25400" rIns="25400" bIns="25400" anchor="t">
            <a:spAutoFit/>
          </a:bodyPr>
          <a:lstStyle/>
          <a:p>
            <a:pPr algn="l">
              <a:spcBef>
                <a:spcPts val="200"/>
              </a:spcBef>
              <a:spcAft>
                <a:spcPts val="600"/>
              </a:spcAft>
              <a:buNone/>
            </a:pPr>
            <a:r>
              <a:rPr sz="2000" b="1" dirty="0">
                <a:solidFill>
                  <a:srgbClr val="F8FAFC"/>
                </a:solidFill>
                <a:latin typeface="Calibri"/>
              </a:rPr>
              <a:t>Thank you — happy to dive into any layer.</a:t>
            </a:r>
          </a:p>
          <a:p>
            <a:pPr algn="l">
              <a:spcBef>
                <a:spcPts val="600"/>
              </a:spcBef>
              <a:spcAft>
                <a:spcPts val="200"/>
              </a:spcAft>
              <a:buNone/>
            </a:pPr>
            <a:r>
              <a:rPr sz="1400" b="1" dirty="0">
                <a:solidFill>
                  <a:srgbClr val="38BDF8"/>
                </a:solidFill>
                <a:latin typeface="Calibri"/>
              </a:rPr>
              <a:t>Md Raisul Islam Rahad</a:t>
            </a:r>
            <a:r>
              <a:rPr sz="1200" b="0" dirty="0">
                <a:solidFill>
                  <a:srgbClr val="94A3B8"/>
                </a:solidFill>
                <a:latin typeface="Calibri"/>
              </a:rPr>
              <a:t>    ·    github.com/</a:t>
            </a:r>
            <a:r>
              <a:rPr sz="1200" b="0" dirty="0" err="1">
                <a:solidFill>
                  <a:srgbClr val="94A3B8"/>
                </a:solidFill>
                <a:latin typeface="Calibri"/>
              </a:rPr>
              <a:t>raisulll</a:t>
            </a:r>
            <a:r>
              <a:rPr sz="1200" b="0" dirty="0">
                <a:solidFill>
                  <a:srgbClr val="94A3B8"/>
                </a:solidFill>
                <a:latin typeface="Calibri"/>
              </a:rPr>
              <a:t>    ·    </a:t>
            </a:r>
            <a:r>
              <a:rPr sz="1300" b="1" dirty="0">
                <a:solidFill>
                  <a:srgbClr val="38BDF8"/>
                </a:solidFill>
                <a:latin typeface="Calibri"/>
              </a:rPr>
              <a:t>shift-operations-</a:t>
            </a:r>
            <a:r>
              <a:rPr sz="1300" b="1" dirty="0" err="1">
                <a:solidFill>
                  <a:srgbClr val="38BDF8"/>
                </a:solidFill>
                <a:latin typeface="Calibri"/>
              </a:rPr>
              <a:t>analytics.vercel.app</a:t>
            </a:r>
            <a:endParaRPr sz="1300" b="1" dirty="0">
              <a:solidFill>
                <a:srgbClr val="38BDF8"/>
              </a:solidFill>
              <a:latin typeface="Calibri"/>
            </a:endParaRPr>
          </a:p>
        </p:txBody>
      </p:sp>
    </p:spTree>
    <p:extLst>
      <p:ext uri="{BB962C8B-B14F-4D97-AF65-F5344CB8AC3E}">
        <p14:creationId xmlns:p14="http://schemas.microsoft.com/office/powerpoint/2010/main" val="741348391"/>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0F172A"/>
              </a:gs>
              <a:gs pos="100000">
                <a:srgbClr val="0B1220"/>
              </a:gs>
            </a:gsLst>
            <a:lin ang="14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95360" y="1280160"/>
            <a:ext cx="3931920" cy="393192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0" y="1828799"/>
            <a:ext cx="2834640" cy="2834640"/>
          </a:xfrm>
          <a:prstGeom prst="roundRect">
            <a:avLst>
              <a:gd name="adj" fmla="val 12000"/>
            </a:avLst>
          </a:prstGeom>
          <a:no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46920" y="2331720"/>
            <a:ext cx="1828800" cy="1828800"/>
          </a:xfrm>
          <a:prstGeom prst="roundRect">
            <a:avLst>
              <a:gd name="adj" fmla="val 12000"/>
            </a:avLst>
          </a:prstGeom>
          <a:no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46920" y="2560320"/>
            <a:ext cx="1828800" cy="1371600"/>
          </a:xfrm>
          <a:prstGeom prst="rect">
            <a:avLst/>
          </a:prstGeom>
          <a:noFill/>
        </p:spPr>
        <p:txBody>
          <a:bodyPr wrap="square" lIns="25400" tIns="25400" rIns="25400" bIns="25400" anchor="ctr">
            <a:spAutoFit/>
          </a:bodyPr>
          <a:lstStyle/>
          <a:p>
            <a:pPr algn="ctr">
              <a:spcBef>
                <a:spcPts val="0"/>
              </a:spcBef>
              <a:spcAft>
                <a:spcPts val="0"/>
              </a:spcAft>
              <a:buNone/>
            </a:pPr>
            <a:r>
              <a:rPr sz="6000" b="1">
                <a:solidFill>
                  <a:srgbClr val="38BDF8"/>
                </a:solidFill>
                <a:latin typeface="Calibri"/>
              </a:rPr>
              <a:t>?</a:t>
            </a:r>
          </a:p>
        </p:txBody>
      </p:sp>
      <p:sp>
        <p:nvSpPr>
          <p:cNvPr id="7" name="TextBox 6"/>
          <p:cNvSpPr txBox="1"/>
          <p:nvPr/>
        </p:nvSpPr>
        <p:spPr>
          <a:xfrm>
            <a:off x="822960" y="2148840"/>
            <a:ext cx="6583680" cy="365760"/>
          </a:xfrm>
          <a:prstGeom prst="rect">
            <a:avLst/>
          </a:prstGeom>
          <a:noFill/>
        </p:spPr>
        <p:txBody>
          <a:bodyPr wrap="square" lIns="25400" tIns="25400" rIns="25400" bIns="25400" anchor="t">
            <a:spAutoFit/>
          </a:bodyPr>
          <a:lstStyle/>
          <a:p>
            <a:pPr algn="l">
              <a:spcBef>
                <a:spcPts val="0"/>
              </a:spcBef>
              <a:spcAft>
                <a:spcPts val="0"/>
              </a:spcAft>
              <a:buNone/>
            </a:pPr>
            <a:r>
              <a:rPr sz="1400" b="1">
                <a:solidFill>
                  <a:srgbClr val="38BDF8"/>
                </a:solidFill>
                <a:latin typeface="Calibri"/>
              </a:rPr>
              <a:t>APPENDIX</a:t>
            </a:r>
          </a:p>
        </p:txBody>
      </p:sp>
      <p:sp>
        <p:nvSpPr>
          <p:cNvPr id="8" name="TextBox 7"/>
          <p:cNvSpPr txBox="1"/>
          <p:nvPr/>
        </p:nvSpPr>
        <p:spPr>
          <a:xfrm>
            <a:off x="786384" y="2487168"/>
            <a:ext cx="6766560" cy="1554480"/>
          </a:xfrm>
          <a:prstGeom prst="rect">
            <a:avLst/>
          </a:prstGeom>
          <a:noFill/>
        </p:spPr>
        <p:txBody>
          <a:bodyPr wrap="square" lIns="25400" tIns="25400" rIns="25400" bIns="25400" anchor="t">
            <a:spAutoFit/>
          </a:bodyPr>
          <a:lstStyle/>
          <a:p>
            <a:pPr algn="l">
              <a:spcBef>
                <a:spcPts val="0"/>
              </a:spcBef>
              <a:spcAft>
                <a:spcPts val="0"/>
              </a:spcAft>
              <a:buNone/>
            </a:pPr>
            <a:r>
              <a:rPr sz="3800" b="1">
                <a:solidFill>
                  <a:srgbClr val="F8FAFC"/>
                </a:solidFill>
                <a:latin typeface="Calibri"/>
              </a:rPr>
              <a:t>Anticipated</a:t>
            </a:r>
          </a:p>
          <a:p>
            <a:r>
              <a:rPr sz="3800" b="1">
                <a:solidFill>
                  <a:srgbClr val="F8FAFC"/>
                </a:solidFill>
                <a:latin typeface="Calibri"/>
              </a:rPr>
              <a:t>questions</a:t>
            </a:r>
          </a:p>
        </p:txBody>
      </p:sp>
      <p:sp>
        <p:nvSpPr>
          <p:cNvPr id="9" name="Rectangle 8"/>
          <p:cNvSpPr/>
          <p:nvPr/>
        </p:nvSpPr>
        <p:spPr>
          <a:xfrm>
            <a:off x="822960" y="4023360"/>
            <a:ext cx="1371600" cy="640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343400"/>
            <a:ext cx="6675120" cy="1645920"/>
          </a:xfrm>
          <a:prstGeom prst="rect">
            <a:avLst/>
          </a:prstGeom>
          <a:noFill/>
        </p:spPr>
        <p:txBody>
          <a:bodyPr wrap="square" lIns="25400" tIns="25400" rIns="25400" bIns="25400" anchor="t">
            <a:spAutoFit/>
          </a:bodyPr>
          <a:lstStyle/>
          <a:p>
            <a:pPr algn="l">
              <a:spcBef>
                <a:spcPts val="300"/>
              </a:spcBef>
              <a:spcAft>
                <a:spcPts val="300"/>
              </a:spcAft>
              <a:buNone/>
            </a:pPr>
            <a:r>
              <a:rPr sz="1300" b="1">
                <a:solidFill>
                  <a:srgbClr val="38BDF8"/>
                </a:solidFill>
                <a:latin typeface="Calibri"/>
              </a:rPr>
              <a:t>—  </a:t>
            </a:r>
            <a:r>
              <a:rPr sz="1300" b="0">
                <a:solidFill>
                  <a:srgbClr val="94A3B8"/>
                </a:solidFill>
                <a:latin typeface="Calibri"/>
              </a:rPr>
              <a:t>Prepared answers to the questions a technical panel is most likely to ask.</a:t>
            </a:r>
          </a:p>
        </p:txBody>
      </p:sp>
    </p:spTree>
    <p:extLst>
      <p:ext uri="{BB962C8B-B14F-4D97-AF65-F5344CB8AC3E}">
        <p14:creationId xmlns:p14="http://schemas.microsoft.com/office/powerpoint/2010/main" val="1837118522"/>
      </p:ext>
    </p:extLst>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Q&amp;A · ARCHITECTURE &amp; DATA</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APPENDIX · Q&amp;A PREP</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Anticipated questions — architecture &amp; data</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A1</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6766560"/>
            <a:ext cx="11055096"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572768"/>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Why put all analysis on the backend, not the client?</a:t>
            </a:r>
          </a:p>
          <a:p>
            <a:pPr>
              <a:lnSpc>
                <a:spcPct val="114000"/>
              </a:lnSpc>
            </a:pPr>
            <a:r>
              <a:rPr sz="1300" b="1">
                <a:solidFill>
                  <a:srgbClr val="34D399"/>
                </a:solidFill>
                <a:latin typeface="Calibri"/>
              </a:rPr>
              <a:t>A  </a:t>
            </a:r>
            <a:r>
              <a:rPr sz="1150" b="0">
                <a:solidFill>
                  <a:srgbClr val="334155"/>
                </a:solidFill>
                <a:latin typeface="Calibri"/>
              </a:rPr>
              <a:t>One source of truth, testable in isolation, reusable by any client, and heavy pandas work stays off the browser. Trade-off: a round-trip per interaction — negligible at this scale.</a:t>
            </a:r>
          </a:p>
        </p:txBody>
      </p:sp>
      <p:sp>
        <p:nvSpPr>
          <p:cNvPr id="14" name="Rounded Rectangle 13"/>
          <p:cNvSpPr/>
          <p:nvPr/>
        </p:nvSpPr>
        <p:spPr>
          <a:xfrm>
            <a:off x="6227064" y="1572768"/>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Why SQLite locally but Postgres in production?</a:t>
            </a:r>
          </a:p>
          <a:p>
            <a:pPr>
              <a:lnSpc>
                <a:spcPct val="114000"/>
              </a:lnSpc>
            </a:pPr>
            <a:r>
              <a:rPr sz="1300" b="1">
                <a:solidFill>
                  <a:srgbClr val="34D399"/>
                </a:solidFill>
                <a:latin typeface="Calibri"/>
              </a:rPr>
              <a:t>A  </a:t>
            </a:r>
            <a:r>
              <a:rPr sz="1150" b="0">
                <a:solidFill>
                  <a:srgbClr val="334155"/>
                </a:solidFill>
                <a:latin typeface="Calibri"/>
              </a:rPr>
              <a:t>Zero-setup dev vs durable, concurrent prod. dj-database-url picks the engine from DATABASE_URL — identical models and migrations, no code change.</a:t>
            </a:r>
          </a:p>
        </p:txBody>
      </p:sp>
      <p:sp>
        <p:nvSpPr>
          <p:cNvPr id="15" name="Rounded Rectangle 14"/>
          <p:cNvSpPr/>
          <p:nvPr/>
        </p:nvSpPr>
        <p:spPr>
          <a:xfrm>
            <a:off x="566928" y="3986784"/>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What happens when HOURS and the timestamps disagree?</a:t>
            </a:r>
          </a:p>
          <a:p>
            <a:pPr>
              <a:lnSpc>
                <a:spcPct val="114000"/>
              </a:lnSpc>
            </a:pPr>
            <a:r>
              <a:rPr sz="1300" b="1">
                <a:solidFill>
                  <a:srgbClr val="34D399"/>
                </a:solidFill>
                <a:latin typeface="Calibri"/>
              </a:rPr>
              <a:t>A  </a:t>
            </a:r>
            <a:r>
              <a:rPr sz="1150" b="0">
                <a:solidFill>
                  <a:srgbClr val="334155"/>
                </a:solidFill>
                <a:latin typeface="Calibri"/>
              </a:rPr>
              <a:t>Timestamps win — HOURS is recomputed. One explicit rule resolves a whole class of conflicts consistently, and it’s configurable if the opposite were wanted.</a:t>
            </a:r>
          </a:p>
        </p:txBody>
      </p:sp>
      <p:sp>
        <p:nvSpPr>
          <p:cNvPr id="16" name="Rounded Rectangle 15"/>
          <p:cNvSpPr/>
          <p:nvPr/>
        </p:nvSpPr>
        <p:spPr>
          <a:xfrm>
            <a:off x="6227064" y="3986784"/>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How do you handle a brand-new failure reason?</a:t>
            </a:r>
          </a:p>
          <a:p>
            <a:pPr>
              <a:lnSpc>
                <a:spcPct val="114000"/>
              </a:lnSpc>
            </a:pPr>
            <a:r>
              <a:rPr sz="1300" b="1">
                <a:solidFill>
                  <a:srgbClr val="34D399"/>
                </a:solidFill>
                <a:latin typeface="Calibri"/>
              </a:rPr>
              <a:t>A  </a:t>
            </a:r>
            <a:r>
              <a:rPr sz="1150" b="0">
                <a:solidFill>
                  <a:srgbClr val="334155"/>
                </a:solidFill>
                <a:latin typeface="Calibri"/>
              </a:rPr>
              <a:t>It flows through automatically — reasons are derived from data, colours are deterministic, grouping and policy live in config. Demoed by sample_new_categories.</a:t>
            </a:r>
          </a:p>
        </p:txBody>
      </p:sp>
    </p:spTree>
    <p:extLst>
      <p:ext uri="{BB962C8B-B14F-4D97-AF65-F5344CB8AC3E}">
        <p14:creationId xmlns:p14="http://schemas.microsoft.com/office/powerpoint/2010/main" val="1703600079"/>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66928" y="329184"/>
            <a:ext cx="7772400" cy="292608"/>
          </a:xfrm>
          <a:prstGeom prst="rect">
            <a:avLst/>
          </a:prstGeom>
          <a:noFill/>
        </p:spPr>
        <p:txBody>
          <a:bodyPr wrap="square" lIns="25400" tIns="25400" rIns="25400" bIns="25400" anchor="t">
            <a:spAutoFit/>
          </a:bodyPr>
          <a:lstStyle/>
          <a:p>
            <a:pPr algn="l">
              <a:spcBef>
                <a:spcPts val="0"/>
              </a:spcBef>
              <a:spcAft>
                <a:spcPts val="0"/>
              </a:spcAft>
              <a:buNone/>
            </a:pPr>
            <a:r>
              <a:rPr sz="1200" b="1">
                <a:solidFill>
                  <a:srgbClr val="334155"/>
                </a:solidFill>
                <a:latin typeface="Calibri"/>
              </a:rPr>
              <a:t>Q&amp;A · SCALE, TESTING &amp; AI</a:t>
            </a:r>
          </a:p>
        </p:txBody>
      </p:sp>
      <p:sp>
        <p:nvSpPr>
          <p:cNvPr id="3" name="Oval 2"/>
          <p:cNvSpPr/>
          <p:nvPr/>
        </p:nvSpPr>
        <p:spPr>
          <a:xfrm>
            <a:off x="10076688" y="402336"/>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55279" y="329184"/>
            <a:ext cx="2084831" cy="274320"/>
          </a:xfrm>
          <a:prstGeom prst="rect">
            <a:avLst/>
          </a:prstGeom>
          <a:noFill/>
        </p:spPr>
        <p:txBody>
          <a:bodyPr wrap="square" lIns="25400" tIns="25400" rIns="25400" bIns="25400" anchor="t">
            <a:spAutoFit/>
          </a:bodyPr>
          <a:lstStyle/>
          <a:p>
            <a:pPr algn="r">
              <a:spcBef>
                <a:spcPts val="0"/>
              </a:spcBef>
              <a:spcAft>
                <a:spcPts val="0"/>
              </a:spcAft>
              <a:buNone/>
            </a:pPr>
            <a:r>
              <a:rPr sz="1000" b="1">
                <a:solidFill>
                  <a:srgbClr val="334155"/>
                </a:solidFill>
                <a:latin typeface="Calibri"/>
              </a:rPr>
              <a:t>APPENDIX · Q&amp;A PREP</a:t>
            </a:r>
          </a:p>
        </p:txBody>
      </p:sp>
      <p:sp>
        <p:nvSpPr>
          <p:cNvPr id="5" name="Rectangle 4"/>
          <p:cNvSpPr/>
          <p:nvPr/>
        </p:nvSpPr>
        <p:spPr>
          <a:xfrm>
            <a:off x="566928" y="658368"/>
            <a:ext cx="420624"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94944"/>
            <a:ext cx="11064240" cy="822960"/>
          </a:xfrm>
          <a:prstGeom prst="rect">
            <a:avLst/>
          </a:prstGeom>
          <a:noFill/>
        </p:spPr>
        <p:txBody>
          <a:bodyPr wrap="square" lIns="25400" tIns="25400" rIns="25400" bIns="25400" anchor="t">
            <a:spAutoFit/>
          </a:bodyPr>
          <a:lstStyle/>
          <a:p>
            <a:pPr algn="l">
              <a:spcBef>
                <a:spcPts val="0"/>
              </a:spcBef>
              <a:spcAft>
                <a:spcPts val="0"/>
              </a:spcAft>
              <a:buNone/>
            </a:pPr>
            <a:r>
              <a:rPr sz="2500" b="1">
                <a:solidFill>
                  <a:srgbClr val="0F172A"/>
                </a:solidFill>
                <a:latin typeface="Calibri"/>
              </a:rPr>
              <a:t>Anticipated questions — scale, testing &amp; AI</a:t>
            </a:r>
          </a:p>
        </p:txBody>
      </p:sp>
      <p:cxnSp>
        <p:nvCxnSpPr>
          <p:cNvPr id="7" name="Connector 6"/>
          <p:cNvCxnSpPr/>
          <p:nvPr/>
        </p:nvCxnSpPr>
        <p:spPr>
          <a:xfrm>
            <a:off x="566928" y="1389888"/>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6928" y="6382512"/>
            <a:ext cx="11055096" cy="0"/>
          </a:xfrm>
          <a:prstGeom prst="line">
            <a:avLst/>
          </a:prstGeom>
          <a:ln w="9525">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37376"/>
            <a:ext cx="8229600" cy="274320"/>
          </a:xfrm>
          <a:prstGeom prst="rect">
            <a:avLst/>
          </a:prstGeom>
          <a:noFill/>
        </p:spPr>
        <p:txBody>
          <a:bodyPr wrap="square" lIns="25400" tIns="25400" rIns="25400" bIns="25400" anchor="t">
            <a:spAutoFit/>
          </a:bodyPr>
          <a:lstStyle/>
          <a:p>
            <a:pPr algn="l">
              <a:spcBef>
                <a:spcPts val="0"/>
              </a:spcBef>
              <a:spcAft>
                <a:spcPts val="0"/>
              </a:spcAft>
              <a:buNone/>
            </a:pPr>
            <a:r>
              <a:rPr sz="900" b="0">
                <a:solidFill>
                  <a:srgbClr val="334155"/>
                </a:solidFill>
                <a:latin typeface="Calibri"/>
              </a:rPr>
              <a:t>Shift Operations Analytics  ·  Md Raisul Islam Rahad</a:t>
            </a:r>
          </a:p>
        </p:txBody>
      </p:sp>
      <p:sp>
        <p:nvSpPr>
          <p:cNvPr id="10" name="TextBox 9"/>
          <p:cNvSpPr txBox="1"/>
          <p:nvPr/>
        </p:nvSpPr>
        <p:spPr>
          <a:xfrm>
            <a:off x="10881360" y="6437376"/>
            <a:ext cx="749808" cy="274320"/>
          </a:xfrm>
          <a:prstGeom prst="rect">
            <a:avLst/>
          </a:prstGeom>
          <a:noFill/>
        </p:spPr>
        <p:txBody>
          <a:bodyPr wrap="square" lIns="25400" tIns="25400" rIns="25400" bIns="25400" anchor="t">
            <a:spAutoFit/>
          </a:bodyPr>
          <a:lstStyle/>
          <a:p>
            <a:pPr algn="r">
              <a:spcBef>
                <a:spcPts val="0"/>
              </a:spcBef>
              <a:spcAft>
                <a:spcPts val="0"/>
              </a:spcAft>
              <a:buNone/>
            </a:pPr>
            <a:r>
              <a:rPr sz="900" b="0">
                <a:solidFill>
                  <a:srgbClr val="334155"/>
                </a:solidFill>
                <a:latin typeface="Calibri"/>
              </a:rPr>
              <a:t>A2</a:t>
            </a:r>
          </a:p>
        </p:txBody>
      </p:sp>
      <p:sp>
        <p:nvSpPr>
          <p:cNvPr id="11" name="Rectangle 10"/>
          <p:cNvSpPr/>
          <p:nvPr/>
        </p:nvSpPr>
        <p:spPr>
          <a:xfrm>
            <a:off x="566928" y="6766560"/>
            <a:ext cx="11055096" cy="4114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6766560"/>
            <a:ext cx="11055096" cy="4114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572768"/>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How would this scale to millions of rows?</a:t>
            </a:r>
          </a:p>
          <a:p>
            <a:pPr>
              <a:lnSpc>
                <a:spcPct val="114000"/>
              </a:lnSpc>
            </a:pPr>
            <a:r>
              <a:rPr sz="1300" b="1">
                <a:solidFill>
                  <a:srgbClr val="34D399"/>
                </a:solidFill>
                <a:latin typeface="Calibri"/>
              </a:rPr>
              <a:t>A  </a:t>
            </a:r>
            <a:r>
              <a:rPr sz="1150" b="0">
                <a:solidFill>
                  <a:srgbClr val="334155"/>
                </a:solidFill>
                <a:latin typeface="Calibri"/>
              </a:rPr>
              <a:t>Move cleaning to a batch / streaming job, store aggregates, and paginate. The clean separation — pipeline → stored records → analysis — means the API and UI wouldn’t change.</a:t>
            </a:r>
          </a:p>
        </p:txBody>
      </p:sp>
      <p:sp>
        <p:nvSpPr>
          <p:cNvPr id="14" name="Rounded Rectangle 13"/>
          <p:cNvSpPr/>
          <p:nvPr/>
        </p:nvSpPr>
        <p:spPr>
          <a:xfrm>
            <a:off x="6227064" y="1572768"/>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What stops the AI features from fabricating numbers?</a:t>
            </a:r>
          </a:p>
          <a:p>
            <a:pPr>
              <a:lnSpc>
                <a:spcPct val="114000"/>
              </a:lnSpc>
            </a:pPr>
            <a:r>
              <a:rPr sz="1300" b="1">
                <a:solidFill>
                  <a:srgbClr val="34D399"/>
                </a:solidFill>
                <a:latin typeface="Calibri"/>
              </a:rPr>
              <a:t>A  </a:t>
            </a:r>
            <a:r>
              <a:rPr sz="1150" b="0">
                <a:solidFill>
                  <a:srgbClr val="334155"/>
                </a:solidFill>
                <a:latin typeface="Calibri"/>
              </a:rPr>
              <a:t>The model only sees pre-computed metrics, never raw rows; grouping output is validated against the real reason list. Without a key the features disable cleanly.</a:t>
            </a:r>
          </a:p>
        </p:txBody>
      </p:sp>
      <p:sp>
        <p:nvSpPr>
          <p:cNvPr id="15" name="Rounded Rectangle 14"/>
          <p:cNvSpPr/>
          <p:nvPr/>
        </p:nvSpPr>
        <p:spPr>
          <a:xfrm>
            <a:off x="566928" y="3986784"/>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How is the cross-midnight shift handled correctly?</a:t>
            </a:r>
          </a:p>
          <a:p>
            <a:pPr>
              <a:lnSpc>
                <a:spcPct val="114000"/>
              </a:lnSpc>
            </a:pPr>
            <a:r>
              <a:rPr sz="1300" b="1">
                <a:solidFill>
                  <a:srgbClr val="34D399"/>
                </a:solidFill>
                <a:latin typeface="Calibri"/>
              </a:rPr>
              <a:t>A  </a:t>
            </a:r>
            <a:r>
              <a:rPr sz="1150" b="0">
                <a:solidFill>
                  <a:srgbClr val="334155"/>
                </a:solidFill>
                <a:latin typeface="Calibri"/>
              </a:rPr>
              <a:t>The backend emits minutes-from-midnight (end can exceed 1440) and a crosses_midnight flag; the chart uses a 36-hour axis so an overnight shift is one continuous bar.</a:t>
            </a:r>
          </a:p>
        </p:txBody>
      </p:sp>
      <p:sp>
        <p:nvSpPr>
          <p:cNvPr id="16" name="Rounded Rectangle 15"/>
          <p:cNvSpPr/>
          <p:nvPr/>
        </p:nvSpPr>
        <p:spPr>
          <a:xfrm>
            <a:off x="6227064" y="3986784"/>
            <a:ext cx="5394960" cy="2212848"/>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lstStyle/>
          <a:p>
            <a:pPr algn="ctr">
              <a:lnSpc>
                <a:spcPct val="108000"/>
              </a:lnSpc>
              <a:spcAft>
                <a:spcPts val="500"/>
              </a:spcAft>
            </a:pPr>
            <a:r>
              <a:rPr sz="1300" b="1">
                <a:solidFill>
                  <a:srgbClr val="38BDF8"/>
                </a:solidFill>
                <a:latin typeface="Calibri"/>
              </a:rPr>
              <a:t>Q  </a:t>
            </a:r>
            <a:r>
              <a:rPr sz="1250" b="1">
                <a:solidFill>
                  <a:srgbClr val="0F172A"/>
                </a:solidFill>
                <a:latin typeface="Calibri"/>
              </a:rPr>
              <a:t>What would you improve with more time?</a:t>
            </a:r>
          </a:p>
          <a:p>
            <a:pPr>
              <a:lnSpc>
                <a:spcPct val="114000"/>
              </a:lnSpc>
            </a:pPr>
            <a:r>
              <a:rPr sz="1300" b="1">
                <a:solidFill>
                  <a:srgbClr val="34D399"/>
                </a:solidFill>
                <a:latin typeface="Calibri"/>
              </a:rPr>
              <a:t>A  </a:t>
            </a:r>
            <a:r>
              <a:rPr sz="1150" b="0">
                <a:solidFill>
                  <a:srgbClr val="334155"/>
                </a:solidFill>
                <a:latin typeface="Calibri"/>
              </a:rPr>
              <a:t>Auth &amp; per-user datasets, background jobs for large uploads, caching of analysis responses, and end-to-end (Playwright) tests over the existing coverage.</a:t>
            </a:r>
          </a:p>
        </p:txBody>
      </p:sp>
    </p:spTree>
    <p:extLst>
      <p:ext uri="{BB962C8B-B14F-4D97-AF65-F5344CB8AC3E}">
        <p14:creationId xmlns:p14="http://schemas.microsoft.com/office/powerpoint/2010/main" val="1456848705"/>
      </p:ext>
    </p:extLst>
  </p:cSld>
  <p:clrMapOvr>
    <a:masterClrMapping/>
  </p:clrMapOvr>
  <p:transition spd="med">
    <p:fade/>
  </p:transition>
</p:sld>
</file>

<file path=ppt/theme/theme1.xml><?xml version="1.0" encoding="utf-8"?>
<a:theme xmlns:a="http://schemas.openxmlformats.org/drawingml/2006/main" name="Office Theme [1784391525540]">
  <a:themeElements>
    <a:clrScheme name="Office">
      <a:dk1>
        <a:sysClr val="windowText" lastClr="000000"/>
      </a:dk1>
      <a:lt1>
        <a:sysClr val="window" lastClr="FFFFFF"/>
      </a:lt1>
      <a:dk2>
        <a:srgbClr val="0F172A"/>
      </a:dk2>
      <a:lt2>
        <a:srgbClr val="94A3B8"/>
      </a:lt2>
      <a:accent1>
        <a:srgbClr val="38BDF8"/>
      </a:accent1>
      <a:accent2>
        <a:srgbClr val="818CF8"/>
      </a:accent2>
      <a:accent3>
        <a:srgbClr val="34D399"/>
      </a:accent3>
      <a:accent4>
        <a:srgbClr val="FBBF24"/>
      </a:accent4>
      <a:accent5>
        <a:srgbClr val="22D3EE"/>
      </a:accent5>
      <a:accent6>
        <a:srgbClr val="F472B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24D4BD-6FB7-4B3A-B9AB-D5AB412CC393}">
  <we:reference id="wa200010001" version="1.0.0.1" store="en-US" storeType="OMEX"/>
  <we:alternateReferences>
    <we:reference id="WA200010001" version="1.0.0.1" store="" storeType="OMEX"/>
  </we:alternateReferences>
  <we:properties>
    <we:property name="claude.fileId" value="&quot;8e1a043a-60c0-41e7-8655-f83a81e7bcf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177</TotalTime>
  <Words>4739</Words>
  <Application>Microsoft Office PowerPoint</Application>
  <PresentationFormat>Widescreen</PresentationFormat>
  <Paragraphs>397</Paragraphs>
  <Slides>29</Slides>
  <Notes>29</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 [1784391525540]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Raisul Islam Rahad</cp:lastModifiedBy>
  <cp:revision>8</cp:revision>
  <cp:lastPrinted>2026-07-18T16:08:55Z</cp:lastPrinted>
  <dcterms:created xsi:type="dcterms:W3CDTF">2013-01-27T09:14:16Z</dcterms:created>
  <dcterms:modified xsi:type="dcterms:W3CDTF">2026-07-21T03:28:28Z</dcterms:modified>
  <cp:category/>
</cp:coreProperties>
</file>