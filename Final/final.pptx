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1"/>
  </p:notesMasterIdLst>
  <p:sldIdLst>
    <p:sldId id="440" r:id="rId2"/>
    <p:sldId id="441" r:id="rId3"/>
    <p:sldId id="444" r:id="rId4"/>
    <p:sldId id="445" r:id="rId5"/>
    <p:sldId id="446" r:id="rId6"/>
    <p:sldId id="447" r:id="rId7"/>
    <p:sldId id="448" r:id="rId8"/>
    <p:sldId id="449" r:id="rId9"/>
    <p:sldId id="450" r:id="rId10"/>
    <p:sldId id="451" r:id="rId11"/>
    <p:sldId id="452" r:id="rId12"/>
    <p:sldId id="453" r:id="rId13"/>
    <p:sldId id="454" r:id="rId14"/>
    <p:sldId id="442" r:id="rId15"/>
    <p:sldId id="455" r:id="rId16"/>
    <p:sldId id="456" r:id="rId17"/>
    <p:sldId id="457" r:id="rId18"/>
    <p:sldId id="458" r:id="rId19"/>
    <p:sldId id="459" r:id="rId20"/>
    <p:sldId id="460" r:id="rId21"/>
    <p:sldId id="461" r:id="rId22"/>
    <p:sldId id="462" r:id="rId23"/>
    <p:sldId id="463" r:id="rId24"/>
    <p:sldId id="464" r:id="rId25"/>
    <p:sldId id="465" r:id="rId26"/>
    <p:sldId id="466" r:id="rId27"/>
    <p:sldId id="443" r:id="rId28"/>
    <p:sldId id="467" r:id="rId29"/>
    <p:sldId id="46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5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1674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built a web app that takes raw, deliberately messy shift records, cleans them, and turns them into operational insight a plant manager can act on: efficiency, downtime patterns, reliability. All analysis runs server-side in Python; the frontend only renders. I'll walk through the problem, the architecture, and the key engineering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I: The problem</a:t>
            </a:r>
          </a:p>
          <a:p>
            <a:r>
              <a:t>&amp; the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assignment isn't about drawing charts — it's about handling data you can't trust and building believable analysis on top of it. Those three challenges drove every design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subtle correctness issue that's easy to get wrong. Real plants run night shifts, so I extended the axis to 36 hours. A bar's start and end are just minutes from midnight, so a cross-midnight shift naturally draws as one continuous bar past the 24-hour mark instead of wrapping around.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My favourite result. If you only look at the literal 'Breakdown' reason, you see a minor two-day blip. But those failures are logged under several labels. Group them into a failure family and a four-day continuous downtime run emerges — the kind of thing a manager must treat as one incident. That's the argument for the whole extensibility requirement, made with the data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II: Cleaning</a:t>
            </a:r>
          </a:p>
          <a:p>
            <a:r>
              <a:t>messy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weren't required — I added them because reliability is the language maintenance teams actually speak. The three tie together algebraically, and every tile explains its own formula on hover so nothing feels like a magic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 is a genuine risk if it can invent data, so I boxed it in. The grouping suggestion is checked against the actual reasons — it physically can't introduce a category that isn't in your data. And the summary model never sees a raw row; it only rephrases numbers I already computed. Both degrade cleanly without a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III: Analysis</a:t>
            </a:r>
          </a:p>
          <a:p>
            <a:r>
              <a:t>&amp; the key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Clean separation. The React app never computes a metric — it asks the API. That guarantees the numbers on screen and in a CSV export always agree, and I can test all logic in Python. The Groq box is dashed because it's fully optional — without a key the app behaves identically minus two buttons.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heart of the project. Walk the happy path left to right, then point at one recovery branch — a missing START derived from END minus HOURS — and one exclusion branch. The output is a validity flag plus a list of issues, so a row survives into the report even when excluded from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judgement call and I made it deliberately. I measured it — 44 of 51 rows already agree with the timestamps — so treating timestamps as authoritative recovers the mismatched rows instead of trusting an easily mistyped number. And I documented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treated this as a hard constraint. There is no list of reasons anywhere in the code. To prove it, I ship a dataset with reasons that don't exist in the original — you upload it and they flow through filters, colours, legend and grouping with no code change. That's the demo I'd run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cleaning rules and analysis are the risky parts, so the tests concentrate there — including API integration tests that assert exact numbers. Every figure I've shown is reproducible from the bundled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It's live, not just local. Frontend on Vercel, API on Render, data on Supabase Postgres. The same Django code runs on SQLite locally and Postgres in production — I flip one environment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I get to demo, this is my order — step 3 is the one to land; it makes the extensibility argument visually in two clicks. And I name the limits honestly: the biggest is scale — the pipeline is in-memory today, fine for shift logs, but I'd push aggregation into the database for millions of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wrap: the project is really about trusting the data and the analysis on top of it. I handled dirty data transparently, built metrics I can defend, made it extensible by construction, and shipped it like production code. Happy to go deeper anywhere you'd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72A"/>
            </a:gs>
            <a:gs pos="100000">
              <a:srgbClr val="0B12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0B1220"/>
              </a:gs>
            </a:gsLst>
            <a:lin ang="14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89720" y="640080"/>
            <a:ext cx="4206240" cy="420624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761219" y="1211580"/>
            <a:ext cx="3063240" cy="306324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309860" y="1760220"/>
            <a:ext cx="1965960" cy="196596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553712"/>
            <a:ext cx="7223760" cy="8229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23760" y="4553712"/>
            <a:ext cx="4965192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896112"/>
            <a:ext cx="603504" cy="603504"/>
          </a:xfrm>
          <a:prstGeom prst="roundRect">
            <a:avLst/>
          </a:prstGeom>
          <a:solidFill>
            <a:srgbClr val="38BDF8"/>
          </a:solidFill>
          <a:ln>
            <a:noFill/>
          </a:ln>
          <a:effectLst>
            <a:outerShdw blurRad="64008" dist="36576" dir="5400000" rotWithShape="0">
              <a:srgbClr val="0F172A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  <a:buNone/>
            </a:pPr>
            <a:r>
              <a:rPr sz="2600" b="1">
                <a:solidFill>
                  <a:srgbClr val="F8FAFC"/>
                </a:solidFill>
                <a:latin typeface="Calibri"/>
              </a:rPr>
              <a:t>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sz="5200" b="1" dirty="0">
                <a:solidFill>
                  <a:srgbClr val="F8FAFC"/>
                </a:solidFill>
                <a:latin typeface="Calibri"/>
              </a:rPr>
              <a:t>Shift Operations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5200" b="1" dirty="0">
                <a:solidFill>
                  <a:srgbClr val="F8FAFC"/>
                </a:solidFill>
                <a:latin typeface="Calibri"/>
              </a:rPr>
              <a:t>Analytics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buNone/>
            </a:pPr>
            <a:r>
              <a:rPr sz="2100" b="0" dirty="0">
                <a:solidFill>
                  <a:srgbClr val="94A3B8"/>
                </a:solidFill>
                <a:latin typeface="Calibri"/>
              </a:rPr>
              <a:t>Turning messy shift logs into operational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28032"/>
            <a:ext cx="10607040" cy="111312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38BDF8"/>
                </a:solidFill>
                <a:latin typeface="Calibri"/>
              </a:rPr>
              <a:t>React 19</a:t>
            </a:r>
            <a:r>
              <a:rPr lang="en-US" sz="1500" b="0" dirty="0">
                <a:solidFill>
                  <a:srgbClr val="94A3B8"/>
                </a:solidFill>
                <a:latin typeface="Calibri"/>
              </a:rPr>
              <a:t>   ·   </a:t>
            </a:r>
            <a:r>
              <a:rPr lang="en-US" sz="1500" b="1" dirty="0">
                <a:solidFill>
                  <a:srgbClr val="38BDF8"/>
                </a:solidFill>
                <a:latin typeface="Calibri"/>
              </a:rPr>
              <a:t>Django 6 + DRF</a:t>
            </a:r>
            <a:r>
              <a:rPr lang="en-US" sz="1500" b="0" dirty="0">
                <a:solidFill>
                  <a:srgbClr val="94A3B8"/>
                </a:solidFill>
                <a:latin typeface="Calibri"/>
              </a:rPr>
              <a:t>   ·   </a:t>
            </a:r>
            <a:r>
              <a:rPr lang="en-US" sz="1500" b="1" dirty="0">
                <a:solidFill>
                  <a:srgbClr val="38BDF8"/>
                </a:solidFill>
                <a:latin typeface="Calibri"/>
              </a:rPr>
              <a:t>pandas</a:t>
            </a:r>
            <a:r>
              <a:rPr lang="en-US" sz="1500" b="0" dirty="0">
                <a:solidFill>
                  <a:srgbClr val="94A3B8"/>
                </a:solidFill>
                <a:latin typeface="Calibri"/>
              </a:rPr>
              <a:t>   ·   </a:t>
            </a:r>
            <a:r>
              <a:rPr lang="en-US" sz="1500" b="1" dirty="0">
                <a:solidFill>
                  <a:srgbClr val="38BDF8"/>
                </a:solidFill>
                <a:latin typeface="Calibri"/>
              </a:rPr>
              <a:t>PostgreSQL</a:t>
            </a:r>
            <a:r>
              <a:rPr lang="en-US" sz="1500" b="0" dirty="0">
                <a:solidFill>
                  <a:srgbClr val="94A3B8"/>
                </a:solidFill>
                <a:latin typeface="Calibri"/>
              </a:rPr>
              <a:t>   ·   </a:t>
            </a:r>
            <a:r>
              <a:rPr lang="en-US" sz="1500" b="1" dirty="0" err="1">
                <a:solidFill>
                  <a:srgbClr val="38BDF8"/>
                </a:solidFill>
                <a:latin typeface="Calibri"/>
              </a:rPr>
              <a:t>Groq</a:t>
            </a:r>
            <a:r>
              <a:rPr lang="en-US" sz="1500" b="1" dirty="0">
                <a:solidFill>
                  <a:srgbClr val="38BDF8"/>
                </a:solidFill>
                <a:latin typeface="Calibri"/>
              </a:rPr>
              <a:t> (optional AI)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buNone/>
            </a:pPr>
            <a:r>
              <a:rPr sz="1700" b="1" dirty="0">
                <a:solidFill>
                  <a:srgbClr val="F8FAFC"/>
                </a:solidFill>
                <a:latin typeface="Calibri"/>
              </a:rPr>
              <a:t>M</a:t>
            </a:r>
            <a:r>
              <a:rPr lang="en-US" sz="1700" b="1" dirty="0">
                <a:solidFill>
                  <a:srgbClr val="F8FAFC"/>
                </a:solidFill>
                <a:latin typeface="Calibri"/>
              </a:rPr>
              <a:t>d</a:t>
            </a:r>
            <a:r>
              <a:rPr sz="1700" b="1" dirty="0">
                <a:solidFill>
                  <a:srgbClr val="F8FAFC"/>
                </a:solidFill>
                <a:latin typeface="Calibri"/>
              </a:rPr>
              <a:t> Raisul Islam Rahad</a:t>
            </a:r>
            <a:r>
              <a:rPr sz="1500" b="0" dirty="0">
                <a:solidFill>
                  <a:srgbClr val="94A3B8"/>
                </a:solidFill>
                <a:latin typeface="Calibri"/>
              </a:rPr>
              <a:t>    —    Full-stack technical assignment · Round 3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buNone/>
            </a:pPr>
            <a:r>
              <a:rPr sz="1200" b="0" dirty="0">
                <a:solidFill>
                  <a:srgbClr val="94A3B8"/>
                </a:solidFill>
                <a:latin typeface="Calibri"/>
              </a:rPr>
              <a:t>Live:  </a:t>
            </a:r>
            <a:r>
              <a:rPr sz="1200" b="0" i="1" u="sng" dirty="0">
                <a:solidFill>
                  <a:srgbClr val="94A3B8"/>
                </a:solidFill>
                <a:latin typeface="Calibri"/>
              </a:rPr>
              <a:t>shift-operations-</a:t>
            </a:r>
            <a:r>
              <a:rPr sz="1200" b="0" i="1" u="sng" dirty="0" err="1">
                <a:solidFill>
                  <a:srgbClr val="94A3B8"/>
                </a:solidFill>
                <a:latin typeface="Calibri"/>
              </a:rPr>
              <a:t>analytics.vercel.app</a:t>
            </a:r>
            <a:r>
              <a:rPr sz="1200" b="0" dirty="0">
                <a:solidFill>
                  <a:srgbClr val="94A3B8"/>
                </a:solidFill>
                <a:latin typeface="Calibri"/>
              </a:rPr>
              <a:t>      API:  shift-analytics-api.onrender.com</a:t>
            </a:r>
          </a:p>
        </p:txBody>
      </p:sp>
    </p:spTree>
    <p:extLst>
      <p:ext uri="{BB962C8B-B14F-4D97-AF65-F5344CB8AC3E}">
        <p14:creationId xmlns:p14="http://schemas.microsoft.com/office/powerpoint/2010/main" val="1367720989"/>
      </p:ext>
    </p:extLst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0B1220"/>
              </a:gs>
            </a:gsLst>
            <a:lin ang="14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95360" y="1280160"/>
            <a:ext cx="3931920" cy="393192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0" y="1828799"/>
            <a:ext cx="2834640" cy="283464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46920" y="2331720"/>
            <a:ext cx="1828800" cy="1828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46920" y="2560320"/>
            <a:ext cx="1828800" cy="1371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38BDF8"/>
                </a:solidFill>
                <a:latin typeface="Calibri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6583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8BDF8"/>
                </a:solidFill>
                <a:latin typeface="Calibri"/>
              </a:rPr>
              <a:t>PART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487168"/>
            <a:ext cx="676656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800" b="1">
                <a:solidFill>
                  <a:srgbClr val="F8FAFC"/>
                </a:solidFill>
                <a:latin typeface="Calibri"/>
              </a:rPr>
              <a:t>The brief,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800" b="1">
                <a:solidFill>
                  <a:srgbClr val="F8FAFC"/>
                </a:solidFill>
                <a:latin typeface="Calibri"/>
              </a:rPr>
              <a:t>delivered live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023360"/>
            <a:ext cx="1371600" cy="640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6675120" cy="1645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38BDF8"/>
                </a:solidFill>
                <a:latin typeface="Calibri"/>
              </a:rPr>
              <a:t>—  </a:t>
            </a:r>
            <a:r>
              <a:rPr sz="1300" b="0">
                <a:solidFill>
                  <a:srgbClr val="94A3B8"/>
                </a:solidFill>
                <a:latin typeface="Calibri"/>
              </a:rPr>
              <a:t>Seven requirements, each shown in the running app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38BDF8"/>
                </a:solidFill>
                <a:latin typeface="Calibri"/>
              </a:rPr>
              <a:t>—  </a:t>
            </a:r>
            <a:r>
              <a:rPr sz="1300" b="0">
                <a:solidFill>
                  <a:srgbClr val="94A3B8"/>
                </a:solidFill>
                <a:latin typeface="Calibri"/>
              </a:rPr>
              <a:t>Live and public — scan the QR to follow along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38BDF8"/>
                </a:solidFill>
                <a:latin typeface="Calibri"/>
              </a:rPr>
              <a:t>—  </a:t>
            </a:r>
            <a:r>
              <a:rPr sz="1300" b="0">
                <a:solidFill>
                  <a:srgbClr val="94A3B8"/>
                </a:solidFill>
                <a:latin typeface="Calibri"/>
              </a:rPr>
              <a:t>The 4-day finding hiding inside the labels</a:t>
            </a:r>
          </a:p>
        </p:txBody>
      </p:sp>
    </p:spTree>
    <p:extLst>
      <p:ext uri="{BB962C8B-B14F-4D97-AF65-F5344CB8AC3E}">
        <p14:creationId xmlns:p14="http://schemas.microsoft.com/office/powerpoint/2010/main" val="2798615505"/>
      </p:ext>
    </p:extLst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772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34155"/>
                </a:solidFill>
                <a:latin typeface="Calibri"/>
              </a:rPr>
              <a:t>01 · THE PROBLEM</a:t>
            </a:r>
          </a:p>
        </p:txBody>
      </p:sp>
      <p:sp>
        <p:nvSpPr>
          <p:cNvPr id="3" name="Oval 2"/>
          <p:cNvSpPr/>
          <p:nvPr/>
        </p:nvSpPr>
        <p:spPr>
          <a:xfrm>
            <a:off x="10076688" y="40233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79" y="329184"/>
            <a:ext cx="2084831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4155"/>
                </a:solidFill>
                <a:latin typeface="Calibri"/>
              </a:rPr>
              <a:t>THE BRIEF, DELIVERED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8368"/>
            <a:ext cx="420624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94944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0F172A"/>
                </a:solidFill>
                <a:latin typeface="Calibri"/>
              </a:rPr>
              <a:t>It's not a charting task — it's a trust-the-data task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389888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382512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Shift Operations Analytics  ·  Md Raisul Islam Rahad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49808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01 /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66560"/>
            <a:ext cx="11055096" cy="4114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6766560"/>
            <a:ext cx="5207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1600200"/>
            <a:ext cx="11064240" cy="1051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1627632"/>
            <a:ext cx="54864" cy="89611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1600200"/>
            <a:ext cx="1088136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500" b="0">
                <a:solidFill>
                  <a:srgbClr val="1E293B"/>
                </a:solidFill>
                <a:latin typeface="Calibri"/>
              </a:rPr>
              <a:t>Given shift records with deliberate operational inconsistencies, clean the data, visualize shift patterns, score efficiency, detect recurring breakdown periods, and surface actionable insights — and stay useful when new categories appear or are grouped.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880360"/>
            <a:ext cx="11064240" cy="93268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200"/>
              </a:spcBef>
              <a:spcAft>
                <a:spcPts val="100"/>
              </a:spcAft>
              <a:buNone/>
            </a:pPr>
            <a:r>
              <a:rPr sz="1500" b="1" dirty="0">
                <a:solidFill>
                  <a:srgbClr val="0F172A"/>
                </a:solidFill>
                <a:latin typeface="Calibri"/>
              </a:rPr>
              <a:t>Dirty data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50" b="0" dirty="0">
                <a:solidFill>
                  <a:srgbClr val="0F172A"/>
                </a:solidFill>
                <a:latin typeface="Calibri"/>
              </a:rPr>
              <a:t>Invalid dates, bad/missing timestamps, negative &amp; mismatched hours, duplicates, overnight shifts — silently dropping rows hides the truth.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41063"/>
            <a:ext cx="11064240" cy="93268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200"/>
              </a:spcBef>
              <a:spcAft>
                <a:spcPts val="100"/>
              </a:spcAft>
              <a:buNone/>
            </a:pPr>
            <a:r>
              <a:rPr sz="1500" b="1" dirty="0">
                <a:solidFill>
                  <a:srgbClr val="0F172A"/>
                </a:solidFill>
                <a:latin typeface="Calibri"/>
              </a:rPr>
              <a:t>Meaningful analysis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50" b="0" dirty="0">
                <a:solidFill>
                  <a:srgbClr val="0F172A"/>
                </a:solidFill>
                <a:latin typeface="Calibri"/>
              </a:rPr>
              <a:t>Efficiency, multi-day streaks, reliability — each needs a defensible definition, not just a number.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001768"/>
            <a:ext cx="11064240" cy="93268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200"/>
              </a:spcBef>
              <a:spcAft>
                <a:spcPts val="100"/>
              </a:spcAft>
              <a:buNone/>
            </a:pPr>
            <a:r>
              <a:rPr sz="1500" b="1" dirty="0">
                <a:solidFill>
                  <a:srgbClr val="0F172A"/>
                </a:solidFill>
                <a:latin typeface="Calibri"/>
              </a:rPr>
              <a:t>Extensibility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250" b="0" dirty="0">
                <a:solidFill>
                  <a:srgbClr val="0F172A"/>
                </a:solidFill>
                <a:latin typeface="Calibri"/>
              </a:rPr>
              <a:t>No reason list can be hardcoded; grouping must re-flow every chart, streak and score.</a:t>
            </a:r>
          </a:p>
        </p:txBody>
      </p:sp>
    </p:spTree>
    <p:extLst>
      <p:ext uri="{BB962C8B-B14F-4D97-AF65-F5344CB8AC3E}">
        <p14:creationId xmlns:p14="http://schemas.microsoft.com/office/powerpoint/2010/main" val="4111188619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772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34155"/>
                </a:solidFill>
                <a:latin typeface="Calibri"/>
              </a:rPr>
              <a:t>02 · THE BRIEF → DELIVERED</a:t>
            </a:r>
          </a:p>
        </p:txBody>
      </p:sp>
      <p:sp>
        <p:nvSpPr>
          <p:cNvPr id="3" name="Oval 2"/>
          <p:cNvSpPr/>
          <p:nvPr/>
        </p:nvSpPr>
        <p:spPr>
          <a:xfrm>
            <a:off x="10076688" y="40233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79" y="329184"/>
            <a:ext cx="2084831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4155"/>
                </a:solidFill>
                <a:latin typeface="Calibri"/>
              </a:rPr>
              <a:t>THE BRIEF, DELIVERED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8368"/>
            <a:ext cx="420624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94944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0F172A"/>
                </a:solidFill>
                <a:latin typeface="Calibri"/>
              </a:rPr>
              <a:t>Every requirement delivered — each shown live in the next slides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389888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382512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Shift Operations Analytics  ·  Md Raisul Islam Rahad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49808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02 /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66560"/>
            <a:ext cx="11055096" cy="4114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6766560"/>
            <a:ext cx="10541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66928" y="1554480"/>
          <a:ext cx="11064240" cy="4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200" b="1">
                          <a:solidFill>
                            <a:srgbClr val="F8FAFC"/>
                          </a:solidFill>
                          <a:latin typeface="Calibri"/>
                        </a:rPr>
                        <a:t>From the brief</a:t>
                      </a:r>
                    </a:p>
                  </a:txBody>
                  <a:tcPr marL="101600" marT="30000" marB="300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200" b="1">
                          <a:solidFill>
                            <a:srgbClr val="F8FAFC"/>
                          </a:solidFill>
                          <a:latin typeface="Calibri"/>
                        </a:rPr>
                        <a:t>Delivered as</a:t>
                      </a:r>
                    </a:p>
                  </a:txBody>
                  <a:tcPr marL="101600" marT="30000" marB="300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200" b="1">
                          <a:solidFill>
                            <a:srgbClr val="F8FAFC"/>
                          </a:solidFill>
                          <a:latin typeface="Calibri"/>
                        </a:rPr>
                        <a:t>Where to see it</a:t>
                      </a:r>
                    </a:p>
                  </a:txBody>
                  <a:tcPr marL="101600" marT="30000" marB="3000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Detect, document &amp; handle inconsistencies</a:t>
                      </a:r>
                    </a:p>
                  </a:txBody>
                  <a:tcPr marL="101600" marT="30000" marB="300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10-issue cleaning pipeline — recover or exclude, nothing silently dropped</a:t>
                      </a:r>
                    </a:p>
                  </a:txBody>
                  <a:tcPr marL="101600" marT="30000" marB="300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Data Quality report</a:t>
                      </a:r>
                    </a:p>
                  </a:txBody>
                  <a:tcPr marL="101600" marT="30000" marB="300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Filter &amp; analyse by attribute combinations</a:t>
                      </a:r>
                    </a:p>
                  </a:txBody>
                  <a:tcPr marL="1016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Shared apply_filters(): date range, reasons, validity — on every endpoint</a:t>
                      </a:r>
                    </a:p>
                  </a:txBody>
                  <a:tcPr marL="1016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Filter bar, all panels</a:t>
                      </a:r>
                    </a:p>
                  </a:txBody>
                  <a:tcPr marL="1016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Shift analysis chart with all reasons</a:t>
                      </a:r>
                    </a:p>
                  </a:txBody>
                  <a:tcPr marL="101600" marT="30000" marB="300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Custom 36-hour chart, one coloured bar per shift, every reason included</a:t>
                      </a:r>
                    </a:p>
                  </a:txBody>
                  <a:tcPr marL="101600" marT="30000" marB="300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Shift Analysis panel</a:t>
                      </a:r>
                    </a:p>
                  </a:txBody>
                  <a:tcPr marL="101600" marT="30000" marB="300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Identify meaningful breakdown streaks</a:t>
                      </a:r>
                    </a:p>
                  </a:txBody>
                  <a:tcPr marL="1016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Configurable consecutive-day detection with severity; assumptions documented</a:t>
                      </a:r>
                    </a:p>
                  </a:txBody>
                  <a:tcPr marL="1016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Streaks panel + README</a:t>
                      </a:r>
                    </a:p>
                  </a:txBody>
                  <a:tcPr marL="1016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Efficiency = (Productive ÷ Total) × 100</a:t>
                      </a:r>
                    </a:p>
                  </a:txBody>
                  <a:tcPr marL="101600" marT="30000" marB="300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Implemented literally — 86.8% overall + daily trend; reason set configurable</a:t>
                      </a:r>
                    </a:p>
                  </a:txBody>
                  <a:tcPr marL="101600" marT="30000" marB="300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KPI row + trend chart</a:t>
                      </a:r>
                    </a:p>
                  </a:txBody>
                  <a:tcPr marL="101600" marT="30000" marB="300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At least 3 actionable insights</a:t>
                      </a:r>
                    </a:p>
                  </a:txBody>
                  <a:tcPr marL="1016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5+ insights computed live from the data, never hardcoded</a:t>
                      </a:r>
                    </a:p>
                  </a:txBody>
                  <a:tcPr marL="1016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Insights panel</a:t>
                      </a:r>
                    </a:p>
                  </a:txBody>
                  <a:tcPr marL="1016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Stays useful as categories appear / group</a:t>
                      </a:r>
                    </a:p>
                  </a:txBody>
                  <a:tcPr marL="101600" marT="30000" marB="300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Reasons derived from data; grouping re-flows every chart, streak &amp; score</a:t>
                      </a:r>
                    </a:p>
                  </a:txBody>
                  <a:tcPr marL="101600" marT="30000" marB="300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Edit groups / upload</a:t>
                      </a:r>
                    </a:p>
                  </a:txBody>
                  <a:tcPr marL="101600" marT="30000" marB="300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1">
                          <a:solidFill>
                            <a:srgbClr val="0F172A"/>
                          </a:solidFill>
                          <a:latin typeface="Calibri"/>
                        </a:rPr>
                        <a:t>React frontend · Django backend · no hardcoding</a:t>
                      </a:r>
                    </a:p>
                  </a:txBody>
                  <a:tcPr marL="1016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React 19 + Vite SPA over Django 6 + DRF; all policy lives in config / env</a:t>
                      </a:r>
                    </a:p>
                  </a:txBody>
                  <a:tcPr marL="1016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sz="1100" b="0">
                          <a:solidFill>
                            <a:srgbClr val="0F172A"/>
                          </a:solidFill>
                          <a:latin typeface="Calibri"/>
                        </a:rPr>
                        <a:t>GitHub repo + live app</a:t>
                      </a:r>
                    </a:p>
                  </a:txBody>
                  <a:tcPr marL="1016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665508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772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34155"/>
                </a:solidFill>
                <a:latin typeface="Calibri"/>
              </a:rPr>
              <a:t>03 · LIVE IN PRODUCTION</a:t>
            </a:r>
          </a:p>
        </p:txBody>
      </p:sp>
      <p:sp>
        <p:nvSpPr>
          <p:cNvPr id="3" name="Oval 2"/>
          <p:cNvSpPr/>
          <p:nvPr/>
        </p:nvSpPr>
        <p:spPr>
          <a:xfrm>
            <a:off x="10076688" y="40233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79" y="329184"/>
            <a:ext cx="2084831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4155"/>
                </a:solidFill>
                <a:latin typeface="Calibri"/>
              </a:rPr>
              <a:t>THE BRIEF, DELIVERED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8368"/>
            <a:ext cx="420624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94944"/>
            <a:ext cx="11064240" cy="4360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0F172A"/>
                </a:solidFill>
                <a:latin typeface="Calibri"/>
              </a:rPr>
              <a:t>Deployed and public — the panel can open it during this talk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389888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382512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Shift Operations Analytics  ·  Md Raisul Islam Rahad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49808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03 /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66560"/>
            <a:ext cx="11055096" cy="4114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6766560"/>
            <a:ext cx="15748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1463040"/>
            <a:ext cx="1106424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 dirty="0">
                <a:solidFill>
                  <a:srgbClr val="0F172A"/>
                </a:solidFill>
                <a:latin typeface="Calibri"/>
              </a:rPr>
              <a:t>Live app   </a:t>
            </a:r>
            <a:r>
              <a:rPr sz="1400" b="0" i="1" u="sng" dirty="0">
                <a:solidFill>
                  <a:srgbClr val="0F172A"/>
                </a:solidFill>
                <a:latin typeface="Calibri"/>
              </a:rPr>
              <a:t>shift-operations-</a:t>
            </a:r>
            <a:r>
              <a:rPr sz="1400" b="0" i="1" u="sng" dirty="0" err="1">
                <a:solidFill>
                  <a:srgbClr val="0F172A"/>
                </a:solidFill>
                <a:latin typeface="Calibri"/>
              </a:rPr>
              <a:t>analytics.vercel.app</a:t>
            </a:r>
            <a:r>
              <a:rPr sz="1400" b="0" dirty="0">
                <a:solidFill>
                  <a:srgbClr val="0F172A"/>
                </a:solidFill>
                <a:latin typeface="Calibri"/>
              </a:rPr>
              <a:t>     ·     API   shift-analytics-api.onrender.com     ·     Code   </a:t>
            </a:r>
            <a:r>
              <a:rPr lang="en-US" sz="1400" dirty="0">
                <a:solidFill>
                  <a:srgbClr val="0F172A"/>
                </a:solidFill>
              </a:rPr>
              <a:t>github.com/</a:t>
            </a:r>
            <a:r>
              <a:rPr lang="en-US" sz="1400" dirty="0" err="1">
                <a:solidFill>
                  <a:srgbClr val="0F172A"/>
                </a:solidFill>
              </a:rPr>
              <a:t>Raisulll</a:t>
            </a:r>
            <a:r>
              <a:rPr lang="en-US" sz="1400" dirty="0">
                <a:solidFill>
                  <a:srgbClr val="0F172A"/>
                </a:solidFill>
              </a:rPr>
              <a:t>/Shift-Operations-Analytics</a:t>
            </a:r>
            <a:endParaRPr sz="1400" b="0" dirty="0">
              <a:solidFill>
                <a:srgbClr val="0F172A"/>
              </a:solidFill>
              <a:latin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FE6E18-8BDE-2861-F29E-B52EDC7EDA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6928" y="2262484"/>
            <a:ext cx="7600000" cy="3749031"/>
          </a:xfrm>
          <a:prstGeom prst="roundRect">
            <a:avLst>
              <a:gd name="adj" fmla="val 3252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7" name="QR live ap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000" y="2620000"/>
            <a:ext cx="2200000" cy="2200000"/>
          </a:xfrm>
          <a:prstGeom prst="roundRect">
            <a:avLst>
              <a:gd name="adj" fmla="val 5029"/>
            </a:avLst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98" name="QR caption"/>
          <p:cNvSpPr txBox="1"/>
          <p:nvPr/>
        </p:nvSpPr>
        <p:spPr>
          <a:xfrm>
            <a:off x="8460000" y="4900000"/>
            <a:ext cx="2800000" cy="350000"/>
          </a:xfrm>
          <a:prstGeom prst="rect">
            <a:avLst/>
          </a:prstGeom>
        </p:spPr>
        <p:txBody>
          <a:bodyPr wrap="square"/>
          <a:lstStyle/>
          <a:p>
            <a:pPr algn="ctr">
              <a:buNone/>
            </a:pPr>
            <a:r>
              <a:rPr lang="en-US" sz="1100">
                <a:solidFill>
                  <a:srgbClr val="475569"/>
                </a:solidFill>
                <a:latin typeface="Calibri"/>
              </a:rPr>
              <a:t>Scan to open the live app</a:t>
            </a:r>
          </a:p>
        </p:txBody>
      </p:sp>
    </p:spTree>
    <p:extLst>
      <p:ext uri="{BB962C8B-B14F-4D97-AF65-F5344CB8AC3E}">
        <p14:creationId xmlns:p14="http://schemas.microsoft.com/office/powerpoint/2010/main" val="1990581287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772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34155"/>
                </a:solidFill>
                <a:latin typeface="Calibri"/>
              </a:rPr>
              <a:t>04 · REQUIREMENT 1 · DATA QUALITY</a:t>
            </a:r>
          </a:p>
        </p:txBody>
      </p:sp>
      <p:sp>
        <p:nvSpPr>
          <p:cNvPr id="3" name="Oval 2"/>
          <p:cNvSpPr/>
          <p:nvPr/>
        </p:nvSpPr>
        <p:spPr>
          <a:xfrm>
            <a:off x="10076688" y="40233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79" y="329184"/>
            <a:ext cx="2084831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4155"/>
                </a:solidFill>
                <a:latin typeface="Calibri"/>
              </a:rPr>
              <a:t>THE BRIEF, DELIVERED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8368"/>
            <a:ext cx="420624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94944"/>
            <a:ext cx="11064240" cy="4360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0F172A"/>
                </a:solidFill>
                <a:latin typeface="Calibri"/>
              </a:rPr>
              <a:t>Detect, document and handle inconsistencies — nothing dropped in silence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389888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382512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Shift Operations Analytics  ·  Md Raisul Islam Rahad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49808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04 /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66560"/>
            <a:ext cx="11055096" cy="4114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6766560"/>
            <a:ext cx="21082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1463040"/>
            <a:ext cx="11064240" cy="4821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400" b="0">
                <a:solidFill>
                  <a:srgbClr val="0F172A"/>
                </a:solidFill>
                <a:latin typeface="Calibri"/>
              </a:rPr>
              <a:t>The Data Quality report lists every flagged row with its issue and the action taken: recovered rows keep their derived values, excluded rows stay visible with the reason. Ten issue types are detected, and the full catalogue is documented in the README.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FE6E18-8BDE-2861-F29E-B52EDC7EDA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32000" y="2160370"/>
            <a:ext cx="8128000" cy="3628182"/>
          </a:xfrm>
          <a:prstGeom prst="roundRect">
            <a:avLst>
              <a:gd name="adj" fmla="val 3814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2004041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772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34155"/>
                </a:solidFill>
                <a:latin typeface="Calibri"/>
              </a:rPr>
              <a:t>05 · REQUIREMENT 2 · FILTER &amp; ANALYSE</a:t>
            </a:r>
          </a:p>
        </p:txBody>
      </p:sp>
      <p:sp>
        <p:nvSpPr>
          <p:cNvPr id="3" name="Oval 2"/>
          <p:cNvSpPr/>
          <p:nvPr/>
        </p:nvSpPr>
        <p:spPr>
          <a:xfrm>
            <a:off x="10076688" y="40233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79" y="329184"/>
            <a:ext cx="2084831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4155"/>
                </a:solidFill>
                <a:latin typeface="Calibri"/>
              </a:rPr>
              <a:t>THE BRIEF, DELIVERED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8368"/>
            <a:ext cx="420624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94944"/>
            <a:ext cx="11064240" cy="4360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0F172A"/>
                </a:solidFill>
                <a:latin typeface="Calibri"/>
              </a:rPr>
              <a:t>Filter and analyse by any combination of attributes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389888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382512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Shift Operations Analytics  ·  Md Raisul Islam Rahad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49808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05 /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66560"/>
            <a:ext cx="11055096" cy="4114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6766560"/>
            <a:ext cx="26289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1463040"/>
            <a:ext cx="11064240" cy="4821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400" b="0">
                <a:solidFill>
                  <a:srgbClr val="0F172A"/>
                </a:solidFill>
                <a:latin typeface="Calibri"/>
              </a:rPr>
              <a:t>One shared filter — date range, reasons, validity — drives every panel and the CSV export, so a filtered view and its download always agree. Combinations apply everywhere at once: charts, streaks, score and insights.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FE6E18-8BDE-2861-F29E-B52EDC7EDA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51076" y="2148085"/>
            <a:ext cx="8659368" cy="4014971"/>
          </a:xfrm>
          <a:prstGeom prst="roundRect">
            <a:avLst>
              <a:gd name="adj" fmla="val 1636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2659599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772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34155"/>
                </a:solidFill>
                <a:latin typeface="Calibri"/>
              </a:rPr>
              <a:t>06 · REQUIREMENT 3 · SHIFT CHART</a:t>
            </a:r>
          </a:p>
        </p:txBody>
      </p:sp>
      <p:sp>
        <p:nvSpPr>
          <p:cNvPr id="3" name="Oval 2"/>
          <p:cNvSpPr/>
          <p:nvPr/>
        </p:nvSpPr>
        <p:spPr>
          <a:xfrm>
            <a:off x="10076688" y="40233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79" y="329184"/>
            <a:ext cx="2084831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4155"/>
                </a:solidFill>
                <a:latin typeface="Calibri"/>
              </a:rPr>
              <a:t>THE BRIEF, DELIVERED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8368"/>
            <a:ext cx="420624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94944"/>
            <a:ext cx="11064240" cy="4360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0F172A"/>
                </a:solidFill>
                <a:latin typeface="Calibri"/>
              </a:rPr>
              <a:t>A 36-hour axis keeps overnight shifts as one continuous bar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389888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382512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Shift Operations Analytics  ·  Md Raisul Islam Rahad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49808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06 /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66560"/>
            <a:ext cx="11055096" cy="4114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6766560"/>
            <a:ext cx="31623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1463040"/>
            <a:ext cx="11064240" cy="4821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400" b="0">
                <a:solidFill>
                  <a:srgbClr val="0F172A"/>
                </a:solidFill>
                <a:latin typeface="Calibri"/>
              </a:rPr>
              <a:t>Date on X, time of day on Y, one coloured bar per shift. A 22:00 → 06:00 shift crosses midnight, so the axis runs 12 AM → next 12 PM (36 h): an overnight bar simply passes the 24-hour line — see Oct 4 — instead of wrapping or breaking.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FE6E18-8BDE-2861-F29E-B52EDC7ED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40712"/>
            <a:ext cx="8128000" cy="4014971"/>
          </a:xfrm>
          <a:prstGeom prst="roundRect">
            <a:avLst>
              <a:gd name="adj" fmla="val 3230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2435705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772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34155"/>
                </a:solidFill>
                <a:latin typeface="Calibri"/>
              </a:rPr>
              <a:t>07 · REQUIREMENT 4 · BREAKDOWN STREAKS</a:t>
            </a:r>
          </a:p>
        </p:txBody>
      </p:sp>
      <p:sp>
        <p:nvSpPr>
          <p:cNvPr id="3" name="Oval 2"/>
          <p:cNvSpPr/>
          <p:nvPr/>
        </p:nvSpPr>
        <p:spPr>
          <a:xfrm>
            <a:off x="10076688" y="40233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79" y="329184"/>
            <a:ext cx="2084831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4155"/>
                </a:solidFill>
                <a:latin typeface="Calibri"/>
              </a:rPr>
              <a:t>THE BRIEF, DELIVERED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8368"/>
            <a:ext cx="420624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94944"/>
            <a:ext cx="11064240" cy="4360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0F172A"/>
                </a:solidFill>
                <a:latin typeface="Calibri"/>
              </a:rPr>
              <a:t>Identify meaningful breakdown streaks — configurable and documented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389888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382512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Shift Operations Analytics  ·  Md Raisul Islam Rahad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49808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07 /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66560"/>
            <a:ext cx="11055096" cy="4114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6766560"/>
            <a:ext cx="36830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1463040"/>
            <a:ext cx="11064240" cy="4821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400" b="0">
                <a:solidFill>
                  <a:srgbClr val="0F172A"/>
                </a:solidFill>
                <a:latin typeface="Calibri"/>
              </a:rPr>
              <a:t>A streak is N or more consecutive calendar days, each containing at least one record from a configurable target set — reported with span, length and severity in downtime hours. Presets switch the definition live; the assumptions are written down, not implied.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FE6E18-8BDE-2861-F29E-B52EDC7EDA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489979" y="2018374"/>
            <a:ext cx="7208993" cy="4014971"/>
          </a:xfrm>
          <a:prstGeom prst="roundRect">
            <a:avLst>
              <a:gd name="adj" fmla="val 2775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9408295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772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34155"/>
                </a:solidFill>
                <a:latin typeface="Calibri"/>
              </a:rPr>
              <a:t>08 · THE KEY FINDING</a:t>
            </a:r>
          </a:p>
        </p:txBody>
      </p:sp>
      <p:sp>
        <p:nvSpPr>
          <p:cNvPr id="3" name="Oval 2"/>
          <p:cNvSpPr/>
          <p:nvPr/>
        </p:nvSpPr>
        <p:spPr>
          <a:xfrm>
            <a:off x="10076688" y="40233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79" y="329184"/>
            <a:ext cx="2084831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4155"/>
                </a:solidFill>
                <a:latin typeface="Calibri"/>
              </a:rPr>
              <a:t>THE BRIEF, DELIVERED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8368"/>
            <a:ext cx="420624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94944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0F172A"/>
                </a:solidFill>
                <a:latin typeface="Calibri"/>
              </a:rPr>
              <a:t>Grouping the labels reveals a 4-day run the raw label hides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389888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382512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Shift Operations Analytics  ·  Md Raisul Islam Rahad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49808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08 /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66560"/>
            <a:ext cx="11055096" cy="4114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6766560"/>
            <a:ext cx="42037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60" y="2148840"/>
            <a:ext cx="1645920" cy="457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0F172A"/>
                </a:solidFill>
                <a:latin typeface="Calibri"/>
              </a:rPr>
              <a:t>Literal “Breakdown”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20440"/>
            <a:ext cx="1645920" cy="457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0F172A"/>
                </a:solidFill>
                <a:latin typeface="Calibri"/>
              </a:rPr>
              <a:t>Failure family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79" y="42976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Oct 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2286000"/>
            <a:ext cx="0" cy="1965960"/>
          </a:xfrm>
          <a:prstGeom prst="line">
            <a:avLst/>
          </a:prstGeom>
          <a:ln w="9525">
            <a:solidFill>
              <a:srgbClr val="F8FAF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703320" y="42976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Oct 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23359" y="2286000"/>
            <a:ext cx="0" cy="1965960"/>
          </a:xfrm>
          <a:prstGeom prst="line">
            <a:avLst/>
          </a:prstGeom>
          <a:ln w="9525">
            <a:solidFill>
              <a:srgbClr val="F8FAF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166360" y="42976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Oct 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0" y="2286000"/>
            <a:ext cx="0" cy="1965960"/>
          </a:xfrm>
          <a:prstGeom prst="line">
            <a:avLst/>
          </a:prstGeom>
          <a:ln w="9525">
            <a:solidFill>
              <a:srgbClr val="F8FAF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29400" y="42976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Oct 12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49440" y="2286000"/>
            <a:ext cx="0" cy="1965960"/>
          </a:xfrm>
          <a:prstGeom prst="line">
            <a:avLst/>
          </a:prstGeom>
          <a:ln w="9525">
            <a:solidFill>
              <a:srgbClr val="F8FAF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092440" y="42976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Oct 15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12480" y="2286000"/>
            <a:ext cx="0" cy="1965960"/>
          </a:xfrm>
          <a:prstGeom prst="line">
            <a:avLst/>
          </a:prstGeom>
          <a:ln w="9525">
            <a:solidFill>
              <a:srgbClr val="F8FAF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555480" y="42976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Oct 18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875520" y="2286000"/>
            <a:ext cx="0" cy="1965960"/>
          </a:xfrm>
          <a:prstGeom prst="line">
            <a:avLst/>
          </a:prstGeom>
          <a:ln w="9525">
            <a:solidFill>
              <a:srgbClr val="F8FAF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018519" y="4297680"/>
            <a:ext cx="822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Oct 21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338559" y="2286000"/>
            <a:ext cx="0" cy="1965960"/>
          </a:xfrm>
          <a:prstGeom prst="line">
            <a:avLst/>
          </a:prstGeom>
          <a:ln w="9525">
            <a:solidFill>
              <a:srgbClr val="F8FAF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998720" y="2194560"/>
            <a:ext cx="975359" cy="457200"/>
          </a:xfrm>
          <a:prstGeom prst="roundRect">
            <a:avLst>
              <a:gd name="adj" fmla="val 6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8FAFC"/>
                </a:solidFill>
                <a:latin typeface="Calibri"/>
              </a:rPr>
              <a:t>2-day blip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60320" y="3566160"/>
            <a:ext cx="975359" cy="45720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8FAFC"/>
                </a:solidFill>
                <a:latin typeface="Calibri"/>
              </a:rPr>
              <a:t>2d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11040" y="3566160"/>
            <a:ext cx="1950719" cy="457200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F172A"/>
                </a:solidFill>
                <a:latin typeface="Calibri"/>
              </a:rPr>
              <a:t>4-DAY RUN (Oct 7–10)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850880" y="3566160"/>
            <a:ext cx="975359" cy="45720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8FAFC"/>
                </a:solidFill>
                <a:latin typeface="Calibri"/>
              </a:rPr>
              <a:t>2d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02920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300" b="0">
                <a:solidFill>
                  <a:srgbClr val="0F172A"/>
                </a:solidFill>
                <a:latin typeface="Calibri"/>
              </a:rPr>
              <a:t>Literal </a:t>
            </a:r>
            <a:r>
              <a:rPr sz="1300" b="1">
                <a:solidFill>
                  <a:srgbClr val="0F172A"/>
                </a:solidFill>
                <a:latin typeface="Consolas"/>
              </a:rPr>
              <a:t>Breakdown</a:t>
            </a:r>
            <a:r>
              <a:rPr sz="1300" b="0">
                <a:solidFill>
                  <a:srgbClr val="0F172A"/>
                </a:solidFill>
                <a:latin typeface="Calibri"/>
              </a:rPr>
              <a:t> label → one 2-day blip.   Widen to the </a:t>
            </a:r>
            <a:r>
              <a:rPr sz="1300" b="1">
                <a:solidFill>
                  <a:srgbClr val="0F172A"/>
                </a:solidFill>
                <a:latin typeface="Calibri"/>
              </a:rPr>
              <a:t>failure family</a:t>
            </a:r>
            <a:r>
              <a:rPr sz="1300" b="0">
                <a:solidFill>
                  <a:srgbClr val="0F172A"/>
                </a:solidFill>
                <a:latin typeface="Calibri"/>
              </a:rPr>
              <a:t> (Breakdown + Power Failure + Machine Jam + Unknown Failure) → a </a:t>
            </a:r>
            <a:r>
              <a:rPr sz="1300" b="1">
                <a:solidFill>
                  <a:srgbClr val="FBBF24"/>
                </a:solidFill>
                <a:latin typeface="Calibri"/>
              </a:rPr>
              <a:t>4-day downtime run</a:t>
            </a:r>
            <a:r>
              <a:rPr sz="1300" b="0">
                <a:solidFill>
                  <a:srgbClr val="0F172A"/>
                </a:solidFill>
                <a:latin typeface="Calibri"/>
              </a:rPr>
              <a:t> emerges.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50" b="1">
                <a:solidFill>
                  <a:srgbClr val="0F172A"/>
                </a:solidFill>
                <a:latin typeface="Calibri"/>
              </a:rPr>
              <a:t>➡  Concrete, data-driven evidence for why categories must be groupable.</a:t>
            </a:r>
          </a:p>
        </p:txBody>
      </p:sp>
    </p:spTree>
    <p:extLst>
      <p:ext uri="{BB962C8B-B14F-4D97-AF65-F5344CB8AC3E}">
        <p14:creationId xmlns:p14="http://schemas.microsoft.com/office/powerpoint/2010/main" val="3292397969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772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34155"/>
                </a:solidFill>
                <a:latin typeface="Calibri"/>
              </a:rPr>
              <a:t>09 · REQUIREMENT 5 · EFFICIENCY SCORE</a:t>
            </a:r>
          </a:p>
        </p:txBody>
      </p:sp>
      <p:sp>
        <p:nvSpPr>
          <p:cNvPr id="3" name="Oval 2"/>
          <p:cNvSpPr/>
          <p:nvPr/>
        </p:nvSpPr>
        <p:spPr>
          <a:xfrm>
            <a:off x="10076688" y="40233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79" y="329184"/>
            <a:ext cx="2084831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4155"/>
                </a:solidFill>
                <a:latin typeface="Calibri"/>
              </a:rPr>
              <a:t>THE BRIEF, DELIVERED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8368"/>
            <a:ext cx="420624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94944"/>
            <a:ext cx="11064240" cy="4360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0F172A"/>
                </a:solidFill>
                <a:latin typeface="Calibri"/>
              </a:rPr>
              <a:t>(Productive ÷ Total) × 100 — implemented exactly as specified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389888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382512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Shift Operations Analytics  ·  Md Raisul Islam Rahad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49808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09 /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66560"/>
            <a:ext cx="11055096" cy="4114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6766560"/>
            <a:ext cx="47371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1463040"/>
            <a:ext cx="11064240" cy="4821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400" b="0" dirty="0">
                <a:solidFill>
                  <a:srgbClr val="0F172A"/>
                </a:solidFill>
                <a:latin typeface="Calibri"/>
              </a:rPr>
              <a:t>86.8% overall on the bundled data, plus a daily trend. I followed the formula literally — only Breakdown and Unknown Failure count as non-productive — then made the set configurable,</a:t>
            </a:r>
            <a:r>
              <a:rPr lang="en-US" sz="1400" b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400" b="0" dirty="0">
                <a:solidFill>
                  <a:srgbClr val="0F172A"/>
                </a:solidFill>
                <a:latin typeface="Calibri"/>
              </a:rPr>
              <a:t>and gave streaks a broader failure family so downtime analysis is not limited by the formula.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FE6E18-8BDE-2861-F29E-B52EDC7EDA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632717" y="2018374"/>
            <a:ext cx="6923518" cy="4014971"/>
          </a:xfrm>
          <a:prstGeom prst="roundRect">
            <a:avLst>
              <a:gd name="adj" fmla="val 4596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5246909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772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34155"/>
                </a:solidFill>
                <a:latin typeface="Calibri"/>
              </a:rPr>
              <a:t>10 · REQUIREMENT 6 · ACTIONABLE INSIGHTS</a:t>
            </a:r>
          </a:p>
        </p:txBody>
      </p:sp>
      <p:sp>
        <p:nvSpPr>
          <p:cNvPr id="3" name="Oval 2"/>
          <p:cNvSpPr/>
          <p:nvPr/>
        </p:nvSpPr>
        <p:spPr>
          <a:xfrm>
            <a:off x="10076688" y="40233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79" y="329184"/>
            <a:ext cx="2084831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4155"/>
                </a:solidFill>
                <a:latin typeface="Calibri"/>
              </a:rPr>
              <a:t>THE BRIEF, DELIVERED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8368"/>
            <a:ext cx="420624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94944"/>
            <a:ext cx="11064240" cy="4360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0F172A"/>
                </a:solidFill>
                <a:latin typeface="Calibri"/>
              </a:rPr>
              <a:t>Five-plus insights a plant manager can act on — computed, never hardcoded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389888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382512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Shift Operations Analytics  ·  Md Raisul Islam Rahad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49808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10 /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66560"/>
            <a:ext cx="11055096" cy="4114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6766560"/>
            <a:ext cx="52578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1463040"/>
            <a:ext cx="11064240" cy="4821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400" b="0">
                <a:solidFill>
                  <a:srgbClr val="0F172A"/>
                </a:solidFill>
                <a:latin typeface="Calibri"/>
              </a:rPr>
              <a:t>Biggest downtime driver, peak failure window, worst day, data-quality signal and more — each generated live from the current filtered dataset, so the insights update the moment the data, the filters or the grouping change.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FE6E18-8BDE-2861-F29E-B52EDC7EDA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68863" y="2018374"/>
            <a:ext cx="6423794" cy="4014971"/>
          </a:xfrm>
          <a:prstGeom prst="roundRect">
            <a:avLst>
              <a:gd name="adj" fmla="val 3913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22970385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772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34155"/>
                </a:solidFill>
                <a:latin typeface="Calibri"/>
              </a:rPr>
              <a:t>11 · REQUIREMENT 7 · BUILT FOR CHANGE</a:t>
            </a:r>
          </a:p>
        </p:txBody>
      </p:sp>
      <p:sp>
        <p:nvSpPr>
          <p:cNvPr id="3" name="Oval 2"/>
          <p:cNvSpPr/>
          <p:nvPr/>
        </p:nvSpPr>
        <p:spPr>
          <a:xfrm>
            <a:off x="10076688" y="40233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79" y="329184"/>
            <a:ext cx="2084831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4155"/>
                </a:solidFill>
                <a:latin typeface="Calibri"/>
              </a:rPr>
              <a:t>THE BRIEF, DELIVERED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8368"/>
            <a:ext cx="420624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94944"/>
            <a:ext cx="11064240" cy="4360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0F172A"/>
                </a:solidFill>
                <a:latin typeface="Calibri"/>
              </a:rPr>
              <a:t>New categories appear, related ones group — every view re-flows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389888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382512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Shift Operations Analytics  ·  Md Raisul Islam Rahad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49808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11 /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66560"/>
            <a:ext cx="11055096" cy="4114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6766560"/>
            <a:ext cx="57912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1463040"/>
            <a:ext cx="11064240" cy="4821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400" b="0">
                <a:solidFill>
                  <a:srgbClr val="0F172A"/>
                </a:solidFill>
                <a:latin typeface="Calibri"/>
              </a:rPr>
              <a:t>Reasons are derived from the data, never hardcoded, and colours are assigned deterministically. Merge related reasons in the group editor and every chart, streak and score re-aggregates instantly — proven live by uploading sample_new_categories.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FE6E18-8BDE-2861-F29E-B52EDC7EDA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45751" y="2018374"/>
            <a:ext cx="8070017" cy="4014971"/>
          </a:xfrm>
          <a:prstGeom prst="roundRect">
            <a:avLst>
              <a:gd name="adj" fmla="val 4369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7681692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0B1220"/>
              </a:gs>
            </a:gsLst>
            <a:lin ang="14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95360" y="1280160"/>
            <a:ext cx="3931920" cy="393192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0" y="1828799"/>
            <a:ext cx="2834640" cy="283464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46920" y="2331720"/>
            <a:ext cx="1828800" cy="1828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46920" y="2560320"/>
            <a:ext cx="1828800" cy="1371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38BDF8"/>
                </a:solidFill>
                <a:latin typeface="Calibri"/>
              </a:rPr>
              <a:t>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6583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8BDF8"/>
                </a:solidFill>
                <a:latin typeface="Calibri"/>
              </a:rPr>
              <a:t>PART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487168"/>
            <a:ext cx="676656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800" b="1">
                <a:solidFill>
                  <a:srgbClr val="F8FAFC"/>
                </a:solidFill>
                <a:latin typeface="Calibri"/>
              </a:rPr>
              <a:t>Beyond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800" b="1">
                <a:solidFill>
                  <a:srgbClr val="F8FAFC"/>
                </a:solidFill>
                <a:latin typeface="Calibri"/>
              </a:rPr>
              <a:t>the brief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023360"/>
            <a:ext cx="1371600" cy="640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6675120" cy="1645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38BDF8"/>
                </a:solidFill>
                <a:latin typeface="Calibri"/>
              </a:rPr>
              <a:t>—  </a:t>
            </a:r>
            <a:r>
              <a:rPr sz="1300" b="0">
                <a:solidFill>
                  <a:srgbClr val="94A3B8"/>
                </a:solidFill>
                <a:latin typeface="Calibri"/>
              </a:rPr>
              <a:t>Reliability KPIs — MTBF, MTTR, Availability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38BDF8"/>
                </a:solidFill>
                <a:latin typeface="Calibri"/>
              </a:rPr>
              <a:t>—  </a:t>
            </a:r>
            <a:r>
              <a:rPr sz="1300" b="0">
                <a:solidFill>
                  <a:srgbClr val="94A3B8"/>
                </a:solidFill>
                <a:latin typeface="Calibri"/>
              </a:rPr>
              <a:t>Optional AI that structurally cannot fabricate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38BDF8"/>
                </a:solidFill>
                <a:latin typeface="Calibri"/>
              </a:rPr>
              <a:t>—  </a:t>
            </a:r>
            <a:r>
              <a:rPr sz="1300" b="0">
                <a:solidFill>
                  <a:srgbClr val="94A3B8"/>
                </a:solidFill>
                <a:latin typeface="Calibri"/>
              </a:rPr>
              <a:t>Upload any format, export a filtered CSV</a:t>
            </a:r>
          </a:p>
        </p:txBody>
      </p:sp>
    </p:spTree>
    <p:extLst>
      <p:ext uri="{BB962C8B-B14F-4D97-AF65-F5344CB8AC3E}">
        <p14:creationId xmlns:p14="http://schemas.microsoft.com/office/powerpoint/2010/main" val="1720621332"/>
      </p:ext>
    </p:extLst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772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34155"/>
                </a:solidFill>
                <a:latin typeface="Calibri"/>
              </a:rPr>
              <a:t>12 · RELIABILITY KPIS</a:t>
            </a:r>
          </a:p>
        </p:txBody>
      </p:sp>
      <p:sp>
        <p:nvSpPr>
          <p:cNvPr id="3" name="Oval 2"/>
          <p:cNvSpPr/>
          <p:nvPr/>
        </p:nvSpPr>
        <p:spPr>
          <a:xfrm>
            <a:off x="10076688" y="40233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79" y="329184"/>
            <a:ext cx="2084831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4155"/>
                </a:solidFill>
                <a:latin typeface="Calibri"/>
              </a:rPr>
              <a:t>BEYOND THE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8368"/>
            <a:ext cx="420624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94944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0F172A"/>
                </a:solidFill>
                <a:latin typeface="Calibri"/>
              </a:rPr>
              <a:t>Speak the maintenance team's language — no black boxes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389888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382512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Shift Operations Analytics  ·  Md Raisul Islam Rahad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49808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12 /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66560"/>
            <a:ext cx="11055096" cy="4114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6766560"/>
            <a:ext cx="63119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66928" y="16002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400" b="0" dirty="0">
                <a:solidFill>
                  <a:srgbClr val="F8FAFC"/>
                </a:solidFill>
                <a:latin typeface="Consolas"/>
              </a:rPr>
              <a:t>MTTR  =  downtime hours ÷ failure count            (mean time to repair)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400" b="0" dirty="0">
                <a:solidFill>
                  <a:srgbClr val="F8FAFC"/>
                </a:solidFill>
                <a:latin typeface="Consolas"/>
              </a:rPr>
              <a:t>MTBF  =  uptime  hours ÷ failure count            (mean time between failures)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400" b="0" dirty="0">
                <a:solidFill>
                  <a:srgbClr val="38BDF8"/>
                </a:solidFill>
                <a:latin typeface="Consolas"/>
              </a:rPr>
              <a:t>Availability  =  uptime ÷ total × 100  =  MTBF ÷ (MTBF + MTTR) × 100</a:t>
            </a:r>
          </a:p>
        </p:txBody>
      </p:sp>
      <p:sp>
        <p:nvSpPr>
          <p:cNvPr id="30" name="KPI Heading"/>
          <p:cNvSpPr txBox="1"/>
          <p:nvPr/>
        </p:nvSpPr>
        <p:spPr>
          <a:xfrm>
            <a:off x="571500" y="3175000"/>
            <a:ext cx="7620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dirty="0">
                <a:solidFill>
                  <a:srgbClr val="0F172A"/>
                </a:solidFill>
                <a:latin typeface="Calibri"/>
              </a:rPr>
              <a:t>Reliability</a:t>
            </a:r>
          </a:p>
        </p:txBody>
      </p:sp>
      <p:sp>
        <p:nvSpPr>
          <p:cNvPr id="31" name="KPI Subtitle"/>
          <p:cNvSpPr txBox="1"/>
          <p:nvPr/>
        </p:nvSpPr>
        <p:spPr>
          <a:xfrm>
            <a:off x="571500" y="3479800"/>
            <a:ext cx="9652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dirty="0">
                <a:solidFill>
                  <a:srgbClr val="64748B"/>
                </a:solidFill>
                <a:latin typeface="Calibri"/>
              </a:rPr>
              <a:t>Standard maintenance KPIs computed over unplanned failures</a:t>
            </a:r>
          </a:p>
        </p:txBody>
      </p:sp>
      <p:sp>
        <p:nvSpPr>
          <p:cNvPr id="32" name="KPI Card MTBF"/>
          <p:cNvSpPr/>
          <p:nvPr/>
        </p:nvSpPr>
        <p:spPr>
          <a:xfrm>
            <a:off x="571500" y="3810000"/>
            <a:ext cx="2590800" cy="2222500"/>
          </a:xfrm>
          <a:prstGeom prst="roundRect">
            <a:avLst>
              <a:gd name="adj" fmla="val 6000"/>
            </a:avLst>
          </a:prstGeom>
          <a:solidFill>
            <a:srgbClr val="EEF0FE"/>
          </a:solidFill>
          <a:ln>
            <a:noFill/>
          </a:ln>
        </p:spPr>
        <p:txBody>
          <a:bodyPr wrap="square" lIns="228600" tIns="254000" rIns="177800" bIns="177800" anchor="t"/>
          <a:lstStyle/>
          <a:p>
            <a:pPr algn="l"/>
            <a:r>
              <a:rPr sz="3200" b="1" dirty="0">
                <a:solidFill>
                  <a:srgbClr val="6366F1"/>
                </a:solidFill>
                <a:latin typeface="Calibri"/>
              </a:rPr>
              <a:t>7.38 h</a:t>
            </a:r>
          </a:p>
          <a:p>
            <a:pPr algn="l">
              <a:spcBef>
                <a:spcPts val="700"/>
              </a:spcBef>
            </a:pPr>
            <a:r>
              <a:rPr sz="1500" b="1" dirty="0">
                <a:solidFill>
                  <a:srgbClr val="0F172A"/>
                </a:solidFill>
                <a:latin typeface="Calibri"/>
              </a:rPr>
              <a:t>MTBF</a:t>
            </a:r>
          </a:p>
          <a:p>
            <a:pPr algn="l">
              <a:spcBef>
                <a:spcPts val="200"/>
              </a:spcBef>
            </a:pPr>
            <a:r>
              <a:rPr sz="1300" b="0" dirty="0">
                <a:solidFill>
                  <a:srgbClr val="64748B"/>
                </a:solidFill>
                <a:latin typeface="Calibri"/>
              </a:rPr>
              <a:t>Mean Time Between Failures</a:t>
            </a:r>
          </a:p>
        </p:txBody>
      </p:sp>
      <p:sp>
        <p:nvSpPr>
          <p:cNvPr id="33" name="KPI Card MTTR"/>
          <p:cNvSpPr/>
          <p:nvPr/>
        </p:nvSpPr>
        <p:spPr>
          <a:xfrm>
            <a:off x="3390900" y="3810000"/>
            <a:ext cx="2590800" cy="222250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>
            <a:noFill/>
          </a:ln>
        </p:spPr>
        <p:txBody>
          <a:bodyPr wrap="square" lIns="228600" tIns="254000" rIns="177800" bIns="177800" anchor="t"/>
          <a:lstStyle/>
          <a:p>
            <a:pPr algn="l"/>
            <a:r>
              <a:rPr sz="3200" b="1" dirty="0">
                <a:solidFill>
                  <a:srgbClr val="D97706"/>
                </a:solidFill>
                <a:latin typeface="Calibri"/>
              </a:rPr>
              <a:t>2.77 h</a:t>
            </a:r>
          </a:p>
          <a:p>
            <a:pPr algn="l">
              <a:spcBef>
                <a:spcPts val="700"/>
              </a:spcBef>
            </a:pPr>
            <a:r>
              <a:rPr sz="1500" b="1" dirty="0">
                <a:solidFill>
                  <a:srgbClr val="0F172A"/>
                </a:solidFill>
                <a:latin typeface="Calibri"/>
              </a:rPr>
              <a:t>MTTR</a:t>
            </a:r>
          </a:p>
          <a:p>
            <a:pPr algn="l">
              <a:spcBef>
                <a:spcPts val="200"/>
              </a:spcBef>
            </a:pPr>
            <a:r>
              <a:rPr sz="1300" b="0" dirty="0">
                <a:solidFill>
                  <a:srgbClr val="64748B"/>
                </a:solidFill>
                <a:latin typeface="Calibri"/>
              </a:rPr>
              <a:t>Mean Time To Repair</a:t>
            </a:r>
          </a:p>
        </p:txBody>
      </p:sp>
      <p:sp>
        <p:nvSpPr>
          <p:cNvPr id="34" name="KPI Card Availability"/>
          <p:cNvSpPr/>
          <p:nvPr/>
        </p:nvSpPr>
        <p:spPr>
          <a:xfrm>
            <a:off x="6210300" y="3810000"/>
            <a:ext cx="2590800" cy="2222500"/>
          </a:xfrm>
          <a:prstGeom prst="roundRect">
            <a:avLst>
              <a:gd name="adj" fmla="val 6000"/>
            </a:avLst>
          </a:prstGeom>
          <a:solidFill>
            <a:srgbClr val="E7F6FE"/>
          </a:solidFill>
          <a:ln>
            <a:noFill/>
          </a:ln>
        </p:spPr>
        <p:txBody>
          <a:bodyPr wrap="square" lIns="228600" tIns="254000" rIns="177800" bIns="177800" anchor="t"/>
          <a:lstStyle/>
          <a:p>
            <a:pPr algn="l"/>
            <a:r>
              <a:rPr sz="3200" b="1" dirty="0">
                <a:solidFill>
                  <a:srgbClr val="0284C7"/>
                </a:solidFill>
                <a:latin typeface="Calibri"/>
              </a:rPr>
              <a:t>72.7%</a:t>
            </a:r>
          </a:p>
          <a:p>
            <a:pPr algn="l">
              <a:spcBef>
                <a:spcPts val="700"/>
              </a:spcBef>
            </a:pPr>
            <a:r>
              <a:rPr sz="1500" b="1" dirty="0">
                <a:solidFill>
                  <a:srgbClr val="0F172A"/>
                </a:solidFill>
                <a:latin typeface="Calibri"/>
              </a:rPr>
              <a:t>Availability</a:t>
            </a:r>
          </a:p>
          <a:p>
            <a:pPr algn="l">
              <a:spcBef>
                <a:spcPts val="200"/>
              </a:spcBef>
            </a:pPr>
            <a:r>
              <a:rPr sz="1300" b="0" dirty="0">
                <a:solidFill>
                  <a:srgbClr val="64748B"/>
                </a:solidFill>
                <a:latin typeface="Calibri"/>
              </a:rPr>
              <a:t>Uptime Share</a:t>
            </a:r>
          </a:p>
        </p:txBody>
      </p:sp>
      <p:sp>
        <p:nvSpPr>
          <p:cNvPr id="35" name="KPI Card Failures"/>
          <p:cNvSpPr/>
          <p:nvPr/>
        </p:nvSpPr>
        <p:spPr>
          <a:xfrm>
            <a:off x="9029700" y="3810000"/>
            <a:ext cx="2590800" cy="2222500"/>
          </a:xfrm>
          <a:prstGeom prst="roundRect">
            <a:avLst>
              <a:gd name="adj" fmla="val 6000"/>
            </a:avLst>
          </a:prstGeom>
          <a:solidFill>
            <a:srgbClr val="FCEBF3"/>
          </a:solidFill>
          <a:ln>
            <a:noFill/>
          </a:ln>
        </p:spPr>
        <p:txBody>
          <a:bodyPr wrap="square" lIns="228600" tIns="254000" rIns="177800" bIns="177800" anchor="t"/>
          <a:lstStyle/>
          <a:p>
            <a:pPr algn="l"/>
            <a:r>
              <a:rPr sz="3200" b="1" dirty="0">
                <a:solidFill>
                  <a:srgbClr val="DB2777"/>
                </a:solidFill>
                <a:latin typeface="Calibri"/>
              </a:rPr>
              <a:t>14</a:t>
            </a:r>
          </a:p>
          <a:p>
            <a:pPr algn="l">
              <a:spcBef>
                <a:spcPts val="700"/>
              </a:spcBef>
            </a:pPr>
            <a:r>
              <a:rPr sz="1500" b="1" dirty="0">
                <a:solidFill>
                  <a:srgbClr val="0F172A"/>
                </a:solidFill>
                <a:latin typeface="Calibri"/>
              </a:rPr>
              <a:t>Failures</a:t>
            </a:r>
          </a:p>
          <a:p>
            <a:pPr algn="l">
              <a:spcBef>
                <a:spcPts val="200"/>
              </a:spcBef>
            </a:pPr>
            <a:r>
              <a:rPr sz="1300" b="0" dirty="0">
                <a:solidFill>
                  <a:srgbClr val="64748B"/>
                </a:solidFill>
                <a:latin typeface="Calibri"/>
              </a:rPr>
              <a:t>38.8 h Downtime</a:t>
            </a:r>
          </a:p>
        </p:txBody>
      </p:sp>
    </p:spTree>
    <p:extLst>
      <p:ext uri="{BB962C8B-B14F-4D97-AF65-F5344CB8AC3E}">
        <p14:creationId xmlns:p14="http://schemas.microsoft.com/office/powerpoint/2010/main" val="3639881761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772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34155"/>
                </a:solidFill>
                <a:latin typeface="Calibri"/>
              </a:rPr>
              <a:t>13 · AI FEATURES</a:t>
            </a:r>
          </a:p>
        </p:txBody>
      </p:sp>
      <p:sp>
        <p:nvSpPr>
          <p:cNvPr id="3" name="Oval 2"/>
          <p:cNvSpPr/>
          <p:nvPr/>
        </p:nvSpPr>
        <p:spPr>
          <a:xfrm>
            <a:off x="10076688" y="40233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79" y="329184"/>
            <a:ext cx="2084831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4155"/>
                </a:solidFill>
                <a:latin typeface="Calibri"/>
              </a:rPr>
              <a:t>BEYOND THE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8368"/>
            <a:ext cx="420624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94944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0F172A"/>
                </a:solidFill>
                <a:latin typeface="Calibri"/>
              </a:rPr>
              <a:t>Useful — and boxed in so they can't fabricate data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389888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382512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Shift Operations Analytics  ·  Md Raisul Islam Rahad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49808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13 /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66560"/>
            <a:ext cx="11055096" cy="4114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6766560"/>
            <a:ext cx="68453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Card 40"/>
          <p:cNvSpPr/>
          <p:nvPr/>
        </p:nvSpPr>
        <p:spPr>
          <a:xfrm>
            <a:off x="571500" y="1554480"/>
            <a:ext cx="5435600" cy="45339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42" name="Heading 40"/>
          <p:cNvSpPr txBox="1"/>
          <p:nvPr/>
        </p:nvSpPr>
        <p:spPr>
          <a:xfrm>
            <a:off x="952500" y="2895600"/>
            <a:ext cx="46736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>
                <a:solidFill>
                  <a:srgbClr val="0F172A"/>
                </a:solidFill>
                <a:latin typeface="Calibri"/>
              </a:rPr>
              <a:t>Suggest grouping</a:t>
            </a:r>
          </a:p>
        </p:txBody>
      </p:sp>
      <p:sp>
        <p:nvSpPr>
          <p:cNvPr id="43" name="Desc 40"/>
          <p:cNvSpPr txBox="1"/>
          <p:nvPr/>
        </p:nvSpPr>
        <p:spPr>
          <a:xfrm>
            <a:off x="952500" y="3327400"/>
            <a:ext cx="47244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dirty="0">
                <a:solidFill>
                  <a:srgbClr val="334155"/>
                </a:solidFill>
                <a:latin typeface="Calibri"/>
              </a:rPr>
              <a:t>An LLM proposes reason groups, merging synonyms, typos and casing variants.</a:t>
            </a:r>
          </a:p>
        </p:txBody>
      </p:sp>
      <p:sp>
        <p:nvSpPr>
          <p:cNvPr id="44" name="Guardrail 40"/>
          <p:cNvSpPr/>
          <p:nvPr/>
        </p:nvSpPr>
        <p:spPr>
          <a:xfrm>
            <a:off x="901700" y="4263390"/>
            <a:ext cx="4826000" cy="1651000"/>
          </a:xfrm>
          <a:prstGeom prst="roundRect">
            <a:avLst>
              <a:gd name="adj" fmla="val 6000"/>
            </a:avLst>
          </a:prstGeom>
          <a:solidFill>
            <a:srgbClr val="E9FBF3"/>
          </a:solidFill>
          <a:ln w="12700">
            <a:solidFill>
              <a:srgbClr val="C7EED9"/>
            </a:solidFill>
          </a:ln>
        </p:spPr>
        <p:txBody>
          <a:bodyPr wrap="square" lIns="203200" tIns="584200" rIns="203200" bIns="152400" anchor="t"/>
          <a:lstStyle/>
          <a:p>
            <a:pPr algn="l"/>
            <a:r>
              <a:rPr sz="1250" b="0" dirty="0">
                <a:solidFill>
                  <a:srgbClr val="334155"/>
                </a:solidFill>
                <a:latin typeface="Calibri"/>
              </a:rPr>
              <a:t>Output is validated against the real reason list — hallucinated reasons are dropped; nothing persists until you approve.</a:t>
            </a:r>
          </a:p>
        </p:txBody>
      </p:sp>
      <p:sp>
        <p:nvSpPr>
          <p:cNvPr id="50" name="Card 50"/>
          <p:cNvSpPr/>
          <p:nvPr/>
        </p:nvSpPr>
        <p:spPr>
          <a:xfrm>
            <a:off x="6184900" y="1600200"/>
            <a:ext cx="5435600" cy="45339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Heading 50"/>
          <p:cNvSpPr txBox="1"/>
          <p:nvPr/>
        </p:nvSpPr>
        <p:spPr>
          <a:xfrm>
            <a:off x="6565900" y="2895600"/>
            <a:ext cx="46736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>
                <a:solidFill>
                  <a:srgbClr val="0F172A"/>
                </a:solidFill>
                <a:latin typeface="Calibri"/>
              </a:rPr>
              <a:t>Executive summary</a:t>
            </a:r>
          </a:p>
        </p:txBody>
      </p:sp>
      <p:sp>
        <p:nvSpPr>
          <p:cNvPr id="53" name="Desc 50"/>
          <p:cNvSpPr txBox="1"/>
          <p:nvPr/>
        </p:nvSpPr>
        <p:spPr>
          <a:xfrm>
            <a:off x="6565900" y="3327400"/>
            <a:ext cx="47244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dirty="0">
                <a:solidFill>
                  <a:srgbClr val="334155"/>
                </a:solidFill>
                <a:latin typeface="Calibri"/>
              </a:rPr>
              <a:t>A plain-language briefing of the current filtered view for leadership.</a:t>
            </a:r>
          </a:p>
        </p:txBody>
      </p:sp>
      <p:sp>
        <p:nvSpPr>
          <p:cNvPr id="54" name="Guardrail 50"/>
          <p:cNvSpPr/>
          <p:nvPr/>
        </p:nvSpPr>
        <p:spPr>
          <a:xfrm>
            <a:off x="6554927" y="4263390"/>
            <a:ext cx="4826000" cy="1651000"/>
          </a:xfrm>
          <a:prstGeom prst="roundRect">
            <a:avLst>
              <a:gd name="adj" fmla="val 6000"/>
            </a:avLst>
          </a:prstGeom>
          <a:solidFill>
            <a:srgbClr val="E9FBF3"/>
          </a:solidFill>
          <a:ln w="12700">
            <a:solidFill>
              <a:srgbClr val="C7EED9"/>
            </a:solidFill>
          </a:ln>
        </p:spPr>
        <p:txBody>
          <a:bodyPr wrap="square" lIns="203200" tIns="584200" rIns="203200" bIns="152400" anchor="t"/>
          <a:lstStyle/>
          <a:p>
            <a:pPr algn="l"/>
            <a:r>
              <a:rPr sz="1250" b="0" dirty="0">
                <a:solidFill>
                  <a:srgbClr val="334155"/>
                </a:solidFill>
                <a:latin typeface="Calibri"/>
              </a:rPr>
              <a:t>The model only sees numbers computed server-side — never raw rows — so it cannot invent figures.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4EB1293-2037-8B85-4E21-25D0B405EBC5}"/>
              </a:ext>
            </a:extLst>
          </p:cNvPr>
          <p:cNvGrpSpPr/>
          <p:nvPr/>
        </p:nvGrpSpPr>
        <p:grpSpPr>
          <a:xfrm>
            <a:off x="894080" y="1966977"/>
            <a:ext cx="736600" cy="736600"/>
            <a:chOff x="1054100" y="1955800"/>
            <a:chExt cx="736600" cy="736600"/>
          </a:xfrm>
        </p:grpSpPr>
        <p:sp>
          <p:nvSpPr>
            <p:cNvPr id="41" name="IconCircle 40"/>
            <p:cNvSpPr/>
            <p:nvPr/>
          </p:nvSpPr>
          <p:spPr>
            <a:xfrm>
              <a:off x="1054100" y="1955800"/>
              <a:ext cx="736600" cy="736600"/>
            </a:xfrm>
            <a:prstGeom prst="ellipse">
              <a:avLst/>
            </a:prstGeom>
            <a:solidFill>
              <a:srgbClr val="0284C7"/>
            </a:solidFill>
            <a:ln>
              <a:noFill/>
            </a:ln>
          </p:spPr>
          <p:txBody>
            <a:bodyPr/>
            <a:lstStyle/>
            <a:p>
              <a:endParaRPr dirty="0"/>
            </a:p>
          </p:txBody>
        </p:sp>
        <p:pic>
          <p:nvPicPr>
            <p:cNvPr id="56" name="Graphic 56" descr="AI suggest 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39520" y="2146300"/>
              <a:ext cx="355600" cy="3556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510FB70-3EF9-0F05-E28F-BF0131114565}"/>
              </a:ext>
            </a:extLst>
          </p:cNvPr>
          <p:cNvGrpSpPr/>
          <p:nvPr/>
        </p:nvGrpSpPr>
        <p:grpSpPr>
          <a:xfrm>
            <a:off x="6428739" y="1993900"/>
            <a:ext cx="736600" cy="736600"/>
            <a:chOff x="7586979" y="1910588"/>
            <a:chExt cx="736600" cy="736600"/>
          </a:xfrm>
        </p:grpSpPr>
        <p:sp>
          <p:nvSpPr>
            <p:cNvPr id="51" name="IconCircle 50"/>
            <p:cNvSpPr/>
            <p:nvPr/>
          </p:nvSpPr>
          <p:spPr>
            <a:xfrm>
              <a:off x="7586979" y="1910588"/>
              <a:ext cx="736600" cy="73660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57" name="Graphic 57" descr="Summary document 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777479" y="2084833"/>
              <a:ext cx="355600" cy="355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1891787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772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34155"/>
                </a:solidFill>
                <a:latin typeface="Calibri"/>
              </a:rPr>
              <a:t>14 · UPLOAD &amp; EXPORT</a:t>
            </a:r>
          </a:p>
        </p:txBody>
      </p:sp>
      <p:sp>
        <p:nvSpPr>
          <p:cNvPr id="3" name="Oval 2"/>
          <p:cNvSpPr/>
          <p:nvPr/>
        </p:nvSpPr>
        <p:spPr>
          <a:xfrm>
            <a:off x="10076688" y="40233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79" y="329184"/>
            <a:ext cx="2084831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4155"/>
                </a:solidFill>
                <a:latin typeface="Calibri"/>
              </a:rPr>
              <a:t>BEYOND THE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8368"/>
            <a:ext cx="420624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94944"/>
            <a:ext cx="11064240" cy="4360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0F172A"/>
                </a:solidFill>
                <a:latin typeface="Calibri"/>
              </a:rPr>
              <a:t>Any dataset in — CSV, TSV, Excel or JSON — filtered CSV out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389888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382512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Shift Operations Analytics  ·  Md Raisul Islam Rahad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49808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14 /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66560"/>
            <a:ext cx="11055096" cy="4114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6766560"/>
            <a:ext cx="73660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1463040"/>
            <a:ext cx="11064240" cy="4821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400" b="0">
                <a:solidFill>
                  <a:srgbClr val="0F172A"/>
                </a:solidFill>
                <a:latin typeface="Calibri"/>
              </a:rPr>
              <a:t>The loader is format-agnostic and re-runs the full cleaning pipeline on every upload, so a brand-new dataset gets the same treatment as the bundled one. The export honours the active filters: what you see is exactly what you download.</a:t>
            </a:r>
          </a:p>
        </p:txBody>
      </p:sp>
      <p:sp>
        <p:nvSpPr>
          <p:cNvPr id="60" name="Product Frame"/>
          <p:cNvSpPr/>
          <p:nvPr/>
        </p:nvSpPr>
        <p:spPr>
          <a:xfrm>
            <a:off x="1905000" y="2286000"/>
            <a:ext cx="8686800" cy="2286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FE6E18-8BDE-2861-F29E-B52EDC7EDA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184400" y="2438278"/>
            <a:ext cx="8128000" cy="8226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C2DEAF0-2DC4-3802-710C-A735E1B40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400" y="3725133"/>
            <a:ext cx="8128000" cy="662997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1" name="Step Upload"/>
          <p:cNvSpPr/>
          <p:nvPr/>
        </p:nvSpPr>
        <p:spPr>
          <a:xfrm>
            <a:off x="571500" y="4953000"/>
            <a:ext cx="3378200" cy="116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939800" tIns="152400" rIns="152400" bIns="127000" anchor="ctr"/>
          <a:lstStyle/>
          <a:p>
            <a:pPr algn="l"/>
            <a:r>
              <a:rPr sz="1600" b="1" dirty="0">
                <a:solidFill>
                  <a:srgbClr val="0F172A"/>
                </a:solidFill>
                <a:latin typeface="Calibri"/>
              </a:rPr>
              <a:t>Upload</a:t>
            </a:r>
          </a:p>
          <a:p>
            <a:pPr algn="l">
              <a:spcBef>
                <a:spcPts val="200"/>
              </a:spcBef>
            </a:pPr>
            <a:r>
              <a:rPr sz="1200" b="0" dirty="0">
                <a:solidFill>
                  <a:srgbClr val="475569"/>
                </a:solidFill>
                <a:latin typeface="Calibri"/>
              </a:rPr>
              <a:t>CSV · TSV · Excel · JSON</a:t>
            </a:r>
          </a:p>
        </p:txBody>
      </p:sp>
      <p:sp>
        <p:nvSpPr>
          <p:cNvPr id="62" name="StepCircle Upload"/>
          <p:cNvSpPr/>
          <p:nvPr/>
        </p:nvSpPr>
        <p:spPr>
          <a:xfrm>
            <a:off x="774700" y="5245100"/>
            <a:ext cx="584200" cy="5842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Step Clean"/>
          <p:cNvSpPr/>
          <p:nvPr/>
        </p:nvSpPr>
        <p:spPr>
          <a:xfrm>
            <a:off x="4406900" y="4953000"/>
            <a:ext cx="3378200" cy="116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939800" tIns="152400" rIns="152400" bIns="127000" anchor="ctr"/>
          <a:lstStyle/>
          <a:p>
            <a:pPr algn="l"/>
            <a:r>
              <a:rPr sz="1600" b="1" dirty="0">
                <a:solidFill>
                  <a:srgbClr val="0F172A"/>
                </a:solidFill>
                <a:latin typeface="Calibri"/>
              </a:rPr>
              <a:t>Clean</a:t>
            </a:r>
          </a:p>
          <a:p>
            <a:pPr algn="l">
              <a:spcBef>
                <a:spcPts val="200"/>
              </a:spcBef>
            </a:pPr>
            <a:r>
              <a:rPr sz="1200" b="0" dirty="0">
                <a:solidFill>
                  <a:srgbClr val="475569"/>
                </a:solidFill>
                <a:latin typeface="Calibri"/>
              </a:rPr>
              <a:t>Full pipeline re-runs on every upload</a:t>
            </a:r>
          </a:p>
        </p:txBody>
      </p:sp>
      <p:sp>
        <p:nvSpPr>
          <p:cNvPr id="65" name="StepCircle Clean"/>
          <p:cNvSpPr/>
          <p:nvPr/>
        </p:nvSpPr>
        <p:spPr>
          <a:xfrm>
            <a:off x="4610100" y="5245100"/>
            <a:ext cx="584200" cy="584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Step Export"/>
          <p:cNvSpPr/>
          <p:nvPr/>
        </p:nvSpPr>
        <p:spPr>
          <a:xfrm>
            <a:off x="8242300" y="4953000"/>
            <a:ext cx="3378200" cy="116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939800" tIns="152400" rIns="152400" bIns="127000" anchor="ctr"/>
          <a:lstStyle/>
          <a:p>
            <a:pPr algn="l"/>
            <a:r>
              <a:rPr sz="1600" b="1" dirty="0">
                <a:solidFill>
                  <a:srgbClr val="0F172A"/>
                </a:solidFill>
                <a:latin typeface="Calibri"/>
              </a:rPr>
              <a:t>Export</a:t>
            </a:r>
          </a:p>
          <a:p>
            <a:pPr algn="l">
              <a:spcBef>
                <a:spcPts val="200"/>
              </a:spcBef>
            </a:pPr>
            <a:r>
              <a:rPr sz="1200" b="0" dirty="0">
                <a:solidFill>
                  <a:srgbClr val="475569"/>
                </a:solidFill>
                <a:latin typeface="Calibri"/>
              </a:rPr>
              <a:t>Filtered CSV — exactly what you see</a:t>
            </a:r>
          </a:p>
        </p:txBody>
      </p:sp>
      <p:sp>
        <p:nvSpPr>
          <p:cNvPr id="68" name="StepCircle Export"/>
          <p:cNvSpPr/>
          <p:nvPr/>
        </p:nvSpPr>
        <p:spPr>
          <a:xfrm>
            <a:off x="8445500" y="5245100"/>
            <a:ext cx="584200" cy="584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Arrow 0"/>
          <p:cNvSpPr/>
          <p:nvPr/>
        </p:nvSpPr>
        <p:spPr>
          <a:xfrm>
            <a:off x="4000500" y="5422900"/>
            <a:ext cx="33020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Arrow 1"/>
          <p:cNvSpPr/>
          <p:nvPr/>
        </p:nvSpPr>
        <p:spPr>
          <a:xfrm>
            <a:off x="7835900" y="5422900"/>
            <a:ext cx="33020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72" name="Graphic 72" descr="Upload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5422900"/>
            <a:ext cx="304800" cy="304800"/>
          </a:xfrm>
          <a:prstGeom prst="rect">
            <a:avLst/>
          </a:prstGeom>
        </p:spPr>
      </p:pic>
      <p:pic>
        <p:nvPicPr>
          <p:cNvPr id="73" name="Graphic 73" descr="Refresh pipelin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9800" y="5422900"/>
            <a:ext cx="304800" cy="304800"/>
          </a:xfrm>
          <a:prstGeom prst="rect">
            <a:avLst/>
          </a:prstGeom>
        </p:spPr>
      </p:pic>
      <p:pic>
        <p:nvPicPr>
          <p:cNvPr id="74" name="Graphic 74" descr="Download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85200" y="54229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312070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0B1220"/>
              </a:gs>
            </a:gsLst>
            <a:lin ang="14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95360" y="1280160"/>
            <a:ext cx="3931920" cy="393192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0" y="1828799"/>
            <a:ext cx="2834640" cy="283464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46920" y="2331720"/>
            <a:ext cx="1828800" cy="1828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46920" y="2560320"/>
            <a:ext cx="1828800" cy="1371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38BDF8"/>
                </a:solidFill>
                <a:latin typeface="Calibri"/>
              </a:rPr>
              <a:t>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6583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8BDF8"/>
                </a:solidFill>
                <a:latin typeface="Calibri"/>
              </a:rPr>
              <a:t>PART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487168"/>
            <a:ext cx="676656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800" b="1">
                <a:solidFill>
                  <a:srgbClr val="F8FAFC"/>
                </a:solidFill>
                <a:latin typeface="Calibri"/>
              </a:rPr>
              <a:t>How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800" b="1">
                <a:solidFill>
                  <a:srgbClr val="F8FAFC"/>
                </a:solidFill>
                <a:latin typeface="Calibri"/>
              </a:rPr>
              <a:t>it’s built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023360"/>
            <a:ext cx="1371600" cy="640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6675120" cy="1645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38BDF8"/>
                </a:solidFill>
                <a:latin typeface="Calibri"/>
              </a:rPr>
              <a:t>—  </a:t>
            </a:r>
            <a:r>
              <a:rPr sz="1300" b="0">
                <a:solidFill>
                  <a:srgbClr val="94A3B8"/>
                </a:solidFill>
                <a:latin typeface="Calibri"/>
              </a:rPr>
              <a:t>One rule: all logic server-side, the UI renders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38BDF8"/>
                </a:solidFill>
                <a:latin typeface="Calibri"/>
              </a:rPr>
              <a:t>—  </a:t>
            </a:r>
            <a:r>
              <a:rPr sz="1300" b="0">
                <a:solidFill>
                  <a:srgbClr val="94A3B8"/>
                </a:solidFill>
                <a:latin typeface="Calibri"/>
              </a:rPr>
              <a:t>Recover-or-exclude cleaning with an audit trail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38BDF8"/>
                </a:solidFill>
                <a:latin typeface="Calibri"/>
              </a:rPr>
              <a:t>—  </a:t>
            </a:r>
            <a:r>
              <a:rPr sz="1300" b="0">
                <a:solidFill>
                  <a:srgbClr val="94A3B8"/>
                </a:solidFill>
                <a:latin typeface="Calibri"/>
              </a:rPr>
              <a:t>Tested, deployed, extensible by construction</a:t>
            </a:r>
          </a:p>
        </p:txBody>
      </p:sp>
    </p:spTree>
    <p:extLst>
      <p:ext uri="{BB962C8B-B14F-4D97-AF65-F5344CB8AC3E}">
        <p14:creationId xmlns:p14="http://schemas.microsoft.com/office/powerpoint/2010/main" val="1686755255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772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34155"/>
                </a:solidFill>
                <a:latin typeface="Calibri"/>
              </a:rPr>
              <a:t>15 · ARCHITECTURE</a:t>
            </a:r>
          </a:p>
        </p:txBody>
      </p:sp>
      <p:sp>
        <p:nvSpPr>
          <p:cNvPr id="3" name="Oval 2"/>
          <p:cNvSpPr/>
          <p:nvPr/>
        </p:nvSpPr>
        <p:spPr>
          <a:xfrm>
            <a:off x="10076688" y="40233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79" y="329184"/>
            <a:ext cx="2084831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4155"/>
                </a:solidFill>
                <a:latin typeface="Calibri"/>
              </a:rPr>
              <a:t>HOW IT’S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8368"/>
            <a:ext cx="420624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94944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0F172A"/>
                </a:solidFill>
                <a:latin typeface="Calibri"/>
              </a:rPr>
              <a:t>One rule: all logic on the backend, the UI only renders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389888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382512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Shift Operations Analytics  ·  Md Raisul Islam Rahad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49808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15 /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66560"/>
            <a:ext cx="11055096" cy="4114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6766560"/>
            <a:ext cx="78867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66928" y="2880360"/>
            <a:ext cx="1554480" cy="868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8FAFC"/>
                </a:solidFill>
                <a:latin typeface="Calibri"/>
              </a:rPr>
              <a:t>👤 User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F8FAFC"/>
                </a:solidFill>
                <a:latin typeface="Calibri"/>
              </a:rPr>
              <a:t>Plant manager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2148840"/>
            <a:ext cx="2880360" cy="23317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06040" y="2212848"/>
            <a:ext cx="26517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334155"/>
                </a:solidFill>
                <a:latin typeface="Calibri"/>
              </a:rPr>
              <a:t>FRONTEND · VERCEL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2606040"/>
            <a:ext cx="2514600" cy="1691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334155"/>
            </a:solidFill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F172A"/>
                </a:solidFill>
                <a:latin typeface="Calibri"/>
              </a:rPr>
              <a:t>React 19 + Vite SPA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0F172A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0F172A"/>
                </a:solidFill>
                <a:latin typeface="Calibri"/>
              </a:rPr>
              <a:t>useDashboardData hook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0F172A"/>
                </a:solidFill>
                <a:latin typeface="Calibri"/>
              </a:rPr>
              <a:t>Recharts / SVG panels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sz="1050" b="0">
              <a:solidFill>
                <a:srgbClr val="0F172A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8BDF8"/>
                </a:solidFill>
                <a:latin typeface="Calibri"/>
              </a:rPr>
              <a:t>Pure renderer 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8BDF8"/>
                </a:solidFill>
                <a:latin typeface="Calibri"/>
              </a:rPr>
              <a:t>no business logic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1874519"/>
            <a:ext cx="3063240" cy="29260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97880" y="1938528"/>
            <a:ext cx="2743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334155"/>
                </a:solidFill>
                <a:latin typeface="Calibri"/>
              </a:rPr>
              <a:t>BACKEND · RENDER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233172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334155"/>
            </a:solidFill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F172A"/>
                </a:solidFill>
                <a:latin typeface="Calibri"/>
              </a:rPr>
              <a:t>Django 6 + DRF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0F172A"/>
                </a:solidFill>
                <a:latin typeface="Calibri"/>
              </a:rPr>
              <a:t>REST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3429000"/>
            <a:ext cx="2697480" cy="117043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F172A"/>
                </a:solidFill>
                <a:latin typeface="Calibri"/>
              </a:rPr>
              <a:t>pandas pipeline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0F172A"/>
                </a:solidFill>
                <a:latin typeface="Calibri"/>
              </a:rPr>
              <a:t>cleaning + analysis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334155"/>
                </a:solidFill>
                <a:latin typeface="Calibri"/>
              </a:rPr>
              <a:t>(single source of truth)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2331720"/>
            <a:ext cx="2331720" cy="96012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B1220"/>
                </a:solidFill>
                <a:latin typeface="Calibri"/>
              </a:rPr>
              <a:t>🗄 PostgreSQL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B1220"/>
                </a:solidFill>
                <a:latin typeface="Calibri"/>
              </a:rPr>
              <a:t>Supabase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370332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9050">
            <a:solidFill>
              <a:srgbClr val="FBBF24"/>
            </a:solidFill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0F172A"/>
                </a:solidFill>
                <a:latin typeface="Calibri"/>
              </a:rPr>
              <a:t>Groq LLM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334155"/>
                </a:solidFill>
                <a:latin typeface="Calibri"/>
              </a:rPr>
              <a:t>optional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21408" y="3291840"/>
            <a:ext cx="576072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212080" y="3063240"/>
            <a:ext cx="777240" cy="22860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74920" y="2761488"/>
            <a:ext cx="12801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334155"/>
                </a:solidFill>
                <a:latin typeface="Calibri"/>
              </a:rPr>
              <a:t>/api HTTPS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86800" y="2788920"/>
            <a:ext cx="594360" cy="0"/>
          </a:xfrm>
          <a:prstGeom prst="line">
            <a:avLst/>
          </a:prstGeom>
          <a:ln w="22225">
            <a:solidFill>
              <a:srgbClr val="38BD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686800" y="4023360"/>
            <a:ext cx="594360" cy="91440"/>
          </a:xfrm>
          <a:prstGeom prst="line">
            <a:avLst/>
          </a:prstGeom>
          <a:ln w="22225">
            <a:solidFill>
              <a:srgbClr val="FBBF2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826924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772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34155"/>
                </a:solidFill>
                <a:latin typeface="Calibri"/>
              </a:rPr>
              <a:t>16 · CLEANING PIPELINE</a:t>
            </a:r>
          </a:p>
        </p:txBody>
      </p:sp>
      <p:sp>
        <p:nvSpPr>
          <p:cNvPr id="3" name="Oval 2"/>
          <p:cNvSpPr/>
          <p:nvPr/>
        </p:nvSpPr>
        <p:spPr>
          <a:xfrm>
            <a:off x="10076688" y="40233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79" y="329184"/>
            <a:ext cx="2084831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4155"/>
                </a:solidFill>
                <a:latin typeface="Calibri"/>
              </a:rPr>
              <a:t>HOW IT’S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8368"/>
            <a:ext cx="420624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94944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0F172A"/>
                </a:solidFill>
                <a:latin typeface="Calibri"/>
              </a:rPr>
              <a:t>Detect → recover-or-exclude → gate, with a full audit trail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389888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382512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Shift Operations Analytics  ·  Md Raisul Islam Rahad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49808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16 /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66560"/>
            <a:ext cx="11055096" cy="4114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6766560"/>
            <a:ext cx="84201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66928" y="306324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0F172A"/>
                </a:solidFill>
                <a:latin typeface="Calibri"/>
              </a:rPr>
              <a:t>Raw row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334155"/>
                </a:solidFill>
                <a:latin typeface="Calibri"/>
              </a:rPr>
              <a:t>5 fields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80" y="306324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0F172A"/>
                </a:solidFill>
                <a:latin typeface="Calibri"/>
              </a:rPr>
              <a:t>Parse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334155"/>
                </a:solidFill>
                <a:latin typeface="Calibri"/>
              </a:rPr>
              <a:t>multi-format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334155"/>
                </a:solidFill>
                <a:latin typeface="Calibri"/>
              </a:rPr>
              <a:t>tz-aware</a:t>
            </a:r>
          </a:p>
        </p:txBody>
      </p:sp>
      <p:sp>
        <p:nvSpPr>
          <p:cNvPr id="15" name="Diamond 14"/>
          <p:cNvSpPr/>
          <p:nvPr/>
        </p:nvSpPr>
        <p:spPr>
          <a:xfrm>
            <a:off x="3703320" y="2816352"/>
            <a:ext cx="1554480" cy="1417320"/>
          </a:xfrm>
          <a:prstGeom prst="diamond">
            <a:avLst/>
          </a:prstGeom>
          <a:solidFill>
            <a:srgbClr val="F8FAFC"/>
          </a:solidFill>
          <a:ln w="15875">
            <a:solidFill>
              <a:srgbClr val="334155"/>
            </a:solidFill>
          </a:ln>
          <a:effectLst>
            <a:outerShdw blurRad="54864" dist="27432" dir="540000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0F172A"/>
                </a:solidFill>
                <a:latin typeface="Calibri"/>
              </a:rPr>
              <a:t>START / END
valid?</a:t>
            </a:r>
          </a:p>
        </p:txBody>
      </p:sp>
      <p:sp>
        <p:nvSpPr>
          <p:cNvPr id="16" name="Diamond 15"/>
          <p:cNvSpPr/>
          <p:nvPr/>
        </p:nvSpPr>
        <p:spPr>
          <a:xfrm>
            <a:off x="5486400" y="2816352"/>
            <a:ext cx="1554480" cy="1417320"/>
          </a:xfrm>
          <a:prstGeom prst="diamond">
            <a:avLst/>
          </a:prstGeom>
          <a:solidFill>
            <a:srgbClr val="F8FAFC"/>
          </a:solidFill>
          <a:ln w="15875">
            <a:solidFill>
              <a:srgbClr val="334155"/>
            </a:solidFill>
          </a:ln>
          <a:effectLst>
            <a:outerShdw blurRad="54864" dist="27432" dir="540000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0F172A"/>
                </a:solidFill>
                <a:latin typeface="Calibri"/>
              </a:rPr>
              <a:t>HOURS =
END−START?</a:t>
            </a:r>
          </a:p>
        </p:txBody>
      </p:sp>
      <p:sp>
        <p:nvSpPr>
          <p:cNvPr id="17" name="Diamond 16"/>
          <p:cNvSpPr/>
          <p:nvPr/>
        </p:nvSpPr>
        <p:spPr>
          <a:xfrm>
            <a:off x="7269480" y="2816352"/>
            <a:ext cx="1554480" cy="1417320"/>
          </a:xfrm>
          <a:prstGeom prst="diamond">
            <a:avLst/>
          </a:prstGeom>
          <a:solidFill>
            <a:srgbClr val="F8FAFC"/>
          </a:solidFill>
          <a:ln w="15875">
            <a:solidFill>
              <a:srgbClr val="334155"/>
            </a:solidFill>
          </a:ln>
          <a:effectLst>
            <a:outerShdw blurRad="54864" dist="27432" dir="540000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0F172A"/>
                </a:solidFill>
                <a:latin typeface="Calibri"/>
              </a:rPr>
              <a:t>Date ok? /
duplicate?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971800"/>
            <a:ext cx="1554480" cy="10972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F8FAFC"/>
                </a:solidFill>
                <a:latin typeface="Calibri"/>
              </a:rPr>
              <a:t>Validity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F8FAFC"/>
                </a:solidFill>
                <a:latin typeface="Calibri"/>
              </a:rPr>
              <a:t>gate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1463040"/>
            <a:ext cx="1828800" cy="8229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34D399"/>
            </a:solidFill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50" b="1" dirty="0" err="1">
                <a:solidFill>
                  <a:srgbClr val="34D399"/>
                </a:solidFill>
                <a:latin typeface="Calibri"/>
              </a:rPr>
              <a:t>is_valid</a:t>
            </a:r>
            <a:r>
              <a:rPr sz="1150" b="1" dirty="0">
                <a:solidFill>
                  <a:srgbClr val="34D399"/>
                </a:solidFill>
                <a:latin typeface="Calibri"/>
              </a:rPr>
              <a:t> = true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0" dirty="0">
                <a:solidFill>
                  <a:srgbClr val="0F172A"/>
                </a:solidFill>
                <a:latin typeface="Calibri"/>
              </a:rPr>
              <a:t>charts · streaks · 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5349240"/>
            <a:ext cx="1828800" cy="8686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38BDF8"/>
            </a:solidFill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50" b="1" dirty="0" err="1">
                <a:solidFill>
                  <a:srgbClr val="38BDF8"/>
                </a:solidFill>
                <a:latin typeface="Calibri"/>
              </a:rPr>
              <a:t>is_valid</a:t>
            </a:r>
            <a:r>
              <a:rPr sz="1150" b="1" dirty="0">
                <a:solidFill>
                  <a:srgbClr val="38BDF8"/>
                </a:solidFill>
                <a:latin typeface="Calibri"/>
              </a:rPr>
              <a:t> = false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0" dirty="0">
                <a:solidFill>
                  <a:srgbClr val="0F172A"/>
                </a:solidFill>
                <a:latin typeface="Calibri"/>
              </a:rPr>
              <a:t>quality report only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09160"/>
            <a:ext cx="2148840" cy="658368"/>
          </a:xfrm>
          <a:prstGeom prst="roundRect">
            <a:avLst>
              <a:gd name="adj" fmla="val 6000"/>
            </a:avLst>
          </a:prstGeom>
          <a:solidFill>
            <a:srgbClr val="34D399"/>
          </a:solidFill>
          <a:ln>
            <a:noFill/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0B1220"/>
                </a:solidFill>
                <a:latin typeface="Calibri"/>
              </a:rPr>
              <a:t>RECOVER lane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B1220"/>
                </a:solidFill>
                <a:latin typeface="Calibri"/>
              </a:rPr>
              <a:t>row is fixed, then continues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4709160"/>
            <a:ext cx="1554480" cy="65836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34D399"/>
                </a:solidFill>
                <a:latin typeface="Calibri"/>
              </a:rPr>
              <a:t>derive START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F172A"/>
                </a:solidFill>
                <a:latin typeface="Calibri"/>
              </a:rPr>
              <a:t>= END − HOURS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0" y="4709160"/>
            <a:ext cx="1554480" cy="65836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34D399"/>
                </a:solidFill>
                <a:latin typeface="Calibri"/>
              </a:rPr>
              <a:t>recompute HOURS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F172A"/>
                </a:solidFill>
                <a:latin typeface="Calibri"/>
              </a:rPr>
              <a:t>from timestamps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4709160"/>
            <a:ext cx="1554480" cy="65836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34D399"/>
                </a:solidFill>
                <a:latin typeface="Calibri"/>
              </a:rPr>
              <a:t>recover 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F172A"/>
                </a:solidFill>
                <a:latin typeface="Calibri"/>
              </a:rPr>
              <a:t>from START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532120"/>
            <a:ext cx="2880360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0284C7"/>
                </a:solidFill>
                <a:latin typeface="Calibri"/>
              </a:rPr>
              <a:t>EXCLUDE → report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284C7"/>
                </a:solidFill>
                <a:latin typeface="Calibri"/>
              </a:rPr>
              <a:t>invalid ts · END&lt;START · bad date · duplicate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984248" y="3520440"/>
            <a:ext cx="256032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657600" y="3520440"/>
            <a:ext cx="45720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257800" y="3520440"/>
            <a:ext cx="228600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040880" y="3520440"/>
            <a:ext cx="228600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823960" y="3520440"/>
            <a:ext cx="274320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0652760" y="2331720"/>
            <a:ext cx="91440" cy="914400"/>
          </a:xfrm>
          <a:prstGeom prst="line">
            <a:avLst/>
          </a:prstGeom>
          <a:ln w="22225">
            <a:solidFill>
              <a:srgbClr val="34D3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652760" y="4069080"/>
            <a:ext cx="91440" cy="1280160"/>
          </a:xfrm>
          <a:prstGeom prst="line">
            <a:avLst/>
          </a:prstGeom>
          <a:ln w="22225">
            <a:solidFill>
              <a:srgbClr val="38BD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480560" y="4233672"/>
            <a:ext cx="0" cy="475488"/>
          </a:xfrm>
          <a:prstGeom prst="line">
            <a:avLst/>
          </a:prstGeom>
          <a:ln w="17780">
            <a:solidFill>
              <a:srgbClr val="34D3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263640" y="4233672"/>
            <a:ext cx="0" cy="475488"/>
          </a:xfrm>
          <a:prstGeom prst="line">
            <a:avLst/>
          </a:prstGeom>
          <a:ln w="17780">
            <a:solidFill>
              <a:srgbClr val="34D3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046720" y="4233672"/>
            <a:ext cx="0" cy="475488"/>
          </a:xfrm>
          <a:prstGeom prst="line">
            <a:avLst/>
          </a:prstGeom>
          <a:ln w="17780">
            <a:solidFill>
              <a:srgbClr val="34D3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703320" y="5532120"/>
            <a:ext cx="539496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200"/>
              </a:spcBef>
              <a:spcAft>
                <a:spcPts val="100"/>
              </a:spcAft>
              <a:buNone/>
            </a:pPr>
            <a:r>
              <a:rPr sz="1000" b="1">
                <a:solidFill>
                  <a:srgbClr val="0F172A"/>
                </a:solidFill>
                <a:latin typeface="Calibri"/>
              </a:rPr>
              <a:t>Every row emits  {code, detail, action}: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950" b="0">
                <a:solidFill>
                  <a:srgbClr val="334155"/>
                </a:solidFill>
                <a:latin typeface="Calibri"/>
              </a:rPr>
              <a:t>INVALID_DATE · INVALID_START/END · MISSING_START/END · NEGATIVE_HOURS · HOURS_MISMATCH · END_BEFORE_START · CROSS_MIDNIGHT · DUPLICATE</a:t>
            </a:r>
          </a:p>
        </p:txBody>
      </p:sp>
    </p:spTree>
    <p:extLst>
      <p:ext uri="{BB962C8B-B14F-4D97-AF65-F5344CB8AC3E}">
        <p14:creationId xmlns:p14="http://schemas.microsoft.com/office/powerpoint/2010/main" val="3561092724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772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34155"/>
                </a:solidFill>
                <a:latin typeface="Calibri"/>
              </a:rPr>
              <a:t>17 · KEY DECISION</a:t>
            </a:r>
          </a:p>
        </p:txBody>
      </p:sp>
      <p:sp>
        <p:nvSpPr>
          <p:cNvPr id="3" name="Oval 2"/>
          <p:cNvSpPr/>
          <p:nvPr/>
        </p:nvSpPr>
        <p:spPr>
          <a:xfrm>
            <a:off x="10076688" y="40233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79" y="329184"/>
            <a:ext cx="2084831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4155"/>
                </a:solidFill>
                <a:latin typeface="Calibri"/>
              </a:rPr>
              <a:t>HOW IT’S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8368"/>
            <a:ext cx="420624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94944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0F172A"/>
                </a:solidFill>
                <a:latin typeface="Calibri"/>
              </a:rPr>
              <a:t>When HOURS and timestamps disagree, I trust the timestamps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389888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382512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Shift Operations Analytics  ·  Md Raisul Islam Rahad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49808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17 /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66560"/>
            <a:ext cx="11055096" cy="4114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6766560"/>
            <a:ext cx="89408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66928" y="160020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  <a:buNone/>
            </a:pPr>
            <a:r>
              <a:rPr sz="1800" b="1">
                <a:solidFill>
                  <a:srgbClr val="F8FAFC"/>
                </a:solidFill>
                <a:latin typeface="Consolas"/>
              </a:rPr>
              <a:t>HOURS = 18        but        END − START = 4.0 h        → which is right?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788920"/>
            <a:ext cx="3383280" cy="1874519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4000" b="1">
                <a:solidFill>
                  <a:srgbClr val="38BDF8"/>
                </a:solidFill>
                <a:latin typeface="Calibri"/>
              </a:rPr>
              <a:t>17 / 21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F172A"/>
                </a:solidFill>
                <a:latin typeface="Calibri"/>
              </a:rPr>
              <a:t>rows already agree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334155"/>
                </a:solidFill>
                <a:latin typeface="Calibri"/>
              </a:rPr>
              <a:t>within rounding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2788920"/>
            <a:ext cx="7424927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1">
                <a:solidFill>
                  <a:srgbClr val="34D399"/>
                </a:solidFill>
                <a:latin typeface="Calibri"/>
              </a:rPr>
              <a:t>✓  </a:t>
            </a:r>
            <a:r>
              <a:rPr sz="1250" b="1">
                <a:solidFill>
                  <a:srgbClr val="0F172A"/>
                </a:solidFill>
                <a:latin typeface="Calibri"/>
              </a:rPr>
              <a:t>Timestamps are internally consistent</a:t>
            </a:r>
            <a:r>
              <a:rPr sz="1150" b="0">
                <a:solidFill>
                  <a:srgbClr val="0F172A"/>
                </a:solidFill>
                <a:latin typeface="Calibri"/>
              </a:rPr>
              <a:t>  —  and they drive the timeline / chart axis anyway.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3447287"/>
            <a:ext cx="7424927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1">
                <a:solidFill>
                  <a:srgbClr val="34D399"/>
                </a:solidFill>
                <a:latin typeface="Calibri"/>
              </a:rPr>
              <a:t>✓  </a:t>
            </a:r>
            <a:r>
              <a:rPr sz="1250" b="1">
                <a:solidFill>
                  <a:srgbClr val="0F172A"/>
                </a:solidFill>
                <a:latin typeface="Calibri"/>
              </a:rPr>
              <a:t>HOURS is a single scalar</a:t>
            </a:r>
            <a:r>
              <a:rPr sz="1150" b="0">
                <a:solidFill>
                  <a:srgbClr val="0F172A"/>
                </a:solidFill>
                <a:latin typeface="Calibri"/>
              </a:rPr>
              <a:t>  —  — the easy field to fumble on manual data entry.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4105655"/>
            <a:ext cx="7424927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1">
                <a:solidFill>
                  <a:srgbClr val="34D399"/>
                </a:solidFill>
                <a:latin typeface="Calibri"/>
              </a:rPr>
              <a:t>✓  </a:t>
            </a:r>
            <a:r>
              <a:rPr sz="1250" b="1">
                <a:solidFill>
                  <a:srgbClr val="0F172A"/>
                </a:solidFill>
                <a:latin typeface="Calibri"/>
              </a:rPr>
              <a:t>Documented, defensible assumption</a:t>
            </a:r>
            <a:r>
              <a:rPr sz="1150" b="0">
                <a:solidFill>
                  <a:srgbClr val="0F172A"/>
                </a:solidFill>
                <a:latin typeface="Calibri"/>
              </a:rPr>
              <a:t>  —  written in the README and the code, not a silent choice.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8348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FBBF24"/>
            </a:solidFill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0F172A"/>
                </a:solidFill>
                <a:latin typeface="Calibri"/>
              </a:rPr>
              <a:t>📌  A decision I'd flag to a stakeholder, not bury in code — if HOURS were authoritative it's a one-function change. And the data model keeps the audit trail: every row stores its raw values, recomputed fields, is_valid flag and issue list.</a:t>
            </a:r>
          </a:p>
        </p:txBody>
      </p:sp>
    </p:spTree>
    <p:extLst>
      <p:ext uri="{BB962C8B-B14F-4D97-AF65-F5344CB8AC3E}">
        <p14:creationId xmlns:p14="http://schemas.microsoft.com/office/powerpoint/2010/main" val="1583158478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772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34155"/>
                </a:solidFill>
                <a:latin typeface="Calibri"/>
              </a:rPr>
              <a:t>18 · EXTENSIBILITY, BY CONSTRUCTION</a:t>
            </a:r>
          </a:p>
        </p:txBody>
      </p:sp>
      <p:sp>
        <p:nvSpPr>
          <p:cNvPr id="3" name="Oval 2"/>
          <p:cNvSpPr/>
          <p:nvPr/>
        </p:nvSpPr>
        <p:spPr>
          <a:xfrm>
            <a:off x="10076688" y="40233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79" y="329184"/>
            <a:ext cx="2084831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4155"/>
                </a:solidFill>
                <a:latin typeface="Calibri"/>
              </a:rPr>
              <a:t>HOW IT’S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8368"/>
            <a:ext cx="420624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94944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0F172A"/>
                </a:solidFill>
                <a:latin typeface="Calibri"/>
              </a:rPr>
              <a:t>No reason is hardcoded — new categories flow everywhere for free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389888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382512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Shift Operations Analytics  ·  Md Raisul Islam Rahad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49808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18 /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66560"/>
            <a:ext cx="11055096" cy="4114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6766560"/>
            <a:ext cx="94742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66928" y="288036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F172A"/>
                </a:solidFill>
                <a:latin typeface="Calibri"/>
              </a:rPr>
              <a:t>Dataset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334155"/>
                </a:solidFill>
                <a:latin typeface="Calibri"/>
              </a:rPr>
              <a:t>any reasons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88036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F8FAFC"/>
                </a:solidFill>
                <a:latin typeface="Calibri"/>
              </a:rPr>
              <a:t>Reasons derived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F8FAFC"/>
                </a:solidFill>
                <a:latin typeface="Calibri"/>
              </a:rPr>
              <a:t>at runtime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94A3B8"/>
                </a:solidFill>
                <a:latin typeface="Calibri"/>
              </a:rPr>
              <a:t>SELECT DISTINCT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2148840"/>
            <a:ext cx="1554480" cy="8229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0F172A"/>
                </a:solidFill>
                <a:latin typeface="Calibri"/>
              </a:rPr>
              <a:t>Filters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2148840"/>
            <a:ext cx="1737360" cy="8229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0F172A"/>
                </a:solidFill>
                <a:latin typeface="Calibri"/>
              </a:rPr>
              <a:t>Chart legend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F172A"/>
                </a:solidFill>
                <a:latin typeface="Calibri"/>
              </a:rPr>
              <a:t>+ colours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148840"/>
            <a:ext cx="1691640" cy="8229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0F172A"/>
                </a:solidFill>
                <a:latin typeface="Calibri"/>
              </a:rPr>
              <a:t>Grouping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F172A"/>
                </a:solidFill>
                <a:latin typeface="Calibri"/>
              </a:rPr>
              <a:t>editor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3977639"/>
            <a:ext cx="6035040" cy="77724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B1220"/>
                </a:solidFill>
                <a:latin typeface="Calibri"/>
              </a:rPr>
              <a:t>Re-aggregate charts · streaks · score · filters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95728" y="3337560"/>
            <a:ext cx="347472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754880" y="2926080"/>
            <a:ext cx="457200" cy="41148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54880" y="3337560"/>
            <a:ext cx="457200" cy="100584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89320" y="2971800"/>
            <a:ext cx="0" cy="0"/>
          </a:xfrm>
          <a:prstGeom prst="line">
            <a:avLst/>
          </a:prstGeom>
          <a:ln w="22225">
            <a:solidFill>
              <a:srgbClr val="3341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955279" y="2971800"/>
            <a:ext cx="0" cy="0"/>
          </a:xfrm>
          <a:prstGeom prst="line">
            <a:avLst/>
          </a:prstGeom>
          <a:ln w="22225">
            <a:solidFill>
              <a:srgbClr val="3341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989820" y="2971800"/>
            <a:ext cx="0" cy="0"/>
          </a:xfrm>
          <a:prstGeom prst="line">
            <a:avLst/>
          </a:prstGeom>
          <a:ln w="22225">
            <a:solidFill>
              <a:srgbClr val="3341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66928" y="502920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1">
                <a:solidFill>
                  <a:srgbClr val="0F172A"/>
                </a:solidFill>
                <a:latin typeface="Calibri"/>
              </a:rPr>
              <a:t>Proof:  </a:t>
            </a:r>
            <a:r>
              <a:rPr sz="1250" b="0">
                <a:solidFill>
                  <a:srgbClr val="0F172A"/>
                </a:solidFill>
                <a:latin typeface="Calibri"/>
              </a:rPr>
              <a:t>upload </a:t>
            </a:r>
            <a:r>
              <a:rPr sz="1200" b="1">
                <a:solidFill>
                  <a:srgbClr val="0F172A"/>
                </a:solidFill>
                <a:latin typeface="Consolas"/>
              </a:rPr>
              <a:t>sample_new_categories</a:t>
            </a:r>
            <a:r>
              <a:rPr sz="1250" b="0">
                <a:solidFill>
                  <a:srgbClr val="0F172A"/>
                </a:solidFill>
                <a:latin typeface="Calibri"/>
              </a:rPr>
              <a:t> → brand-new reasons (Sensor Fault, Tool Change, Calibration, Shift Handover) appear in filters, colours, legend and grouping with </a:t>
            </a:r>
            <a:r>
              <a:rPr sz="1300" b="1">
                <a:solidFill>
                  <a:srgbClr val="34D399"/>
                </a:solidFill>
                <a:latin typeface="Calibri"/>
              </a:rPr>
              <a:t>zero code changes.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150" b="0">
                <a:solidFill>
                  <a:srgbClr val="334155"/>
                </a:solidFill>
                <a:latin typeface="Calibri"/>
              </a:rPr>
              <a:t>Colours are assigned deterministically from the sorted reason list — a new reason just takes the next colour. Policy (non-productive set, groups, streak targets) is env-driven.</a:t>
            </a:r>
          </a:p>
        </p:txBody>
      </p:sp>
    </p:spTree>
    <p:extLst>
      <p:ext uri="{BB962C8B-B14F-4D97-AF65-F5344CB8AC3E}">
        <p14:creationId xmlns:p14="http://schemas.microsoft.com/office/powerpoint/2010/main" val="2982530813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772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34155"/>
                </a:solidFill>
                <a:latin typeface="Calibri"/>
              </a:rPr>
              <a:t>19 · TESTING &amp; VERIFICATION</a:t>
            </a:r>
          </a:p>
        </p:txBody>
      </p:sp>
      <p:sp>
        <p:nvSpPr>
          <p:cNvPr id="3" name="Oval 2"/>
          <p:cNvSpPr/>
          <p:nvPr/>
        </p:nvSpPr>
        <p:spPr>
          <a:xfrm>
            <a:off x="10076688" y="40233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79" y="329184"/>
            <a:ext cx="2084831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4155"/>
                </a:solidFill>
                <a:latin typeface="Calibri"/>
              </a:rPr>
              <a:t>HOW IT’S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8368"/>
            <a:ext cx="420624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94944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0F172A"/>
                </a:solidFill>
                <a:latin typeface="Calibri"/>
              </a:rPr>
              <a:t>The risky parts — cleaning and analysis — carry the tests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389888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382512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Shift Operations Analytics  ·  Md Raisul Islam Rahad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49808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19 /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66560"/>
            <a:ext cx="11055096" cy="4114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6766560"/>
            <a:ext cx="99949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66928" y="1554480"/>
            <a:ext cx="5532120" cy="30632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200"/>
              </a:spcBef>
              <a:spcAft>
                <a:spcPts val="400"/>
              </a:spcAft>
              <a:buNone/>
            </a:pPr>
            <a:r>
              <a:rPr sz="1450" b="1">
                <a:solidFill>
                  <a:srgbClr val="0F172A"/>
                </a:solidFill>
                <a:latin typeface="Calibri"/>
              </a:rPr>
              <a:t>Backend — 25 tests (unit + DRF integration)</a:t>
            </a:r>
          </a:p>
          <a:p>
            <a:pPr marL="182880" indent="-182880" algn="l">
              <a:spcBef>
                <a:spcPts val="20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0F172A"/>
                </a:solidFill>
                <a:latin typeface="Calibri"/>
              </a:rPr>
              <a:t>Every cleaning issue code (recover vs exclude)</a:t>
            </a:r>
          </a:p>
          <a:p>
            <a:pPr marL="182880" indent="-182880" algn="l">
              <a:spcBef>
                <a:spcPts val="20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0F172A"/>
                </a:solidFill>
                <a:latin typeface="Calibri"/>
              </a:rPr>
              <a:t>Efficiency exclusion + configurable non-productive set</a:t>
            </a:r>
          </a:p>
          <a:p>
            <a:pPr marL="182880" indent="-182880" algn="l">
              <a:spcBef>
                <a:spcPts val="20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0F172A"/>
                </a:solidFill>
                <a:latin typeface="Calibri"/>
              </a:rPr>
              <a:t>Consecutive-day streak logic + configurable targets</a:t>
            </a:r>
          </a:p>
          <a:p>
            <a:pPr marL="182880" indent="-182880" algn="l">
              <a:spcBef>
                <a:spcPts val="20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0F172A"/>
                </a:solidFill>
                <a:latin typeface="Calibri"/>
              </a:rPr>
              <a:t>Overnight-axis handling · insight generation</a:t>
            </a:r>
          </a:p>
          <a:p>
            <a:pPr marL="182880" indent="-182880" algn="l">
              <a:spcBef>
                <a:spcPts val="20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0F172A"/>
                </a:solidFill>
                <a:latin typeface="Calibri"/>
              </a:rPr>
              <a:t>Reason grouping · reliability math</a:t>
            </a:r>
          </a:p>
          <a:p>
            <a:pPr marL="182880" indent="-182880" algn="l">
              <a:spcBef>
                <a:spcPts val="20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0F172A"/>
                </a:solidFill>
                <a:latin typeface="Calibri"/>
              </a:rPr>
              <a:t>API integration: exact numbers, filters, grouping round-trip, CSV download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54480"/>
            <a:ext cx="5367528" cy="30632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200"/>
              </a:spcBef>
              <a:spcAft>
                <a:spcPts val="400"/>
              </a:spcAft>
              <a:buNone/>
            </a:pPr>
            <a:r>
              <a:rPr sz="1450" b="1">
                <a:solidFill>
                  <a:srgbClr val="0F172A"/>
                </a:solidFill>
                <a:latin typeface="Calibri"/>
              </a:rPr>
              <a:t>Frontend — Vitest + RTL</a:t>
            </a:r>
          </a:p>
          <a:p>
            <a:pPr marL="182880" indent="-182880" algn="l">
              <a:spcBef>
                <a:spcPts val="20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0F172A"/>
                </a:solidFill>
                <a:latin typeface="Calibri"/>
              </a:rPr>
              <a:t>Filter chips render per reason</a:t>
            </a:r>
          </a:p>
          <a:p>
            <a:pPr marL="182880" indent="-182880" algn="l">
              <a:spcBef>
                <a:spcPts val="20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0F172A"/>
                </a:solidFill>
                <a:latin typeface="Calibri"/>
              </a:rPr>
              <a:t>Group mode collapses reasons into group chips</a:t>
            </a:r>
          </a:p>
          <a:p>
            <a:pPr marL="182880" indent="-182880" algn="l">
              <a:spcBef>
                <a:spcPts val="20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0F172A"/>
                </a:solidFill>
                <a:latin typeface="Calibri"/>
              </a:rPr>
              <a:t>Toggling a group selects its member reasons</a:t>
            </a:r>
          </a:p>
          <a:p>
            <a:pPr marL="182880" indent="-182880" algn="l">
              <a:spcBef>
                <a:spcPts val="20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0F172A"/>
                </a:solidFill>
                <a:latin typeface="Calibri"/>
              </a:rPr>
              <a:t>Reliability tiles + empty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84632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1">
                <a:solidFill>
                  <a:srgbClr val="0F172A"/>
                </a:solidFill>
                <a:latin typeface="Calibri"/>
              </a:rPr>
              <a:t>Every headline number is reproducible from the bundled data:  </a:t>
            </a:r>
            <a:r>
              <a:rPr sz="1300" b="1">
                <a:solidFill>
                  <a:srgbClr val="38BDF8"/>
                </a:solidFill>
                <a:latin typeface="Calibri"/>
              </a:rPr>
              <a:t>51 → 49 valid</a:t>
            </a:r>
            <a:r>
              <a:rPr sz="1300" b="0">
                <a:solidFill>
                  <a:srgbClr val="334155"/>
                </a:solidFill>
                <a:latin typeface="Calibri"/>
              </a:rPr>
              <a:t>  ·  </a:t>
            </a:r>
            <a:r>
              <a:rPr sz="1300" b="1">
                <a:solidFill>
                  <a:srgbClr val="38BDF8"/>
                </a:solidFill>
                <a:latin typeface="Calibri"/>
              </a:rPr>
              <a:t>86.8% efficiency</a:t>
            </a:r>
            <a:r>
              <a:rPr sz="1300" b="0">
                <a:solidFill>
                  <a:srgbClr val="334155"/>
                </a:solidFill>
                <a:latin typeface="Calibri"/>
              </a:rPr>
              <a:t>  ·  </a:t>
            </a:r>
            <a:r>
              <a:rPr sz="1300" b="1">
                <a:solidFill>
                  <a:srgbClr val="38BDF8"/>
                </a:solidFill>
                <a:latin typeface="Calibri"/>
              </a:rPr>
              <a:t>the streaks above</a:t>
            </a:r>
            <a:r>
              <a:rPr sz="1250" b="0">
                <a:solidFill>
                  <a:srgbClr val="0F172A"/>
                </a:solidFill>
                <a:latin typeface="Calibri"/>
              </a:rPr>
              <a:t>  — I re-ran the real pipeline to confirm.</a:t>
            </a:r>
          </a:p>
        </p:txBody>
      </p:sp>
    </p:spTree>
    <p:extLst>
      <p:ext uri="{BB962C8B-B14F-4D97-AF65-F5344CB8AC3E}">
        <p14:creationId xmlns:p14="http://schemas.microsoft.com/office/powerpoint/2010/main" val="647066191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772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34155"/>
                </a:solidFill>
                <a:latin typeface="Calibri"/>
              </a:rPr>
              <a:t>20 · DEPLOYMENT</a:t>
            </a:r>
          </a:p>
        </p:txBody>
      </p:sp>
      <p:sp>
        <p:nvSpPr>
          <p:cNvPr id="3" name="Oval 2"/>
          <p:cNvSpPr/>
          <p:nvPr/>
        </p:nvSpPr>
        <p:spPr>
          <a:xfrm>
            <a:off x="10076688" y="40233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79" y="329184"/>
            <a:ext cx="2084831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4155"/>
                </a:solidFill>
                <a:latin typeface="Calibri"/>
              </a:rPr>
              <a:t>HOW IT’S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8368"/>
            <a:ext cx="420624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94944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0F172A"/>
                </a:solidFill>
                <a:latin typeface="Calibri"/>
              </a:rPr>
              <a:t>It's live — same code on SQLite locally and Postgres in prod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389888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382512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Shift Operations Analytics  ·  Md Raisul Islam Rahad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49808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20 /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66560"/>
            <a:ext cx="11055096" cy="4114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6766560"/>
            <a:ext cx="105283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60" y="2926080"/>
            <a:ext cx="1920240" cy="868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8FAFC"/>
                </a:solidFill>
                <a:latin typeface="Calibri"/>
              </a:rPr>
              <a:t>🌐 Browser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2697480"/>
            <a:ext cx="2377440" cy="1325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9050">
            <a:solidFill>
              <a:srgbClr val="334155"/>
            </a:solidFill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F172A"/>
                </a:solidFill>
                <a:latin typeface="Calibri"/>
              </a:rPr>
              <a:t>Vercel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334155"/>
                </a:solidFill>
                <a:latin typeface="Calibri"/>
              </a:rPr>
              <a:t>static SPA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F172A"/>
                </a:solidFill>
                <a:latin typeface="Calibri"/>
              </a:rPr>
              <a:t>(React build)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9748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9050">
            <a:solidFill>
              <a:srgbClr val="38BDF8"/>
            </a:solidFill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F172A"/>
                </a:solidFill>
                <a:latin typeface="Calibri"/>
              </a:rPr>
              <a:t>Render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0F172A"/>
                </a:solidFill>
                <a:latin typeface="Calibri"/>
              </a:rPr>
              <a:t>gunicorn + Django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334155"/>
                </a:solidFill>
                <a:latin typeface="Calibri"/>
              </a:rPr>
              <a:t>WhiteNoise static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2697480"/>
            <a:ext cx="2286000" cy="132588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B1220"/>
                </a:solidFill>
                <a:latin typeface="Calibri"/>
              </a:rPr>
              <a:t>Supabase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0B1220"/>
                </a:solidFill>
                <a:latin typeface="Calibri"/>
              </a:rPr>
              <a:t>PostgreSQL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0" y="3337560"/>
            <a:ext cx="457200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577840" y="3337560"/>
            <a:ext cx="548640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94960" y="2999232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334155"/>
                </a:solidFill>
                <a:latin typeface="Calibri"/>
              </a:rPr>
              <a:t>/api HTTPS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78240" y="3337560"/>
            <a:ext cx="548640" cy="0"/>
          </a:xfrm>
          <a:prstGeom prst="line">
            <a:avLst/>
          </a:prstGeom>
          <a:ln w="22225">
            <a:solidFill>
              <a:srgbClr val="38BD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549640" y="2999232"/>
            <a:ext cx="10972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334155"/>
                </a:solidFill>
                <a:latin typeface="Calibri"/>
              </a:rPr>
              <a:t>pooler :5432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572000"/>
            <a:ext cx="11064240" cy="14630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marL="182880" indent="-182880" algn="l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50" b="0">
                <a:solidFill>
                  <a:srgbClr val="0F172A"/>
                </a:solidFill>
                <a:latin typeface="Calibri"/>
              </a:rPr>
              <a:t>Same code, two databases — engine chosen from DATABASE_URL via dj-database-url. No schema changes.</a:t>
            </a:r>
          </a:p>
          <a:p>
            <a:pPr marL="182880" indent="-182880" algn="l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50" b="0">
                <a:solidFill>
                  <a:srgbClr val="0F172A"/>
                </a:solidFill>
                <a:latin typeface="Calibri"/>
              </a:rPr>
              <a:t>Config via env vars (render.yaml); secrets never in code.</a:t>
            </a:r>
          </a:p>
          <a:p>
            <a:pPr marL="182880" indent="-182880" algn="l">
              <a:spcBef>
                <a:spcPts val="200"/>
              </a:spcBef>
              <a:spcAft>
                <a:spcPts val="300"/>
              </a:spcAft>
              <a:buFont typeface="Arial"/>
              <a:buChar char="•"/>
            </a:pPr>
            <a:r>
              <a:rPr sz="1250" b="0">
                <a:solidFill>
                  <a:srgbClr val="0F172A"/>
                </a:solidFill>
                <a:latin typeface="Calibri"/>
              </a:rPr>
              <a:t>RENDER_EXTERNAL_HOSTNAME auto-trusted; CORS locked to the Vercel origin.</a:t>
            </a:r>
          </a:p>
        </p:txBody>
      </p:sp>
    </p:spTree>
    <p:extLst>
      <p:ext uri="{BB962C8B-B14F-4D97-AF65-F5344CB8AC3E}">
        <p14:creationId xmlns:p14="http://schemas.microsoft.com/office/powerpoint/2010/main" val="1167587557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772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34155"/>
                </a:solidFill>
                <a:latin typeface="Calibri"/>
              </a:rPr>
              <a:t>21 · DEMO FLOW &amp; LIMITS</a:t>
            </a:r>
          </a:p>
        </p:txBody>
      </p:sp>
      <p:sp>
        <p:nvSpPr>
          <p:cNvPr id="3" name="Oval 2"/>
          <p:cNvSpPr/>
          <p:nvPr/>
        </p:nvSpPr>
        <p:spPr>
          <a:xfrm>
            <a:off x="10076688" y="40233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79" y="329184"/>
            <a:ext cx="2084831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4155"/>
                </a:solidFill>
                <a:latin typeface="Calibri"/>
              </a:rPr>
              <a:t>HOW IT’S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8368"/>
            <a:ext cx="420624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94944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0F172A"/>
                </a:solidFill>
                <a:latin typeface="Calibri"/>
              </a:rPr>
              <a:t>What I'd show live — and where I know it would strain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389888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382512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Shift Operations Analytics  ·  Md Raisul Islam Rahad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49808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21 /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66560"/>
            <a:ext cx="11055096" cy="4114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6766560"/>
            <a:ext cx="11055096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66928" y="1554480"/>
            <a:ext cx="5532120" cy="42976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200"/>
              </a:spcBef>
              <a:spcAft>
                <a:spcPts val="400"/>
              </a:spcAft>
              <a:buNone/>
            </a:pPr>
            <a:r>
              <a:rPr sz="1450" b="1">
                <a:solidFill>
                  <a:srgbClr val="0F172A"/>
                </a:solidFill>
                <a:latin typeface="Calibri"/>
              </a:rPr>
              <a:t>Live demo (≈ 3 min)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250" b="1">
                <a:solidFill>
                  <a:srgbClr val="334155"/>
                </a:solidFill>
                <a:latin typeface="Calibri"/>
              </a:rPr>
              <a:t>1.  </a:t>
            </a:r>
            <a:r>
              <a:rPr sz="1200" b="0">
                <a:solidFill>
                  <a:srgbClr val="0F172A"/>
                </a:solidFill>
                <a:latin typeface="Calibri"/>
              </a:rPr>
              <a:t>Dashboard + KPI row (efficiency, valid/total).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250" b="1">
                <a:solidFill>
                  <a:srgbClr val="334155"/>
                </a:solidFill>
                <a:latin typeface="Calibri"/>
              </a:rPr>
              <a:t>2.  </a:t>
            </a:r>
            <a:r>
              <a:rPr sz="1200" b="0">
                <a:solidFill>
                  <a:srgbClr val="0F172A"/>
                </a:solidFill>
                <a:latin typeface="Calibri"/>
              </a:rPr>
              <a:t>Quality report: a recovered row and an excluded duplicate.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250" b="1">
                <a:solidFill>
                  <a:srgbClr val="334155"/>
                </a:solidFill>
                <a:latin typeface="Calibri"/>
              </a:rPr>
              <a:t>3.  </a:t>
            </a:r>
            <a:r>
              <a:rPr sz="1200" b="0">
                <a:solidFill>
                  <a:srgbClr val="0F172A"/>
                </a:solidFill>
                <a:latin typeface="Calibri"/>
              </a:rPr>
              <a:t>Streak preset toggle → the 4-day run appears. (the money moment)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250" b="1">
                <a:solidFill>
                  <a:srgbClr val="334155"/>
                </a:solidFill>
                <a:latin typeface="Calibri"/>
              </a:rPr>
              <a:t>4.  </a:t>
            </a:r>
            <a:r>
              <a:rPr sz="1200" b="0">
                <a:solidFill>
                  <a:srgbClr val="0F172A"/>
                </a:solidFill>
                <a:latin typeface="Calibri"/>
              </a:rPr>
              <a:t>Upload sample_new_categories → new reasons everywhere, no code change.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250" b="1">
                <a:solidFill>
                  <a:srgbClr val="334155"/>
                </a:solidFill>
                <a:latin typeface="Calibri"/>
              </a:rPr>
              <a:t>5.  </a:t>
            </a:r>
            <a:r>
              <a:rPr sz="1200" b="0">
                <a:solidFill>
                  <a:srgbClr val="0F172A"/>
                </a:solidFill>
                <a:latin typeface="Calibri"/>
              </a:rPr>
              <a:t>Edit groups / ✨ Suggest with AI → charts re-aggregate.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buNone/>
            </a:pPr>
            <a:r>
              <a:rPr sz="1250" b="1">
                <a:solidFill>
                  <a:srgbClr val="334155"/>
                </a:solidFill>
                <a:latin typeface="Calibri"/>
              </a:rPr>
              <a:t>6.  </a:t>
            </a:r>
            <a:r>
              <a:rPr sz="1200" b="0">
                <a:solidFill>
                  <a:srgbClr val="0F172A"/>
                </a:solidFill>
                <a:latin typeface="Calibri"/>
              </a:rPr>
              <a:t>AI summary + export CSV.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54480"/>
            <a:ext cx="5367528" cy="42976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94A3B8"/>
            </a:solidFill>
          </a:ln>
          <a:effectLst>
            <a:outerShdw blurRad="64008" dist="36576" dir="5400000" rotWithShape="0">
              <a:srgbClr val="0F172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Bef>
                <a:spcPts val="200"/>
              </a:spcBef>
              <a:spcAft>
                <a:spcPts val="400"/>
              </a:spcAft>
              <a:buNone/>
            </a:pPr>
            <a:r>
              <a:rPr sz="1450" b="1">
                <a:solidFill>
                  <a:srgbClr val="0F172A"/>
                </a:solidFill>
                <a:latin typeface="Calibri"/>
              </a:rPr>
              <a:t>Honest limitations / next steps</a:t>
            </a:r>
          </a:p>
          <a:p>
            <a:pPr marL="182880" indent="-182880" algn="l">
              <a:spcBef>
                <a:spcPts val="200"/>
              </a:spcBef>
              <a:spcAft>
                <a:spcPts val="400"/>
              </a:spcAft>
              <a:buFont typeface="Arial"/>
              <a:buChar char="•"/>
            </a:pPr>
            <a:r>
              <a:rPr sz="1200" b="0">
                <a:solidFill>
                  <a:srgbClr val="0F172A"/>
                </a:solidFill>
                <a:latin typeface="Calibri"/>
              </a:rPr>
              <a:t>Scale: move heavy aggregation into SQL + paginate large uploads (pipeline is in-memory today).</a:t>
            </a:r>
          </a:p>
          <a:p>
            <a:pPr marL="182880" indent="-182880" algn="l">
              <a:spcBef>
                <a:spcPts val="200"/>
              </a:spcBef>
              <a:spcAft>
                <a:spcPts val="400"/>
              </a:spcAft>
              <a:buFont typeface="Arial"/>
              <a:buChar char="•"/>
            </a:pPr>
            <a:r>
              <a:rPr sz="1200" b="0">
                <a:solidFill>
                  <a:srgbClr val="0F172A"/>
                </a:solidFill>
                <a:latin typeface="Calibri"/>
              </a:rPr>
              <a:t>Auth &amp; multi-user: active dataset is a singleton → add per-user workspaces.</a:t>
            </a:r>
          </a:p>
          <a:p>
            <a:pPr marL="182880" indent="-182880" algn="l">
              <a:spcBef>
                <a:spcPts val="200"/>
              </a:spcBef>
              <a:spcAft>
                <a:spcPts val="400"/>
              </a:spcAft>
              <a:buFont typeface="Arial"/>
              <a:buChar char="•"/>
            </a:pPr>
            <a:r>
              <a:rPr sz="1200" b="0">
                <a:solidFill>
                  <a:srgbClr val="0F172A"/>
                </a:solidFill>
                <a:latin typeface="Calibri"/>
              </a:rPr>
              <a:t>Streaming AI summary + caching for identical views.</a:t>
            </a:r>
          </a:p>
          <a:p>
            <a:pPr marL="182880" indent="-182880" algn="l">
              <a:spcBef>
                <a:spcPts val="200"/>
              </a:spcBef>
              <a:spcAft>
                <a:spcPts val="400"/>
              </a:spcAft>
              <a:buFont typeface="Arial"/>
              <a:buChar char="•"/>
            </a:pPr>
            <a:r>
              <a:rPr sz="1200" b="0">
                <a:solidFill>
                  <a:srgbClr val="0F172A"/>
                </a:solidFill>
                <a:latin typeface="Calibri"/>
              </a:rPr>
              <a:t>Drill-down from a Pareto bar to its records.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0F172A"/>
                </a:solidFill>
                <a:latin typeface="Calibri"/>
              </a:rPr>
              <a:t>I'd rather show I know the edges of my solution than pretend it has none.</a:t>
            </a:r>
          </a:p>
        </p:txBody>
      </p:sp>
    </p:spTree>
    <p:extLst>
      <p:ext uri="{BB962C8B-B14F-4D97-AF65-F5344CB8AC3E}">
        <p14:creationId xmlns:p14="http://schemas.microsoft.com/office/powerpoint/2010/main" val="2519842928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6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0B1220"/>
              </a:gs>
            </a:gsLst>
            <a:lin ang="14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601200" y="4297680"/>
            <a:ext cx="4023360" cy="402336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149840" y="4846320"/>
            <a:ext cx="2926080" cy="292608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675619" y="5372100"/>
            <a:ext cx="1874519" cy="1874519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658368"/>
            <a:ext cx="73152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300" b="1">
                <a:solidFill>
                  <a:srgbClr val="38BDF8"/>
                </a:solidFill>
                <a:latin typeface="Calibri"/>
              </a:rPr>
              <a:t>IN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72768"/>
            <a:ext cx="1371600" cy="640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914400"/>
            <a:ext cx="10515600" cy="777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3600" b="1">
                <a:solidFill>
                  <a:srgbClr val="F8FAFC"/>
                </a:solidFill>
                <a:latin typeface="Calibri"/>
              </a:rPr>
              <a:t>Summary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039112"/>
            <a:ext cx="146304" cy="146304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1965960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500" b="1">
                <a:solidFill>
                  <a:srgbClr val="F8FAFC"/>
                </a:solidFill>
                <a:latin typeface="Calibri"/>
              </a:rPr>
              <a:t>Messy data, handled honestly  —  </a:t>
            </a:r>
            <a:r>
              <a:rPr sz="1300" b="0">
                <a:solidFill>
                  <a:srgbClr val="94A3B8"/>
                </a:solidFill>
                <a:latin typeface="Calibri"/>
              </a:rPr>
              <a:t>10 issue types, recover-or-exclude, full audit trail. Nothing silently dropped.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788920"/>
            <a:ext cx="146304" cy="146304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2715768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500" b="1">
                <a:solidFill>
                  <a:srgbClr val="F8FAFC"/>
                </a:solidFill>
                <a:latin typeface="Calibri"/>
              </a:rPr>
              <a:t>Defensible analytics  —  </a:t>
            </a:r>
            <a:r>
              <a:rPr sz="1300" b="0">
                <a:solidFill>
                  <a:srgbClr val="94A3B8"/>
                </a:solidFill>
                <a:latin typeface="Calibri"/>
              </a:rPr>
              <a:t>Efficiency, streaks, reliability — written assumptions, reproducible numbers.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538727"/>
            <a:ext cx="146304" cy="146304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3465575"/>
            <a:ext cx="1024128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500" b="1">
                <a:solidFill>
                  <a:srgbClr val="F8FAFC"/>
                </a:solidFill>
                <a:latin typeface="Calibri"/>
              </a:rPr>
              <a:t>Genuinely extensible  —  </a:t>
            </a:r>
            <a:r>
              <a:rPr sz="1300" b="0">
                <a:solidFill>
                  <a:srgbClr val="94A3B8"/>
                </a:solidFill>
                <a:latin typeface="Calibri"/>
              </a:rPr>
              <a:t>No hardcoded categories; grouping re-flows everything, proven with new-category data.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288536"/>
            <a:ext cx="146304" cy="146304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4215383"/>
            <a:ext cx="10241280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500" b="1" dirty="0">
                <a:solidFill>
                  <a:srgbClr val="F8FAFC"/>
                </a:solidFill>
                <a:latin typeface="Calibri"/>
              </a:rPr>
              <a:t>Engineered like production  —  </a:t>
            </a:r>
            <a:r>
              <a:rPr sz="1300" b="0" dirty="0">
                <a:solidFill>
                  <a:srgbClr val="94A3B8"/>
                </a:solidFill>
                <a:latin typeface="Calibri"/>
              </a:rPr>
              <a:t>Server-side logic, live deploy, optional AI that can't fabricate.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57800"/>
            <a:ext cx="1051560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  <a:buNone/>
            </a:pPr>
            <a:r>
              <a:rPr sz="2000" b="1" dirty="0">
                <a:solidFill>
                  <a:srgbClr val="F8FAFC"/>
                </a:solidFill>
                <a:latin typeface="Calibri"/>
              </a:rPr>
              <a:t>Thank you — happy to dive into any layer.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buNone/>
            </a:pPr>
            <a:r>
              <a:rPr sz="1400" b="1" dirty="0">
                <a:solidFill>
                  <a:srgbClr val="38BDF8"/>
                </a:solidFill>
                <a:latin typeface="Calibri"/>
              </a:rPr>
              <a:t>Md Raisul Islam Rahad</a:t>
            </a:r>
            <a:r>
              <a:rPr sz="1200" b="0" dirty="0">
                <a:solidFill>
                  <a:srgbClr val="94A3B8"/>
                </a:solidFill>
                <a:latin typeface="Calibri"/>
              </a:rPr>
              <a:t>    ·    github.com/</a:t>
            </a:r>
            <a:r>
              <a:rPr sz="1200" b="0" dirty="0" err="1">
                <a:solidFill>
                  <a:srgbClr val="94A3B8"/>
                </a:solidFill>
                <a:latin typeface="Calibri"/>
              </a:rPr>
              <a:t>raisulll</a:t>
            </a:r>
            <a:r>
              <a:rPr sz="1200" b="0" dirty="0">
                <a:solidFill>
                  <a:srgbClr val="94A3B8"/>
                </a:solidFill>
                <a:latin typeface="Calibri"/>
              </a:rPr>
              <a:t>    ·    </a:t>
            </a:r>
            <a:r>
              <a:rPr sz="1300" b="1" dirty="0">
                <a:solidFill>
                  <a:srgbClr val="38BDF8"/>
                </a:solidFill>
                <a:latin typeface="Calibri"/>
              </a:rPr>
              <a:t>shift-operations-</a:t>
            </a:r>
            <a:r>
              <a:rPr sz="1300" b="1" dirty="0" err="1">
                <a:solidFill>
                  <a:srgbClr val="38BDF8"/>
                </a:solidFill>
                <a:latin typeface="Calibri"/>
              </a:rPr>
              <a:t>analytics.vercel.app</a:t>
            </a:r>
            <a:endParaRPr sz="1300" b="1" dirty="0">
              <a:solidFill>
                <a:srgbClr val="38BDF8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1348391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0B1220"/>
              </a:gs>
            </a:gsLst>
            <a:lin ang="14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95360" y="1280160"/>
            <a:ext cx="3931920" cy="393192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0" y="1828799"/>
            <a:ext cx="2834640" cy="283464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46920" y="2331720"/>
            <a:ext cx="1828800" cy="1828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46920" y="2560320"/>
            <a:ext cx="1828800" cy="1371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000" b="1">
                <a:solidFill>
                  <a:srgbClr val="38BDF8"/>
                </a:solidFill>
                <a:latin typeface="Calibri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6583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8BDF8"/>
                </a:solidFill>
                <a:latin typeface="Calibri"/>
              </a:rPr>
              <a:t>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487168"/>
            <a:ext cx="676656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3800" b="1">
                <a:solidFill>
                  <a:srgbClr val="F8FAFC"/>
                </a:solidFill>
                <a:latin typeface="Calibri"/>
              </a:rPr>
              <a:t>Anticipated</a:t>
            </a:r>
          </a:p>
          <a:p>
            <a:r>
              <a:rPr sz="3800" b="1">
                <a:solidFill>
                  <a:srgbClr val="F8FAFC"/>
                </a:solidFill>
                <a:latin typeface="Calibri"/>
              </a:rPr>
              <a:t>questions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023360"/>
            <a:ext cx="1371600" cy="640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6675120" cy="1645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sz="1300" b="1">
                <a:solidFill>
                  <a:srgbClr val="38BDF8"/>
                </a:solidFill>
                <a:latin typeface="Calibri"/>
              </a:rPr>
              <a:t>—  </a:t>
            </a:r>
            <a:r>
              <a:rPr sz="1300" b="0">
                <a:solidFill>
                  <a:srgbClr val="94A3B8"/>
                </a:solidFill>
                <a:latin typeface="Calibri"/>
              </a:rPr>
              <a:t>Prepared answers to the questions a technical panel is most likely to ask.</a:t>
            </a:r>
          </a:p>
        </p:txBody>
      </p:sp>
    </p:spTree>
    <p:extLst>
      <p:ext uri="{BB962C8B-B14F-4D97-AF65-F5344CB8AC3E}">
        <p14:creationId xmlns:p14="http://schemas.microsoft.com/office/powerpoint/2010/main" val="1837118522"/>
      </p:ext>
    </p:extLst>
  </p:cSld>
  <p:clrMapOvr>
    <a:masterClrMapping/>
  </p:clrMapOvr>
  <p:transition spd="med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772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34155"/>
                </a:solidFill>
                <a:latin typeface="Calibri"/>
              </a:rPr>
              <a:t>Q&amp;A · ARCHITECTURE &amp; DATA</a:t>
            </a:r>
          </a:p>
        </p:txBody>
      </p:sp>
      <p:sp>
        <p:nvSpPr>
          <p:cNvPr id="3" name="Oval 2"/>
          <p:cNvSpPr/>
          <p:nvPr/>
        </p:nvSpPr>
        <p:spPr>
          <a:xfrm>
            <a:off x="10076688" y="40233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79" y="329184"/>
            <a:ext cx="2084831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4155"/>
                </a:solidFill>
                <a:latin typeface="Calibri"/>
              </a:rPr>
              <a:t>APPENDIX · Q&amp;A PREP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8368"/>
            <a:ext cx="420624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94944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0F172A"/>
                </a:solidFill>
                <a:latin typeface="Calibri"/>
              </a:rPr>
              <a:t>Anticipated questions — architecture &amp; data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389888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382512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Shift Operations Analytics  ·  Md Raisul Islam Rahad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49808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A1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66560"/>
            <a:ext cx="11055096" cy="4114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6766560"/>
            <a:ext cx="11055096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66928" y="1572768"/>
            <a:ext cx="5394960" cy="22128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Calibri"/>
              </a:rPr>
              <a:t>Q  </a:t>
            </a:r>
            <a:r>
              <a:rPr sz="1250" b="1">
                <a:solidFill>
                  <a:srgbClr val="0F172A"/>
                </a:solidFill>
                <a:latin typeface="Calibri"/>
              </a:rPr>
              <a:t>Why put all analysis on the backend, not the client?</a:t>
            </a:r>
          </a:p>
          <a:p>
            <a:pPr>
              <a:lnSpc>
                <a:spcPct val="114000"/>
              </a:lnSpc>
            </a:pPr>
            <a:r>
              <a:rPr sz="1300" b="1">
                <a:solidFill>
                  <a:srgbClr val="34D399"/>
                </a:solidFill>
                <a:latin typeface="Calibri"/>
              </a:rPr>
              <a:t>A  </a:t>
            </a:r>
            <a:r>
              <a:rPr sz="1150" b="0">
                <a:solidFill>
                  <a:srgbClr val="334155"/>
                </a:solidFill>
                <a:latin typeface="Calibri"/>
              </a:rPr>
              <a:t>One source of truth, testable in isolation, reusable by any client, and heavy pandas work stays off the browser. Trade-off: a round-trip per interaction — negligible at this scale.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572768"/>
            <a:ext cx="5394960" cy="22128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Calibri"/>
              </a:rPr>
              <a:t>Q  </a:t>
            </a:r>
            <a:r>
              <a:rPr sz="1250" b="1">
                <a:solidFill>
                  <a:srgbClr val="0F172A"/>
                </a:solidFill>
                <a:latin typeface="Calibri"/>
              </a:rPr>
              <a:t>Why SQLite locally but Postgres in production?</a:t>
            </a:r>
          </a:p>
          <a:p>
            <a:pPr>
              <a:lnSpc>
                <a:spcPct val="114000"/>
              </a:lnSpc>
            </a:pPr>
            <a:r>
              <a:rPr sz="1300" b="1">
                <a:solidFill>
                  <a:srgbClr val="34D399"/>
                </a:solidFill>
                <a:latin typeface="Calibri"/>
              </a:rPr>
              <a:t>A  </a:t>
            </a:r>
            <a:r>
              <a:rPr sz="1150" b="0">
                <a:solidFill>
                  <a:srgbClr val="334155"/>
                </a:solidFill>
                <a:latin typeface="Calibri"/>
              </a:rPr>
              <a:t>Zero-setup dev vs durable, concurrent prod. dj-database-url picks the engine from DATABASE_URL — identical models and migrations, no code change.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86784"/>
            <a:ext cx="5394960" cy="22128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Calibri"/>
              </a:rPr>
              <a:t>Q  </a:t>
            </a:r>
            <a:r>
              <a:rPr sz="1250" b="1">
                <a:solidFill>
                  <a:srgbClr val="0F172A"/>
                </a:solidFill>
                <a:latin typeface="Calibri"/>
              </a:rPr>
              <a:t>What happens when HOURS and the timestamps disagree?</a:t>
            </a:r>
          </a:p>
          <a:p>
            <a:pPr>
              <a:lnSpc>
                <a:spcPct val="114000"/>
              </a:lnSpc>
            </a:pPr>
            <a:r>
              <a:rPr sz="1300" b="1">
                <a:solidFill>
                  <a:srgbClr val="34D399"/>
                </a:solidFill>
                <a:latin typeface="Calibri"/>
              </a:rPr>
              <a:t>A  </a:t>
            </a:r>
            <a:r>
              <a:rPr sz="1150" b="0">
                <a:solidFill>
                  <a:srgbClr val="334155"/>
                </a:solidFill>
                <a:latin typeface="Calibri"/>
              </a:rPr>
              <a:t>Timestamps win — HOURS is recomputed. One explicit rule resolves a whole class of conflicts consistently, and it’s configurable if the opposite were wanted.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3986784"/>
            <a:ext cx="5394960" cy="22128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Calibri"/>
              </a:rPr>
              <a:t>Q  </a:t>
            </a:r>
            <a:r>
              <a:rPr sz="1250" b="1">
                <a:solidFill>
                  <a:srgbClr val="0F172A"/>
                </a:solidFill>
                <a:latin typeface="Calibri"/>
              </a:rPr>
              <a:t>How do you handle a brand-new failure reason?</a:t>
            </a:r>
          </a:p>
          <a:p>
            <a:pPr>
              <a:lnSpc>
                <a:spcPct val="114000"/>
              </a:lnSpc>
            </a:pPr>
            <a:r>
              <a:rPr sz="1300" b="1">
                <a:solidFill>
                  <a:srgbClr val="34D399"/>
                </a:solidFill>
                <a:latin typeface="Calibri"/>
              </a:rPr>
              <a:t>A  </a:t>
            </a:r>
            <a:r>
              <a:rPr sz="1150" b="0">
                <a:solidFill>
                  <a:srgbClr val="334155"/>
                </a:solidFill>
                <a:latin typeface="Calibri"/>
              </a:rPr>
              <a:t>It flows through automatically — reasons are derived from data, colours are deterministic, grouping and policy live in config. Demoed by sample_new_categories.</a:t>
            </a:r>
          </a:p>
        </p:txBody>
      </p:sp>
    </p:spTree>
    <p:extLst>
      <p:ext uri="{BB962C8B-B14F-4D97-AF65-F5344CB8AC3E}">
        <p14:creationId xmlns:p14="http://schemas.microsoft.com/office/powerpoint/2010/main" val="1703600079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77724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34155"/>
                </a:solidFill>
                <a:latin typeface="Calibri"/>
              </a:rPr>
              <a:t>Q&amp;A · SCALE, TESTING &amp; AI</a:t>
            </a:r>
          </a:p>
        </p:txBody>
      </p:sp>
      <p:sp>
        <p:nvSpPr>
          <p:cNvPr id="3" name="Oval 2"/>
          <p:cNvSpPr/>
          <p:nvPr/>
        </p:nvSpPr>
        <p:spPr>
          <a:xfrm>
            <a:off x="10076688" y="402336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79" y="329184"/>
            <a:ext cx="2084831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334155"/>
                </a:solidFill>
                <a:latin typeface="Calibri"/>
              </a:rPr>
              <a:t>APPENDIX · Q&amp;A PREP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8368"/>
            <a:ext cx="420624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94944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0F172A"/>
                </a:solidFill>
                <a:latin typeface="Calibri"/>
              </a:rPr>
              <a:t>Anticipated questions — scale, testing &amp; 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389888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" y="6382512"/>
            <a:ext cx="11055096" cy="0"/>
          </a:xfrm>
          <a:prstGeom prst="line">
            <a:avLst/>
          </a:prstGeom>
          <a:ln w="9525">
            <a:solidFill>
              <a:srgbClr val="94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Shift Operations Analytics  ·  Md Raisul Islam Rahad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37376"/>
            <a:ext cx="749808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34155"/>
                </a:solidFill>
                <a:latin typeface="Calibri"/>
              </a:rPr>
              <a:t>A2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766560"/>
            <a:ext cx="11055096" cy="4114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6766560"/>
            <a:ext cx="11055096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66928" y="1572768"/>
            <a:ext cx="5394960" cy="22128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Calibri"/>
              </a:rPr>
              <a:t>Q  </a:t>
            </a:r>
            <a:r>
              <a:rPr sz="1250" b="1">
                <a:solidFill>
                  <a:srgbClr val="0F172A"/>
                </a:solidFill>
                <a:latin typeface="Calibri"/>
              </a:rPr>
              <a:t>How would this scale to millions of rows?</a:t>
            </a:r>
          </a:p>
          <a:p>
            <a:pPr>
              <a:lnSpc>
                <a:spcPct val="114000"/>
              </a:lnSpc>
            </a:pPr>
            <a:r>
              <a:rPr sz="1300" b="1">
                <a:solidFill>
                  <a:srgbClr val="34D399"/>
                </a:solidFill>
                <a:latin typeface="Calibri"/>
              </a:rPr>
              <a:t>A  </a:t>
            </a:r>
            <a:r>
              <a:rPr sz="1150" b="0">
                <a:solidFill>
                  <a:srgbClr val="334155"/>
                </a:solidFill>
                <a:latin typeface="Calibri"/>
              </a:rPr>
              <a:t>Move cleaning to a batch / streaming job, store aggregates, and paginate. The clean separation — pipeline → stored records → analysis — means the API and UI wouldn’t change.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572768"/>
            <a:ext cx="5394960" cy="22128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Calibri"/>
              </a:rPr>
              <a:t>Q  </a:t>
            </a:r>
            <a:r>
              <a:rPr sz="1250" b="1">
                <a:solidFill>
                  <a:srgbClr val="0F172A"/>
                </a:solidFill>
                <a:latin typeface="Calibri"/>
              </a:rPr>
              <a:t>What stops the AI features from fabricating numbers?</a:t>
            </a:r>
          </a:p>
          <a:p>
            <a:pPr>
              <a:lnSpc>
                <a:spcPct val="114000"/>
              </a:lnSpc>
            </a:pPr>
            <a:r>
              <a:rPr sz="1300" b="1">
                <a:solidFill>
                  <a:srgbClr val="34D399"/>
                </a:solidFill>
                <a:latin typeface="Calibri"/>
              </a:rPr>
              <a:t>A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model only sees pre-computed metrics, never raw rows; grouping output is validated against the real reason list. Without a key the features disable cleanly.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86784"/>
            <a:ext cx="5394960" cy="22128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Calibri"/>
              </a:rPr>
              <a:t>Q  </a:t>
            </a:r>
            <a:r>
              <a:rPr sz="1250" b="1">
                <a:solidFill>
                  <a:srgbClr val="0F172A"/>
                </a:solidFill>
                <a:latin typeface="Calibri"/>
              </a:rPr>
              <a:t>How is the cross-midnight shift handled correctly?</a:t>
            </a:r>
          </a:p>
          <a:p>
            <a:pPr>
              <a:lnSpc>
                <a:spcPct val="114000"/>
              </a:lnSpc>
            </a:pPr>
            <a:r>
              <a:rPr sz="1300" b="1">
                <a:solidFill>
                  <a:srgbClr val="34D399"/>
                </a:solidFill>
                <a:latin typeface="Calibri"/>
              </a:rPr>
              <a:t>A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backend emits minutes-from-midnight (end can exceed 1440) and a crosses_midnight flag; the chart uses a 36-hour axis so an overnight shift is one continuous bar.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3986784"/>
            <a:ext cx="5394960" cy="22128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91440" rtlCol="0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Calibri"/>
              </a:rPr>
              <a:t>Q  </a:t>
            </a:r>
            <a:r>
              <a:rPr sz="1250" b="1">
                <a:solidFill>
                  <a:srgbClr val="0F172A"/>
                </a:solidFill>
                <a:latin typeface="Calibri"/>
              </a:rPr>
              <a:t>What would you improve with more time?</a:t>
            </a:r>
          </a:p>
          <a:p>
            <a:pPr>
              <a:lnSpc>
                <a:spcPct val="114000"/>
              </a:lnSpc>
            </a:pPr>
            <a:r>
              <a:rPr sz="1300" b="1">
                <a:solidFill>
                  <a:srgbClr val="34D399"/>
                </a:solidFill>
                <a:latin typeface="Calibri"/>
              </a:rPr>
              <a:t>A  </a:t>
            </a:r>
            <a:r>
              <a:rPr sz="1150" b="0">
                <a:solidFill>
                  <a:srgbClr val="334155"/>
                </a:solidFill>
                <a:latin typeface="Calibri"/>
              </a:rPr>
              <a:t>Auth &amp; per-user datasets, background jobs for large uploads, caching of analysis responses, and end-to-end (Playwright) tests over the existing coverage.</a:t>
            </a:r>
          </a:p>
        </p:txBody>
      </p:sp>
    </p:spTree>
    <p:extLst>
      <p:ext uri="{BB962C8B-B14F-4D97-AF65-F5344CB8AC3E}">
        <p14:creationId xmlns:p14="http://schemas.microsoft.com/office/powerpoint/2010/main" val="1456848705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 [1784391525540]">
  <a:themeElements>
    <a:clrScheme name="Office">
      <a:dk1>
        <a:sysClr val="windowText" lastClr="000000"/>
      </a:dk1>
      <a:lt1>
        <a:sysClr val="window" lastClr="FFFFFF"/>
      </a:lt1>
      <a:dk2>
        <a:srgbClr val="0F172A"/>
      </a:dk2>
      <a:lt2>
        <a:srgbClr val="94A3B8"/>
      </a:lt2>
      <a:accent1>
        <a:srgbClr val="38BDF8"/>
      </a:accent1>
      <a:accent2>
        <a:srgbClr val="818CF8"/>
      </a:accent2>
      <a:accent3>
        <a:srgbClr val="34D399"/>
      </a:accent3>
      <a:accent4>
        <a:srgbClr val="FBBF24"/>
      </a:accent4>
      <a:accent5>
        <a:srgbClr val="22D3EE"/>
      </a:accent5>
      <a:accent6>
        <a:srgbClr val="F472B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A24D4BD-6FB7-4B3A-B9AB-D5AB412CC393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8e1a043a-60c0-41e7-8655-f83a81e7bcf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3772</Words>
  <Application>Microsoft Office PowerPoint</Application>
  <PresentationFormat>Widescreen</PresentationFormat>
  <Paragraphs>388</Paragraphs>
  <Slides>29</Slides>
  <Notes>17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Consolas</vt:lpstr>
      <vt:lpstr>Office Theme [1784391525540]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Raisul Islam Rahad</cp:lastModifiedBy>
  <cp:revision>7</cp:revision>
  <cp:lastPrinted>2026-07-18T16:08:55Z</cp:lastPrinted>
  <dcterms:created xsi:type="dcterms:W3CDTF">2013-01-27T09:14:16Z</dcterms:created>
  <dcterms:modified xsi:type="dcterms:W3CDTF">2026-07-20T16:26:47Z</dcterms:modified>
  <cp:category/>
</cp:coreProperties>
</file>